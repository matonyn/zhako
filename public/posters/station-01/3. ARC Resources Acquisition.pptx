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handoutMasters/handoutMaster1.xml" ContentType="application/vnd.openxmlformats-officedocument.presentationml.handoutMaster+xml"/>
  <Override PartName="/ppt/slideMasters/slideMaster1.xml" ContentType="application/vnd.openxmlformats-officedocument.presentationml.slide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notesMasters/notesMaster1.xml" ContentType="application/vnd.openxmlformats-officedocument.presentationml.notesMaster+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viewProps.xml" ContentType="application/vnd.openxmlformats-officedocument.presentationml.viewProp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30275213" cy="42803763"/>
  <p:notesSz cx="9926638" cy="14355763"/>
  <p:embeddedFontLst>
    <p:embeddedFont>
      <p:font typeface="Futura Medium" panose="0000080000000000000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1pPr>
    <a:lvl2pPr marL="2338487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2pPr>
    <a:lvl3pPr marL="467697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3pPr>
    <a:lvl4pPr marL="701546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4pPr>
    <a:lvl5pPr marL="935394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5pPr>
    <a:lvl6pPr marL="1169243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6pPr>
    <a:lvl7pPr marL="14030919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7pPr>
    <a:lvl8pPr marL="1636940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8pPr>
    <a:lvl9pPr marL="18707892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98" userDrawn="1">
          <p15:clr>
            <a:srgbClr val="A4A3A4"/>
          </p15:clr>
        </p15:guide>
        <p15:guide id="2" orient="horz" pos="890" userDrawn="1">
          <p15:clr>
            <a:srgbClr val="A4A3A4"/>
          </p15:clr>
        </p15:guide>
        <p15:guide id="3" orient="horz" pos="5143" userDrawn="1">
          <p15:clr>
            <a:srgbClr val="A4A3A4"/>
          </p15:clr>
        </p15:guide>
        <p15:guide id="4" orient="horz" pos="2938" userDrawn="1">
          <p15:clr>
            <a:srgbClr val="A4A3A4"/>
          </p15:clr>
        </p15:guide>
        <p15:guide id="5" orient="horz" pos="25141" userDrawn="1">
          <p15:clr>
            <a:srgbClr val="A4A3A4"/>
          </p15:clr>
        </p15:guide>
        <p15:guide id="6" orient="horz" pos="13074" userDrawn="1">
          <p15:clr>
            <a:srgbClr val="A4A3A4"/>
          </p15:clr>
        </p15:guide>
        <p15:guide id="7" pos="18098" userDrawn="1">
          <p15:clr>
            <a:srgbClr val="A4A3A4"/>
          </p15:clr>
        </p15:guide>
        <p15:guide id="8" pos="9244" userDrawn="1">
          <p15:clr>
            <a:srgbClr val="A4A3A4"/>
          </p15:clr>
        </p15:guide>
        <p15:guide id="9" pos="977" userDrawn="1">
          <p15:clr>
            <a:srgbClr val="A4A3A4"/>
          </p15:clr>
        </p15:guide>
        <p15:guide id="10" pos="98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522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D117"/>
    <a:srgbClr val="D42E12"/>
    <a:srgbClr val="8FD1E3"/>
    <a:srgbClr val="FFEECA"/>
    <a:srgbClr val="F49600"/>
    <a:srgbClr val="FFFFFF"/>
    <a:srgbClr val="CCE9DB"/>
    <a:srgbClr val="99CDB7"/>
    <a:srgbClr val="66B492"/>
    <a:srgbClr val="339B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33C31A-CEB6-4989-918A-BD6882A49E50}" v="1" dt="2026-08-31T15:17:44.4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22" autoAdjust="0"/>
    <p:restoredTop sz="79373" autoAdjust="0"/>
  </p:normalViewPr>
  <p:slideViewPr>
    <p:cSldViewPr snapToGrid="0" showGuides="1">
      <p:cViewPr varScale="1">
        <p:scale>
          <a:sx n="10" d="100"/>
          <a:sy n="10" d="100"/>
        </p:scale>
        <p:origin x="2560" y="-8"/>
      </p:cViewPr>
      <p:guideLst>
        <p:guide orient="horz" pos="25998"/>
        <p:guide orient="horz" pos="890"/>
        <p:guide orient="horz" pos="5143"/>
        <p:guide orient="horz" pos="2938"/>
        <p:guide orient="horz" pos="25141"/>
        <p:guide orient="horz" pos="13074"/>
        <p:guide pos="18098"/>
        <p:guide pos="9244"/>
        <p:guide pos="977"/>
        <p:guide pos="98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3" d="100"/>
        <a:sy n="53" d="100"/>
      </p:scale>
      <p:origin x="0" y="0"/>
    </p:cViewPr>
  </p:sorterViewPr>
  <p:notesViewPr>
    <p:cSldViewPr snapToGrid="0" showGuides="1">
      <p:cViewPr varScale="1">
        <p:scale>
          <a:sx n="59" d="100"/>
          <a:sy n="59" d="100"/>
        </p:scale>
        <p:origin x="4195" y="77"/>
      </p:cViewPr>
      <p:guideLst>
        <p:guide orient="horz" pos="4522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18" Type="http://schemas.openxmlformats.org/officeDocument/2006/relationships/customXml" Target="../customXml/item4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irova, Zhannat SI-FR/P" userId="7bf041ce-838c-4eaa-8319-0f58f2da6a52" providerId="ADAL" clId="{B9C0579C-27E0-412D-87AA-B6E20E32D304}"/>
    <pc:docChg chg="undo redo custSel modSld">
      <pc:chgData name="Dairova, Zhannat SI-FR/P" userId="7bf041ce-838c-4eaa-8319-0f58f2da6a52" providerId="ADAL" clId="{B9C0579C-27E0-412D-87AA-B6E20E32D304}" dt="2026-08-31T15:24:48.301" v="1605" actId="1076"/>
      <pc:docMkLst>
        <pc:docMk/>
      </pc:docMkLst>
      <pc:sldChg chg="addSp delSp modSp mod modNotes">
        <pc:chgData name="Dairova, Zhannat SI-FR/P" userId="7bf041ce-838c-4eaa-8319-0f58f2da6a52" providerId="ADAL" clId="{B9C0579C-27E0-412D-87AA-B6E20E32D304}" dt="2026-08-31T15:24:48.301" v="1605" actId="1076"/>
        <pc:sldMkLst>
          <pc:docMk/>
          <pc:sldMk cId="0" sldId="256"/>
        </pc:sldMkLst>
        <pc:spChg chg="mod">
          <ac:chgData name="Dairova, Zhannat SI-FR/P" userId="7bf041ce-838c-4eaa-8319-0f58f2da6a52" providerId="ADAL" clId="{B9C0579C-27E0-412D-87AA-B6E20E32D304}" dt="2026-08-31T15:17:44.538" v="1368" actId="27636"/>
          <ac:spMkLst>
            <pc:docMk/>
            <pc:sldMk cId="0" sldId="256"/>
            <ac:spMk id="5" creationId="{00000000-0000-0000-0000-000000000000}"/>
          </ac:spMkLst>
        </pc:spChg>
        <pc:spChg chg="mod">
          <ac:chgData name="Dairova, Zhannat SI-FR/P" userId="7bf041ce-838c-4eaa-8319-0f58f2da6a52" providerId="ADAL" clId="{B9C0579C-27E0-412D-87AA-B6E20E32D304}" dt="2026-08-31T15:11:44.882" v="1254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Dairova, Zhannat SI-FR/P" userId="7bf041ce-838c-4eaa-8319-0f58f2da6a52" providerId="ADAL" clId="{B9C0579C-27E0-412D-87AA-B6E20E32D304}" dt="2026-08-31T14:48:20.229" v="53" actId="20577"/>
          <ac:spMkLst>
            <pc:docMk/>
            <pc:sldMk cId="0" sldId="256"/>
            <ac:spMk id="13" creationId="{00000000-0000-0000-0000-000000000000}"/>
          </ac:spMkLst>
        </pc:spChg>
        <pc:spChg chg="del">
          <ac:chgData name="Dairova, Zhannat SI-FR/P" userId="7bf041ce-838c-4eaa-8319-0f58f2da6a52" providerId="ADAL" clId="{B9C0579C-27E0-412D-87AA-B6E20E32D304}" dt="2026-08-31T15:05:18.981" v="753" actId="478"/>
          <ac:spMkLst>
            <pc:docMk/>
            <pc:sldMk cId="0" sldId="256"/>
            <ac:spMk id="14" creationId="{00000000-0000-0000-0000-000000000000}"/>
          </ac:spMkLst>
        </pc:spChg>
        <pc:spChg chg="mod">
          <ac:chgData name="Dairova, Zhannat SI-FR/P" userId="7bf041ce-838c-4eaa-8319-0f58f2da6a52" providerId="ADAL" clId="{B9C0579C-27E0-412D-87AA-B6E20E32D304}" dt="2026-08-31T15:05:16.873" v="752" actId="6549"/>
          <ac:spMkLst>
            <pc:docMk/>
            <pc:sldMk cId="0" sldId="256"/>
            <ac:spMk id="15" creationId="{00000000-0000-0000-0000-000000000000}"/>
          </ac:spMkLst>
        </pc:spChg>
        <pc:spChg chg="mod">
          <ac:chgData name="Dairova, Zhannat SI-FR/P" userId="7bf041ce-838c-4eaa-8319-0f58f2da6a52" providerId="ADAL" clId="{B9C0579C-27E0-412D-87AA-B6E20E32D304}" dt="2026-08-31T15:07:03.845" v="833" actId="1076"/>
          <ac:spMkLst>
            <pc:docMk/>
            <pc:sldMk cId="0" sldId="256"/>
            <ac:spMk id="19" creationId="{BD4DBCAB-851B-C66A-34D9-9E69D72DF9EE}"/>
          </ac:spMkLst>
        </pc:spChg>
        <pc:spChg chg="mod">
          <ac:chgData name="Dairova, Zhannat SI-FR/P" userId="7bf041ce-838c-4eaa-8319-0f58f2da6a52" providerId="ADAL" clId="{B9C0579C-27E0-412D-87AA-B6E20E32D304}" dt="2026-08-31T15:07:03.845" v="833" actId="1076"/>
          <ac:spMkLst>
            <pc:docMk/>
            <pc:sldMk cId="0" sldId="256"/>
            <ac:spMk id="23" creationId="{459F876B-B35E-BAC6-0141-FD4418C7B678}"/>
          </ac:spMkLst>
        </pc:spChg>
        <pc:spChg chg="mod">
          <ac:chgData name="Dairova, Zhannat SI-FR/P" userId="7bf041ce-838c-4eaa-8319-0f58f2da6a52" providerId="ADAL" clId="{B9C0579C-27E0-412D-87AA-B6E20E32D304}" dt="2026-08-31T15:07:03.845" v="833" actId="1076"/>
          <ac:spMkLst>
            <pc:docMk/>
            <pc:sldMk cId="0" sldId="256"/>
            <ac:spMk id="26" creationId="{00000000-0000-0000-0000-000000000000}"/>
          </ac:spMkLst>
        </pc:spChg>
        <pc:spChg chg="mod">
          <ac:chgData name="Dairova, Zhannat SI-FR/P" userId="7bf041ce-838c-4eaa-8319-0f58f2da6a52" providerId="ADAL" clId="{B9C0579C-27E0-412D-87AA-B6E20E32D304}" dt="2026-08-31T15:07:03.845" v="833" actId="1076"/>
          <ac:spMkLst>
            <pc:docMk/>
            <pc:sldMk cId="0" sldId="256"/>
            <ac:spMk id="27" creationId="{00000000-0000-0000-0000-000000000000}"/>
          </ac:spMkLst>
        </pc:spChg>
        <pc:spChg chg="mod">
          <ac:chgData name="Dairova, Zhannat SI-FR/P" userId="7bf041ce-838c-4eaa-8319-0f58f2da6a52" providerId="ADAL" clId="{B9C0579C-27E0-412D-87AA-B6E20E32D304}" dt="2026-08-31T15:07:03.845" v="833" actId="1076"/>
          <ac:spMkLst>
            <pc:docMk/>
            <pc:sldMk cId="0" sldId="256"/>
            <ac:spMk id="28" creationId="{00000000-0000-0000-0000-000000000000}"/>
          </ac:spMkLst>
        </pc:spChg>
        <pc:spChg chg="mod">
          <ac:chgData name="Dairova, Zhannat SI-FR/P" userId="7bf041ce-838c-4eaa-8319-0f58f2da6a52" providerId="ADAL" clId="{B9C0579C-27E0-412D-87AA-B6E20E32D304}" dt="2026-08-31T15:07:03.845" v="833" actId="1076"/>
          <ac:spMkLst>
            <pc:docMk/>
            <pc:sldMk cId="0" sldId="256"/>
            <ac:spMk id="31" creationId="{00000000-0000-0000-0000-000000000000}"/>
          </ac:spMkLst>
        </pc:spChg>
        <pc:spChg chg="mod">
          <ac:chgData name="Dairova, Zhannat SI-FR/P" userId="7bf041ce-838c-4eaa-8319-0f58f2da6a52" providerId="ADAL" clId="{B9C0579C-27E0-412D-87AA-B6E20E32D304}" dt="2026-08-31T15:07:03.845" v="833" actId="1076"/>
          <ac:spMkLst>
            <pc:docMk/>
            <pc:sldMk cId="0" sldId="256"/>
            <ac:spMk id="32" creationId="{00000000-0000-0000-0000-000000000000}"/>
          </ac:spMkLst>
        </pc:spChg>
        <pc:spChg chg="mod">
          <ac:chgData name="Dairova, Zhannat SI-FR/P" userId="7bf041ce-838c-4eaa-8319-0f58f2da6a52" providerId="ADAL" clId="{B9C0579C-27E0-412D-87AA-B6E20E32D304}" dt="2026-08-31T15:07:03.845" v="833" actId="1076"/>
          <ac:spMkLst>
            <pc:docMk/>
            <pc:sldMk cId="0" sldId="256"/>
            <ac:spMk id="35" creationId="{00000000-0000-0000-0000-000000000000}"/>
          </ac:spMkLst>
        </pc:spChg>
        <pc:spChg chg="mod">
          <ac:chgData name="Dairova, Zhannat SI-FR/P" userId="7bf041ce-838c-4eaa-8319-0f58f2da6a52" providerId="ADAL" clId="{B9C0579C-27E0-412D-87AA-B6E20E32D304}" dt="2026-08-31T15:13:43.985" v="1313" actId="1076"/>
          <ac:spMkLst>
            <pc:docMk/>
            <pc:sldMk cId="0" sldId="256"/>
            <ac:spMk id="36" creationId="{00000000-0000-0000-0000-000000000000}"/>
          </ac:spMkLst>
        </pc:spChg>
        <pc:spChg chg="mod">
          <ac:chgData name="Dairova, Zhannat SI-FR/P" userId="7bf041ce-838c-4eaa-8319-0f58f2da6a52" providerId="ADAL" clId="{B9C0579C-27E0-412D-87AA-B6E20E32D304}" dt="2026-08-31T15:07:03.845" v="833" actId="1076"/>
          <ac:spMkLst>
            <pc:docMk/>
            <pc:sldMk cId="0" sldId="256"/>
            <ac:spMk id="87" creationId="{4CF86A45-DB8B-475A-74B7-AC74C2DABDEB}"/>
          </ac:spMkLst>
        </pc:spChg>
        <pc:spChg chg="mod">
          <ac:chgData name="Dairova, Zhannat SI-FR/P" userId="7bf041ce-838c-4eaa-8319-0f58f2da6a52" providerId="ADAL" clId="{B9C0579C-27E0-412D-87AA-B6E20E32D304}" dt="2026-08-31T15:11:58.044" v="1255" actId="14100"/>
          <ac:spMkLst>
            <pc:docMk/>
            <pc:sldMk cId="0" sldId="256"/>
            <ac:spMk id="95" creationId="{98DB25C3-C3EE-122D-CEFE-EBF47DAAF8DF}"/>
          </ac:spMkLst>
        </pc:spChg>
        <pc:spChg chg="mod">
          <ac:chgData name="Dairova, Zhannat SI-FR/P" userId="7bf041ce-838c-4eaa-8319-0f58f2da6a52" providerId="ADAL" clId="{B9C0579C-27E0-412D-87AA-B6E20E32D304}" dt="2026-08-31T15:05:45.168" v="756" actId="1076"/>
          <ac:spMkLst>
            <pc:docMk/>
            <pc:sldMk cId="0" sldId="256"/>
            <ac:spMk id="97" creationId="{C3BFA3EF-7CB7-4D69-ED28-346657154509}"/>
          </ac:spMkLst>
        </pc:spChg>
        <pc:spChg chg="add del mod">
          <ac:chgData name="Dairova, Zhannat SI-FR/P" userId="7bf041ce-838c-4eaa-8319-0f58f2da6a52" providerId="ADAL" clId="{B9C0579C-27E0-412D-87AA-B6E20E32D304}" dt="2026-08-31T15:24:48.301" v="1605" actId="1076"/>
          <ac:spMkLst>
            <pc:docMk/>
            <pc:sldMk cId="0" sldId="256"/>
            <ac:spMk id="101" creationId="{FB1852B4-9E91-1A6B-305E-755C52AFEEC4}"/>
          </ac:spMkLst>
        </pc:spChg>
        <pc:spChg chg="mod">
          <ac:chgData name="Dairova, Zhannat SI-FR/P" userId="7bf041ce-838c-4eaa-8319-0f58f2da6a52" providerId="ADAL" clId="{B9C0579C-27E0-412D-87AA-B6E20E32D304}" dt="2026-08-31T15:24:48.301" v="1605" actId="1076"/>
          <ac:spMkLst>
            <pc:docMk/>
            <pc:sldMk cId="0" sldId="256"/>
            <ac:spMk id="103" creationId="{31309D2A-CD45-5610-86B3-00A57185DA92}"/>
          </ac:spMkLst>
        </pc:spChg>
        <pc:spChg chg="mod">
          <ac:chgData name="Dairova, Zhannat SI-FR/P" userId="7bf041ce-838c-4eaa-8319-0f58f2da6a52" providerId="ADAL" clId="{B9C0579C-27E0-412D-87AA-B6E20E32D304}" dt="2026-08-31T15:23:42.712" v="1596" actId="1076"/>
          <ac:spMkLst>
            <pc:docMk/>
            <pc:sldMk cId="0" sldId="256"/>
            <ac:spMk id="105" creationId="{1C61CAB0-2755-5654-BCF3-A9AA6D997B1B}"/>
          </ac:spMkLst>
        </pc:spChg>
        <pc:spChg chg="mod">
          <ac:chgData name="Dairova, Zhannat SI-FR/P" userId="7bf041ce-838c-4eaa-8319-0f58f2da6a52" providerId="ADAL" clId="{B9C0579C-27E0-412D-87AA-B6E20E32D304}" dt="2026-08-31T15:24:48.301" v="1605" actId="1076"/>
          <ac:spMkLst>
            <pc:docMk/>
            <pc:sldMk cId="0" sldId="256"/>
            <ac:spMk id="107" creationId="{376D648A-2A5B-6D6F-266E-C336B9BD7A66}"/>
          </ac:spMkLst>
        </pc:spChg>
        <pc:spChg chg="mod">
          <ac:chgData name="Dairova, Zhannat SI-FR/P" userId="7bf041ce-838c-4eaa-8319-0f58f2da6a52" providerId="ADAL" clId="{B9C0579C-27E0-412D-87AA-B6E20E32D304}" dt="2026-08-31T15:24:48.301" v="1605" actId="1076"/>
          <ac:spMkLst>
            <pc:docMk/>
            <pc:sldMk cId="0" sldId="256"/>
            <ac:spMk id="109" creationId="{5F72F108-B0FA-29A0-7320-6C8785E12061}"/>
          </ac:spMkLst>
        </pc:spChg>
        <pc:spChg chg="mod">
          <ac:chgData name="Dairova, Zhannat SI-FR/P" userId="7bf041ce-838c-4eaa-8319-0f58f2da6a52" providerId="ADAL" clId="{B9C0579C-27E0-412D-87AA-B6E20E32D304}" dt="2026-08-31T15:23:42.712" v="1596" actId="1076"/>
          <ac:spMkLst>
            <pc:docMk/>
            <pc:sldMk cId="0" sldId="256"/>
            <ac:spMk id="111" creationId="{14EF9FF4-7C21-4B86-4128-F48A31900592}"/>
          </ac:spMkLst>
        </pc:spChg>
        <pc:spChg chg="mod">
          <ac:chgData name="Dairova, Zhannat SI-FR/P" userId="7bf041ce-838c-4eaa-8319-0f58f2da6a52" providerId="ADAL" clId="{B9C0579C-27E0-412D-87AA-B6E20E32D304}" dt="2026-08-31T15:23:42.712" v="1596" actId="1076"/>
          <ac:spMkLst>
            <pc:docMk/>
            <pc:sldMk cId="0" sldId="256"/>
            <ac:spMk id="113" creationId="{35F3DB58-69CB-C025-967D-940CC83AB543}"/>
          </ac:spMkLst>
        </pc:spChg>
        <pc:spChg chg="mod">
          <ac:chgData name="Dairova, Zhannat SI-FR/P" userId="7bf041ce-838c-4eaa-8319-0f58f2da6a52" providerId="ADAL" clId="{B9C0579C-27E0-412D-87AA-B6E20E32D304}" dt="2026-08-31T15:24:48.301" v="1605" actId="1076"/>
          <ac:spMkLst>
            <pc:docMk/>
            <pc:sldMk cId="0" sldId="256"/>
            <ac:spMk id="115" creationId="{7D663446-2E8B-3436-63F2-A67B1E7185F9}"/>
          </ac:spMkLst>
        </pc:spChg>
        <pc:spChg chg="mod">
          <ac:chgData name="Dairova, Zhannat SI-FR/P" userId="7bf041ce-838c-4eaa-8319-0f58f2da6a52" providerId="ADAL" clId="{B9C0579C-27E0-412D-87AA-B6E20E32D304}" dt="2026-08-31T15:23:42.712" v="1596" actId="1076"/>
          <ac:spMkLst>
            <pc:docMk/>
            <pc:sldMk cId="0" sldId="256"/>
            <ac:spMk id="117" creationId="{57BDE3E4-793E-3605-77AC-493F39D6AA4F}"/>
          </ac:spMkLst>
        </pc:spChg>
        <pc:spChg chg="mod">
          <ac:chgData name="Dairova, Zhannat SI-FR/P" userId="7bf041ce-838c-4eaa-8319-0f58f2da6a52" providerId="ADAL" clId="{B9C0579C-27E0-412D-87AA-B6E20E32D304}" dt="2026-08-31T15:24:48.301" v="1605" actId="1076"/>
          <ac:spMkLst>
            <pc:docMk/>
            <pc:sldMk cId="0" sldId="256"/>
            <ac:spMk id="119" creationId="{C13DBCEF-14F2-F6F4-5FD2-B6BC43513B54}"/>
          </ac:spMkLst>
        </pc:spChg>
        <pc:spChg chg="mod">
          <ac:chgData name="Dairova, Zhannat SI-FR/P" userId="7bf041ce-838c-4eaa-8319-0f58f2da6a52" providerId="ADAL" clId="{B9C0579C-27E0-412D-87AA-B6E20E32D304}" dt="2026-08-31T15:24:48.301" v="1605" actId="1076"/>
          <ac:spMkLst>
            <pc:docMk/>
            <pc:sldMk cId="0" sldId="256"/>
            <ac:spMk id="121" creationId="{15517ED2-A83F-FAE8-4DE1-D80C1C36EE9E}"/>
          </ac:spMkLst>
        </pc:spChg>
        <pc:spChg chg="mod">
          <ac:chgData name="Dairova, Zhannat SI-FR/P" userId="7bf041ce-838c-4eaa-8319-0f58f2da6a52" providerId="ADAL" clId="{B9C0579C-27E0-412D-87AA-B6E20E32D304}" dt="2026-08-31T15:24:48.301" v="1605" actId="1076"/>
          <ac:spMkLst>
            <pc:docMk/>
            <pc:sldMk cId="0" sldId="256"/>
            <ac:spMk id="123" creationId="{87F9F522-D763-27E6-A42B-3A2A1686E669}"/>
          </ac:spMkLst>
        </pc:spChg>
        <pc:spChg chg="mod">
          <ac:chgData name="Dairova, Zhannat SI-FR/P" userId="7bf041ce-838c-4eaa-8319-0f58f2da6a52" providerId="ADAL" clId="{B9C0579C-27E0-412D-87AA-B6E20E32D304}" dt="2026-08-31T15:24:48.301" v="1605" actId="1076"/>
          <ac:spMkLst>
            <pc:docMk/>
            <pc:sldMk cId="0" sldId="256"/>
            <ac:spMk id="125" creationId="{1DCDFEC2-5E1C-57A1-5C68-5A76320E5A36}"/>
          </ac:spMkLst>
        </pc:spChg>
        <pc:spChg chg="mod">
          <ac:chgData name="Dairova, Zhannat SI-FR/P" userId="7bf041ce-838c-4eaa-8319-0f58f2da6a52" providerId="ADAL" clId="{B9C0579C-27E0-412D-87AA-B6E20E32D304}" dt="2026-08-31T15:24:48.301" v="1605" actId="1076"/>
          <ac:spMkLst>
            <pc:docMk/>
            <pc:sldMk cId="0" sldId="256"/>
            <ac:spMk id="127" creationId="{BEFA2E0C-FC36-B511-5C2E-AFD236E195E4}"/>
          </ac:spMkLst>
        </pc:spChg>
        <pc:spChg chg="mod">
          <ac:chgData name="Dairova, Zhannat SI-FR/P" userId="7bf041ce-838c-4eaa-8319-0f58f2da6a52" providerId="ADAL" clId="{B9C0579C-27E0-412D-87AA-B6E20E32D304}" dt="2026-08-31T15:05:45.168" v="756" actId="1076"/>
          <ac:spMkLst>
            <pc:docMk/>
            <pc:sldMk cId="0" sldId="256"/>
            <ac:spMk id="129" creationId="{0088E6AC-E6DC-3AA4-C251-AC8FE44221A6}"/>
          </ac:spMkLst>
        </pc:spChg>
        <pc:spChg chg="mod">
          <ac:chgData name="Dairova, Zhannat SI-FR/P" userId="7bf041ce-838c-4eaa-8319-0f58f2da6a52" providerId="ADAL" clId="{B9C0579C-27E0-412D-87AA-B6E20E32D304}" dt="2026-08-31T15:08:13.053" v="941" actId="20577"/>
          <ac:spMkLst>
            <pc:docMk/>
            <pc:sldMk cId="0" sldId="256"/>
            <ac:spMk id="135" creationId="{7817961B-96A6-FA5D-67FD-AE57E4B5EE78}"/>
          </ac:spMkLst>
        </pc:spChg>
        <pc:spChg chg="mod">
          <ac:chgData name="Dairova, Zhannat SI-FR/P" userId="7bf041ce-838c-4eaa-8319-0f58f2da6a52" providerId="ADAL" clId="{B9C0579C-27E0-412D-87AA-B6E20E32D304}" dt="2026-08-31T15:08:48.454" v="1077" actId="20577"/>
          <ac:spMkLst>
            <pc:docMk/>
            <pc:sldMk cId="0" sldId="256"/>
            <ac:spMk id="137" creationId="{A24FA903-E585-16B5-4328-262036A79E66}"/>
          </ac:spMkLst>
        </pc:spChg>
        <pc:spChg chg="mod">
          <ac:chgData name="Dairova, Zhannat SI-FR/P" userId="7bf041ce-838c-4eaa-8319-0f58f2da6a52" providerId="ADAL" clId="{B9C0579C-27E0-412D-87AA-B6E20E32D304}" dt="2026-08-31T15:08:19.732" v="969" actId="20577"/>
          <ac:spMkLst>
            <pc:docMk/>
            <pc:sldMk cId="0" sldId="256"/>
            <ac:spMk id="143" creationId="{4A4D84B3-E225-7FD2-C1BA-F52C395C5AB5}"/>
          </ac:spMkLst>
        </pc:spChg>
        <pc:spChg chg="mod">
          <ac:chgData name="Dairova, Zhannat SI-FR/P" userId="7bf041ce-838c-4eaa-8319-0f58f2da6a52" providerId="ADAL" clId="{B9C0579C-27E0-412D-87AA-B6E20E32D304}" dt="2026-08-31T15:09:10.027" v="1167" actId="20577"/>
          <ac:spMkLst>
            <pc:docMk/>
            <pc:sldMk cId="0" sldId="256"/>
            <ac:spMk id="145" creationId="{8A703556-0552-2BF2-FD0F-0939A2C3CD0C}"/>
          </ac:spMkLst>
        </pc:spChg>
        <pc:spChg chg="mod">
          <ac:chgData name="Dairova, Zhannat SI-FR/P" userId="7bf041ce-838c-4eaa-8319-0f58f2da6a52" providerId="ADAL" clId="{B9C0579C-27E0-412D-87AA-B6E20E32D304}" dt="2026-08-31T15:08:26.521" v="994" actId="20577"/>
          <ac:spMkLst>
            <pc:docMk/>
            <pc:sldMk cId="0" sldId="256"/>
            <ac:spMk id="151" creationId="{1F00BB99-2108-7C87-8053-96A1E8ECAD72}"/>
          </ac:spMkLst>
        </pc:spChg>
        <pc:spChg chg="mod">
          <ac:chgData name="Dairova, Zhannat SI-FR/P" userId="7bf041ce-838c-4eaa-8319-0f58f2da6a52" providerId="ADAL" clId="{B9C0579C-27E0-412D-87AA-B6E20E32D304}" dt="2026-08-31T15:09:42.405" v="1248" actId="20577"/>
          <ac:spMkLst>
            <pc:docMk/>
            <pc:sldMk cId="0" sldId="256"/>
            <ac:spMk id="153" creationId="{97C3B624-D099-EA09-0B22-A7629165348C}"/>
          </ac:spMkLst>
        </pc:spChg>
        <pc:spChg chg="mod">
          <ac:chgData name="Dairova, Zhannat SI-FR/P" userId="7bf041ce-838c-4eaa-8319-0f58f2da6a52" providerId="ADAL" clId="{B9C0579C-27E0-412D-87AA-B6E20E32D304}" dt="2026-08-31T15:10:16.469" v="1249" actId="14100"/>
          <ac:spMkLst>
            <pc:docMk/>
            <pc:sldMk cId="0" sldId="256"/>
            <ac:spMk id="155" creationId="{F1D45368-725D-3441-104E-6DFD68C386F9}"/>
          </ac:spMkLst>
        </pc:spChg>
        <pc:spChg chg="mod">
          <ac:chgData name="Dairova, Zhannat SI-FR/P" userId="7bf041ce-838c-4eaa-8319-0f58f2da6a52" providerId="ADAL" clId="{B9C0579C-27E0-412D-87AA-B6E20E32D304}" dt="2026-08-31T15:05:37.251" v="755" actId="1076"/>
          <ac:spMkLst>
            <pc:docMk/>
            <pc:sldMk cId="0" sldId="256"/>
            <ac:spMk id="157" creationId="{B500B95A-E584-E450-6F27-89DAA66D0E22}"/>
          </ac:spMkLst>
        </pc:spChg>
        <pc:spChg chg="mod">
          <ac:chgData name="Dairova, Zhannat SI-FR/P" userId="7bf041ce-838c-4eaa-8319-0f58f2da6a52" providerId="ADAL" clId="{B9C0579C-27E0-412D-87AA-B6E20E32D304}" dt="2026-08-31T14:50:02.712" v="75" actId="20577"/>
          <ac:spMkLst>
            <pc:docMk/>
            <pc:sldMk cId="0" sldId="256"/>
            <ac:spMk id="163" creationId="{919C7739-7369-F30C-299E-AD8E5094360C}"/>
          </ac:spMkLst>
        </pc:spChg>
        <pc:spChg chg="mod">
          <ac:chgData name="Dairova, Zhannat SI-FR/P" userId="7bf041ce-838c-4eaa-8319-0f58f2da6a52" providerId="ADAL" clId="{B9C0579C-27E0-412D-87AA-B6E20E32D304}" dt="2026-08-31T15:10:16.469" v="1249" actId="14100"/>
          <ac:spMkLst>
            <pc:docMk/>
            <pc:sldMk cId="0" sldId="256"/>
            <ac:spMk id="171" creationId="{63531859-3B76-C361-4041-475895B80BEF}"/>
          </ac:spMkLst>
        </pc:spChg>
        <pc:spChg chg="mod">
          <ac:chgData name="Dairova, Zhannat SI-FR/P" userId="7bf041ce-838c-4eaa-8319-0f58f2da6a52" providerId="ADAL" clId="{B9C0579C-27E0-412D-87AA-B6E20E32D304}" dt="2026-08-31T15:05:37.251" v="755" actId="1076"/>
          <ac:spMkLst>
            <pc:docMk/>
            <pc:sldMk cId="0" sldId="256"/>
            <ac:spMk id="173" creationId="{D95ABCCC-A0D1-D8CD-5BAD-FB2473847595}"/>
          </ac:spMkLst>
        </pc:spChg>
        <pc:spChg chg="mod">
          <ac:chgData name="Dairova, Zhannat SI-FR/P" userId="7bf041ce-838c-4eaa-8319-0f58f2da6a52" providerId="ADAL" clId="{B9C0579C-27E0-412D-87AA-B6E20E32D304}" dt="2026-08-31T15:05:37.251" v="755" actId="1076"/>
          <ac:spMkLst>
            <pc:docMk/>
            <pc:sldMk cId="0" sldId="256"/>
            <ac:spMk id="175" creationId="{A6543CA5-02D1-82E8-87C9-B6C16CC5F453}"/>
          </ac:spMkLst>
        </pc:spChg>
        <pc:spChg chg="mod">
          <ac:chgData name="Dairova, Zhannat SI-FR/P" userId="7bf041ce-838c-4eaa-8319-0f58f2da6a52" providerId="ADAL" clId="{B9C0579C-27E0-412D-87AA-B6E20E32D304}" dt="2026-08-31T15:05:37.251" v="755" actId="1076"/>
          <ac:spMkLst>
            <pc:docMk/>
            <pc:sldMk cId="0" sldId="256"/>
            <ac:spMk id="177" creationId="{5A2B73C0-114D-C03B-E0E0-F36DE4DB0B04}"/>
          </ac:spMkLst>
        </pc:spChg>
        <pc:spChg chg="mod">
          <ac:chgData name="Dairova, Zhannat SI-FR/P" userId="7bf041ce-838c-4eaa-8319-0f58f2da6a52" providerId="ADAL" clId="{B9C0579C-27E0-412D-87AA-B6E20E32D304}" dt="2026-08-31T14:48:05.745" v="52" actId="14100"/>
          <ac:spMkLst>
            <pc:docMk/>
            <pc:sldMk cId="0" sldId="256"/>
            <ac:spMk id="179" creationId="{8029FE16-94AE-8671-CCFE-8B84D94A63F9}"/>
          </ac:spMkLst>
        </pc:spChg>
        <pc:spChg chg="mod">
          <ac:chgData name="Dairova, Zhannat SI-FR/P" userId="7bf041ce-838c-4eaa-8319-0f58f2da6a52" providerId="ADAL" clId="{B9C0579C-27E0-412D-87AA-B6E20E32D304}" dt="2026-08-31T15:10:16.469" v="1249" actId="14100"/>
          <ac:spMkLst>
            <pc:docMk/>
            <pc:sldMk cId="0" sldId="256"/>
            <ac:spMk id="187" creationId="{87A0E805-D702-F231-F4F5-CD3DD2C43607}"/>
          </ac:spMkLst>
        </pc:spChg>
        <pc:spChg chg="mod">
          <ac:chgData name="Dairova, Zhannat SI-FR/P" userId="7bf041ce-838c-4eaa-8319-0f58f2da6a52" providerId="ADAL" clId="{B9C0579C-27E0-412D-87AA-B6E20E32D304}" dt="2026-08-31T15:05:37.251" v="755" actId="1076"/>
          <ac:spMkLst>
            <pc:docMk/>
            <pc:sldMk cId="0" sldId="256"/>
            <ac:spMk id="189" creationId="{C9176B6B-479D-0EBA-1049-9528A9D5C05A}"/>
          </ac:spMkLst>
        </pc:spChg>
        <pc:spChg chg="mod">
          <ac:chgData name="Dairova, Zhannat SI-FR/P" userId="7bf041ce-838c-4eaa-8319-0f58f2da6a52" providerId="ADAL" clId="{B9C0579C-27E0-412D-87AA-B6E20E32D304}" dt="2026-08-31T15:05:37.251" v="755" actId="1076"/>
          <ac:spMkLst>
            <pc:docMk/>
            <pc:sldMk cId="0" sldId="256"/>
            <ac:spMk id="191" creationId="{59D5A93B-0F66-5553-24D1-E9675091A6AD}"/>
          </ac:spMkLst>
        </pc:spChg>
        <pc:spChg chg="mod">
          <ac:chgData name="Dairova, Zhannat SI-FR/P" userId="7bf041ce-838c-4eaa-8319-0f58f2da6a52" providerId="ADAL" clId="{B9C0579C-27E0-412D-87AA-B6E20E32D304}" dt="2026-08-31T15:05:37.251" v="755" actId="1076"/>
          <ac:spMkLst>
            <pc:docMk/>
            <pc:sldMk cId="0" sldId="256"/>
            <ac:spMk id="193" creationId="{67C7876C-AF08-C7CE-ED27-D8AF1375D68D}"/>
          </ac:spMkLst>
        </pc:spChg>
        <pc:spChg chg="mod">
          <ac:chgData name="Dairova, Zhannat SI-FR/P" userId="7bf041ce-838c-4eaa-8319-0f58f2da6a52" providerId="ADAL" clId="{B9C0579C-27E0-412D-87AA-B6E20E32D304}" dt="2026-08-31T15:11:33.168" v="1253" actId="1076"/>
          <ac:spMkLst>
            <pc:docMk/>
            <pc:sldMk cId="0" sldId="256"/>
            <ac:spMk id="239" creationId="{0D0D0A9F-BB95-B142-1923-6CF3305A0392}"/>
          </ac:spMkLst>
        </pc:spChg>
        <pc:spChg chg="mod">
          <ac:chgData name="Dairova, Zhannat SI-FR/P" userId="7bf041ce-838c-4eaa-8319-0f58f2da6a52" providerId="ADAL" clId="{B9C0579C-27E0-412D-87AA-B6E20E32D304}" dt="2026-08-31T15:11:33.168" v="1253" actId="1076"/>
          <ac:spMkLst>
            <pc:docMk/>
            <pc:sldMk cId="0" sldId="256"/>
            <ac:spMk id="243" creationId="{59ABCFE8-9CCC-5F5E-FE90-61E6F3C87257}"/>
          </ac:spMkLst>
        </pc:spChg>
        <pc:spChg chg="mod">
          <ac:chgData name="Dairova, Zhannat SI-FR/P" userId="7bf041ce-838c-4eaa-8319-0f58f2da6a52" providerId="ADAL" clId="{B9C0579C-27E0-412D-87AA-B6E20E32D304}" dt="2026-08-31T15:23:04.405" v="1590" actId="20577"/>
          <ac:spMkLst>
            <pc:docMk/>
            <pc:sldMk cId="0" sldId="256"/>
            <ac:spMk id="247" creationId="{D7086BA8-BE9D-FFB1-72F0-92566A60887A}"/>
          </ac:spMkLst>
        </pc:spChg>
        <pc:picChg chg="mod">
          <ac:chgData name="Dairova, Zhannat SI-FR/P" userId="7bf041ce-838c-4eaa-8319-0f58f2da6a52" providerId="ADAL" clId="{B9C0579C-27E0-412D-87AA-B6E20E32D304}" dt="2026-08-31T15:10:25.045" v="1250" actId="1076"/>
          <ac:picMkLst>
            <pc:docMk/>
            <pc:sldMk cId="0" sldId="256"/>
            <ac:picMk id="205" creationId="{37962517-18F9-9CB0-9FA1-D96346E183D7}"/>
          </ac:picMkLst>
        </pc:picChg>
        <pc:picChg chg="mod">
          <ac:chgData name="Dairova, Zhannat SI-FR/P" userId="7bf041ce-838c-4eaa-8319-0f58f2da6a52" providerId="ADAL" clId="{B9C0579C-27E0-412D-87AA-B6E20E32D304}" dt="2026-08-31T15:10:25.045" v="1250" actId="1076"/>
          <ac:picMkLst>
            <pc:docMk/>
            <pc:sldMk cId="0" sldId="256"/>
            <ac:picMk id="251" creationId="{8C2592CC-7CAF-7A93-D79A-0D439D0EACE3}"/>
          </ac:picMkLst>
        </pc:picChg>
        <pc:picChg chg="mod">
          <ac:chgData name="Dairova, Zhannat SI-FR/P" userId="7bf041ce-838c-4eaa-8319-0f58f2da6a52" providerId="ADAL" clId="{B9C0579C-27E0-412D-87AA-B6E20E32D304}" dt="2026-08-31T15:10:25.045" v="1250" actId="1076"/>
          <ac:picMkLst>
            <pc:docMk/>
            <pc:sldMk cId="0" sldId="256"/>
            <ac:picMk id="253" creationId="{32576C05-CE97-B987-3644-8417DDD2D2E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l">
              <a:defRPr sz="1700"/>
            </a:lvl1pPr>
          </a:lstStyle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80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r">
              <a:defRPr sz="1700"/>
            </a:lvl1pPr>
          </a:lstStyle>
          <a:p>
            <a:fld id="{78688C09-A274-4C07-9395-CBE67C0DE912}" type="datetimeFigureOut">
              <a:rPr lang="en-GB" smtClean="0">
                <a:latin typeface="Futura Medium" pitchFamily="2" charset="0"/>
              </a:rPr>
              <a:pPr/>
              <a:t>31/08/2026</a:t>
            </a:fld>
            <a:endParaRPr lang="en-GB" dirty="0">
              <a:latin typeface="Futura Medium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l">
              <a:defRPr sz="1700"/>
            </a:lvl1pPr>
          </a:lstStyle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80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r">
              <a:defRPr sz="1700"/>
            </a:lvl1pPr>
          </a:lstStyle>
          <a:p>
            <a:fld id="{18B005D9-1AAC-4E6D-B9B3-BB8CB4FD9D30}" type="slidenum">
              <a:rPr lang="en-GB" smtClean="0">
                <a:latin typeface="Futura Medium" pitchFamily="2" charset="0"/>
              </a:rPr>
              <a:pPr/>
              <a:t>‹#›</a:t>
            </a:fld>
            <a:endParaRPr lang="en-GB" dirty="0">
              <a:latin typeface="Futura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973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l">
              <a:defRPr sz="1700">
                <a:latin typeface="Futura Medium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80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r">
              <a:defRPr sz="1700">
                <a:latin typeface="Futura Medium" pitchFamily="2" charset="0"/>
              </a:defRPr>
            </a:lvl1pPr>
          </a:lstStyle>
          <a:p>
            <a:fld id="{E8910CE4-810D-4C84-B7AD-48C304FEA169}" type="datetimeFigureOut">
              <a:rPr lang="en-GB" smtClean="0"/>
              <a:pPr/>
              <a:t>31/08/2026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59113" y="1074738"/>
            <a:ext cx="3808412" cy="5386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4275" tIns="67137" rIns="134275" bIns="67137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6818990"/>
            <a:ext cx="7941310" cy="6460093"/>
          </a:xfrm>
          <a:prstGeom prst="rect">
            <a:avLst/>
          </a:prstGeom>
        </p:spPr>
        <p:txBody>
          <a:bodyPr vert="horz" lIns="134275" tIns="67137" rIns="134275" bIns="67137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l">
              <a:defRPr sz="1700">
                <a:latin typeface="Futura Medium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80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r">
              <a:defRPr sz="1700">
                <a:latin typeface="Futura Medium" pitchFamily="2" charset="0"/>
              </a:defRPr>
            </a:lvl1pPr>
          </a:lstStyle>
          <a:p>
            <a:fld id="{DE799493-6412-4470-9830-D005B358D66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2893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676973" rtl="0" eaLnBrk="1" latinLnBrk="0" hangingPunct="1">
      <a:defRPr sz="6138" kern="1200">
        <a:solidFill>
          <a:schemeClr val="tx1"/>
        </a:solidFill>
        <a:latin typeface="Futura Medium" pitchFamily="2" charset="0"/>
        <a:ea typeface="+mn-ea"/>
        <a:cs typeface="+mn-cs"/>
      </a:defRPr>
    </a:lvl1pPr>
    <a:lvl2pPr marL="2338487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2pPr>
    <a:lvl3pPr marL="4676973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3pPr>
    <a:lvl4pPr marL="7015460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4pPr>
    <a:lvl5pPr marL="9353946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5pPr>
    <a:lvl6pPr marL="11692433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6pPr>
    <a:lvl7pPr marL="14030919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7pPr>
    <a:lvl8pPr marL="16369406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8pPr>
    <a:lvl9pPr marL="18707892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5505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>
              <a:defRPr/>
            </a:pPr>
            <a:r>
              <a:rPr lang="en-GB" sz="2800" dirty="0">
                <a:solidFill>
                  <a:schemeClr val="tx1"/>
                </a:solidFill>
                <a:latin typeface="+mn-lt"/>
                <a:cs typeface="Arial" pitchFamily="34" charset="0"/>
              </a:rPr>
              <a:t>Shape. Connect. Accelerate </a:t>
            </a:r>
          </a:p>
        </p:txBody>
      </p:sp>
      <p:sp>
        <p:nvSpPr>
          <p:cNvPr id="20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97623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 algn="r"/>
            <a:r>
              <a:rPr lang="en-GB" sz="2800" dirty="0"/>
              <a:t>September 7-8,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D0CE2F-1DFA-1F89-3C04-6693D0E978E9}"/>
              </a:ext>
            </a:extLst>
          </p:cNvPr>
          <p:cNvSpPr/>
          <p:nvPr userDrawn="1"/>
        </p:nvSpPr>
        <p:spPr>
          <a:xfrm>
            <a:off x="-1" y="1"/>
            <a:ext cx="30275213" cy="6827520"/>
          </a:xfrm>
          <a:prstGeom prst="rect">
            <a:avLst/>
          </a:prstGeom>
          <a:solidFill>
            <a:srgbClr val="F7D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032B41E-CA7B-293B-0827-739C4AA7C3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120" r="-991"/>
          <a:stretch/>
        </p:blipFill>
        <p:spPr>
          <a:xfrm>
            <a:off x="24260896" y="1321092"/>
            <a:ext cx="3359440" cy="3255921"/>
          </a:xfrm>
          <a:prstGeom prst="rect">
            <a:avLst/>
          </a:prstGeom>
        </p:spPr>
      </p:pic>
    </p:spTree>
  </p:cSld>
  <p:clrMapOvr>
    <a:masterClrMapping/>
  </p:clrMapOvr>
  <p:transition/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886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1CD8318-F598-F22A-F46C-E91BE846BE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0009390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8" imgH="408" progId="TCLayout.ActiveDocument.1">
                  <p:embed/>
                </p:oleObj>
              </mc:Choice>
              <mc:Fallback>
                <p:oleObj name="think-cell Slide" r:id="rId5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CD8318-F598-F22A-F46C-E91BE846BE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transition>
    <p:fade/>
  </p:transition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000" b="1" kern="1200" cap="none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Char char="n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454025" indent="-18415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631825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600" b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811213" indent="-173038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89013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tiff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48c52803bb.png"/>
          <p:cNvPicPr>
            <a:picLocks noChangeAspect="1"/>
          </p:cNvPicPr>
          <p:nvPr/>
        </p:nvPicPr>
        <p:blipFill>
          <a:blip r:embed="rId3"/>
          <a:srcRect t="22800" b="22800"/>
          <a:stretch/>
        </p:blipFill>
        <p:spPr>
          <a:xfrm>
            <a:off x="0" y="0"/>
            <a:ext cx="30275213" cy="1034899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87215" y="1065338"/>
            <a:ext cx="9457608" cy="1141434"/>
          </a:xfrm>
          <a:prstGeom prst="roundRect">
            <a:avLst>
              <a:gd name="adj" fmla="val 3333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4" name="Text 1"/>
          <p:cNvSpPr/>
          <p:nvPr/>
        </p:nvSpPr>
        <p:spPr>
          <a:xfrm>
            <a:off x="2467692" y="1369720"/>
            <a:ext cx="9457607" cy="6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rPr lang="en-US" sz="5617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SHAPING GROUP DIRECTION</a:t>
            </a:r>
            <a:endParaRPr lang="en-US" sz="5617" dirty="0"/>
          </a:p>
        </p:txBody>
      </p:sp>
      <p:sp>
        <p:nvSpPr>
          <p:cNvPr id="5" name="Text 2"/>
          <p:cNvSpPr/>
          <p:nvPr/>
        </p:nvSpPr>
        <p:spPr>
          <a:xfrm>
            <a:off x="2087215" y="3157966"/>
            <a:ext cx="19404372" cy="1788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0" b="1" dirty="0">
                <a:solidFill>
                  <a:srgbClr val="2F3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 RESOURCES ACQUISITION</a:t>
            </a:r>
            <a:endParaRPr lang="en-US" sz="14147" dirty="0"/>
          </a:p>
        </p:txBody>
      </p:sp>
      <p:sp>
        <p:nvSpPr>
          <p:cNvPr id="6" name="Text 3"/>
          <p:cNvSpPr/>
          <p:nvPr/>
        </p:nvSpPr>
        <p:spPr>
          <a:xfrm>
            <a:off x="2087215" y="4946000"/>
            <a:ext cx="19214133" cy="1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4600" dirty="0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SCA supported the deal from market analysis through to announcement</a:t>
            </a:r>
            <a:endParaRPr lang="en-US" sz="5617" dirty="0"/>
          </a:p>
        </p:txBody>
      </p:sp>
      <p:sp>
        <p:nvSpPr>
          <p:cNvPr id="7" name="Shape 4"/>
          <p:cNvSpPr/>
          <p:nvPr/>
        </p:nvSpPr>
        <p:spPr>
          <a:xfrm>
            <a:off x="2087214" y="6772506"/>
            <a:ext cx="19138038" cy="0"/>
          </a:xfrm>
          <a:prstGeom prst="line">
            <a:avLst/>
          </a:prstGeom>
          <a:noFill/>
          <a:ln w="12700">
            <a:solidFill>
              <a:srgbClr val="E9571F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7214" y="7533462"/>
            <a:ext cx="1255577" cy="8370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56935" y="7571510"/>
            <a:ext cx="18262939" cy="106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800" b="1" dirty="0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Jonathan Bushman, Zhannat Dairova, Oswald Clint </a:t>
            </a:r>
          </a:p>
        </p:txBody>
      </p:sp>
      <p:sp>
        <p:nvSpPr>
          <p:cNvPr id="10" name="Text 6"/>
          <p:cNvSpPr/>
          <p:nvPr/>
        </p:nvSpPr>
        <p:spPr>
          <a:xfrm>
            <a:off x="2087215" y="8941230"/>
            <a:ext cx="19214133" cy="951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326" dirty="0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 Global Team F2F 2026   |   7–8 September</a:t>
            </a:r>
            <a:endParaRPr lang="en-US" sz="5326" dirty="0"/>
          </a:p>
        </p:txBody>
      </p:sp>
      <p:sp>
        <p:nvSpPr>
          <p:cNvPr id="12" name="Text 7"/>
          <p:cNvSpPr/>
          <p:nvPr/>
        </p:nvSpPr>
        <p:spPr>
          <a:xfrm>
            <a:off x="23850549" y="5402786"/>
            <a:ext cx="4565735" cy="2435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5409" b="1" dirty="0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SHAPE</a:t>
            </a:r>
            <a:endParaRPr lang="en-US" sz="5409" dirty="0"/>
          </a:p>
          <a:p>
            <a:pPr algn="ctr"/>
            <a:r>
              <a:rPr lang="en-US" sz="5409" b="1" dirty="0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</a:t>
            </a:r>
            <a:endParaRPr lang="en-US" sz="5409" dirty="0"/>
          </a:p>
          <a:p>
            <a:pPr algn="ctr"/>
            <a:r>
              <a:rPr lang="en-US" sz="5409" b="1" dirty="0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ACCELERATE</a:t>
            </a:r>
            <a:endParaRPr lang="en-US" sz="5409" dirty="0"/>
          </a:p>
        </p:txBody>
      </p:sp>
      <p:sp>
        <p:nvSpPr>
          <p:cNvPr id="13" name="Shape 8"/>
          <p:cNvSpPr/>
          <p:nvPr/>
        </p:nvSpPr>
        <p:spPr>
          <a:xfrm>
            <a:off x="800100" y="10805572"/>
            <a:ext cx="28803600" cy="22105765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C9C9C9"/>
            </a:solidFill>
            <a:prstDash val="solid"/>
          </a:ln>
        </p:spPr>
        <p:txBody>
          <a:bodyPr/>
          <a:lstStyle/>
          <a:p>
            <a:r>
              <a:rPr lang="en-GB" sz="38310" dirty="0"/>
              <a:t> </a:t>
            </a:r>
          </a:p>
        </p:txBody>
      </p:sp>
      <p:sp>
        <p:nvSpPr>
          <p:cNvPr id="15" name="Text 10"/>
          <p:cNvSpPr/>
          <p:nvPr/>
        </p:nvSpPr>
        <p:spPr>
          <a:xfrm>
            <a:off x="1250163" y="11323724"/>
            <a:ext cx="27774886" cy="114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endParaRPr lang="en-US" sz="9154" dirty="0"/>
          </a:p>
        </p:txBody>
      </p:sp>
      <p:sp>
        <p:nvSpPr>
          <p:cNvPr id="21" name="Text 16"/>
          <p:cNvSpPr/>
          <p:nvPr/>
        </p:nvSpPr>
        <p:spPr>
          <a:xfrm>
            <a:off x="1706736" y="41776472"/>
            <a:ext cx="7609558" cy="6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537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Shape. Connect. Accelerate.</a:t>
            </a:r>
            <a:endParaRPr lang="en-US" sz="3537" dirty="0"/>
          </a:p>
        </p:txBody>
      </p:sp>
      <p:sp>
        <p:nvSpPr>
          <p:cNvPr id="22" name="Text 17"/>
          <p:cNvSpPr/>
          <p:nvPr/>
        </p:nvSpPr>
        <p:spPr>
          <a:xfrm>
            <a:off x="22747164" y="41776472"/>
            <a:ext cx="5897407" cy="6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3537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September 7–8, 2026</a:t>
            </a:r>
            <a:endParaRPr lang="en-US" sz="3537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9488486-9067-A209-415D-58E37B1212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0549" y="1385284"/>
            <a:ext cx="4306322" cy="4306322"/>
          </a:xfrm>
          <a:prstGeom prst="rect">
            <a:avLst/>
          </a:prstGeom>
          <a:ln>
            <a:noFill/>
          </a:ln>
        </p:spPr>
      </p:pic>
      <p:sp>
        <p:nvSpPr>
          <p:cNvPr id="25" name="Rounded Rectangle 24"/>
          <p:cNvSpPr/>
          <p:nvPr/>
        </p:nvSpPr>
        <p:spPr>
          <a:xfrm>
            <a:off x="1250165" y="11360350"/>
            <a:ext cx="6628721" cy="32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50165" y="11610350"/>
            <a:ext cx="6228721" cy="15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0" b="1" i="0">
                <a:solidFill>
                  <a:srgbClr val="D71920"/>
                </a:solidFill>
                <a:latin typeface="Aptos Display"/>
              </a:rPr>
              <a:t>$16.4bn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0165" y="13210350"/>
            <a:ext cx="6128721" cy="1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0" i="0">
                <a:solidFill>
                  <a:srgbClr val="5A5A5A"/>
                </a:solidFill>
                <a:latin typeface="Aptos"/>
              </a:rPr>
              <a:t>Transaction value (USD),</a:t>
            </a:r>
          </a:p>
          <a:p>
            <a:pPr algn="ctr">
              <a:lnSpc>
                <a:spcPct val="100000"/>
              </a:lnSpc>
            </a:pPr>
            <a:r>
              <a:rPr sz="2700" b="0" i="0">
                <a:solidFill>
                  <a:srgbClr val="5A5A5A"/>
                </a:solidFill>
                <a:latin typeface="Aptos"/>
              </a:rPr>
              <a:t>including net debt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98886" y="11360350"/>
            <a:ext cx="6628721" cy="32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5347607" y="11360350"/>
            <a:ext cx="6628721" cy="32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547607" y="11760185"/>
            <a:ext cx="6228721" cy="12003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0" b="1" i="0" dirty="0">
                <a:solidFill>
                  <a:srgbClr val="D71920"/>
                </a:solidFill>
                <a:latin typeface="Aptos Display"/>
              </a:rPr>
              <a:t>~2 </a:t>
            </a:r>
            <a:r>
              <a:rPr lang="en-GB" sz="7800" b="1" dirty="0">
                <a:solidFill>
                  <a:srgbClr val="D71920"/>
                </a:solidFill>
                <a:latin typeface="Aptos Display"/>
              </a:rPr>
              <a:t>mo</a:t>
            </a:r>
            <a:r>
              <a:rPr lang="en-GB" sz="7800" b="1" i="0" dirty="0">
                <a:solidFill>
                  <a:srgbClr val="D71920"/>
                </a:solidFill>
                <a:latin typeface="Aptos Display"/>
              </a:rPr>
              <a:t>nths</a:t>
            </a:r>
            <a:endParaRPr sz="7800" b="1" i="0" dirty="0">
              <a:solidFill>
                <a:srgbClr val="D71920"/>
              </a:solidFill>
              <a:latin typeface="Aptos Display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5547607" y="13264896"/>
            <a:ext cx="6128721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0" i="0" dirty="0">
                <a:solidFill>
                  <a:srgbClr val="5A5A5A"/>
                </a:solidFill>
                <a:latin typeface="Aptos"/>
              </a:rPr>
              <a:t>From </a:t>
            </a:r>
            <a:r>
              <a:rPr lang="en-GB" sz="2700" b="0" i="0" dirty="0">
                <a:solidFill>
                  <a:srgbClr val="5A5A5A"/>
                </a:solidFill>
                <a:latin typeface="Aptos"/>
              </a:rPr>
              <a:t>mobilisation of SCA team to SPA signage</a:t>
            </a:r>
            <a:endParaRPr sz="2700" b="0" i="0" dirty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22396328" y="11360350"/>
            <a:ext cx="6628721" cy="32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2596328" y="11610350"/>
            <a:ext cx="6228721" cy="15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0" b="1" i="0">
                <a:solidFill>
                  <a:srgbClr val="D71920"/>
                </a:solidFill>
                <a:latin typeface="Aptos Display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76872" y="13264896"/>
            <a:ext cx="6128721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2700" b="0" i="0" dirty="0">
                <a:solidFill>
                  <a:srgbClr val="5A5A5A"/>
                </a:solidFill>
                <a:latin typeface="Aptos"/>
              </a:rPr>
              <a:t>78 people signed up at announcement –zero leaks</a:t>
            </a:r>
            <a:endParaRPr sz="2700" b="0" i="0" dirty="0">
              <a:solidFill>
                <a:srgbClr val="5A5A5A"/>
              </a:solidFill>
              <a:latin typeface="Aptos"/>
            </a:endParaRPr>
          </a:p>
        </p:txBody>
      </p:sp>
      <p:sp>
        <p:nvSpPr>
          <p:cNvPr id="19" name="Rounded Rectangle 33">
            <a:extLst>
              <a:ext uri="{FF2B5EF4-FFF2-40B4-BE49-F238E27FC236}">
                <a16:creationId xmlns:a16="http://schemas.microsoft.com/office/drawing/2014/main" id="{BD4DBCAB-851B-C66A-34D9-9E69D72DF9EE}"/>
              </a:ext>
            </a:extLst>
          </p:cNvPr>
          <p:cNvSpPr/>
          <p:nvPr/>
        </p:nvSpPr>
        <p:spPr>
          <a:xfrm>
            <a:off x="8298886" y="11360350"/>
            <a:ext cx="6628721" cy="32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9F876B-B35E-BAC6-0141-FD4418C7B678}"/>
              </a:ext>
            </a:extLst>
          </p:cNvPr>
          <p:cNvSpPr txBox="1"/>
          <p:nvPr/>
        </p:nvSpPr>
        <p:spPr>
          <a:xfrm>
            <a:off x="8498886" y="11610350"/>
            <a:ext cx="6228721" cy="15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0" b="1" i="0">
                <a:solidFill>
                  <a:srgbClr val="D71920"/>
                </a:solidFill>
                <a:latin typeface="Aptos Display"/>
              </a:rPr>
              <a:t>3+1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CF86A45-DB8B-475A-74B7-AC74C2DABDEB}"/>
              </a:ext>
            </a:extLst>
          </p:cNvPr>
          <p:cNvSpPr txBox="1"/>
          <p:nvPr/>
        </p:nvSpPr>
        <p:spPr>
          <a:xfrm>
            <a:off x="8548886" y="13260350"/>
            <a:ext cx="6128721" cy="1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0" i="0">
                <a:solidFill>
                  <a:srgbClr val="5A5A5A"/>
                </a:solidFill>
                <a:latin typeface="Aptos"/>
              </a:rPr>
              <a:t>Three SCA teams working</a:t>
            </a:r>
          </a:p>
          <a:p>
            <a:pPr algn="ctr">
              <a:lnSpc>
                <a:spcPct val="100000"/>
              </a:lnSpc>
            </a:pPr>
            <a:r>
              <a:rPr sz="2700" b="0" i="0">
                <a:solidFill>
                  <a:srgbClr val="5A5A5A"/>
                </a:solidFill>
                <a:latin typeface="Aptos"/>
              </a:rPr>
              <a:t>as one with M&amp;A</a:t>
            </a:r>
          </a:p>
        </p:txBody>
      </p:sp>
      <p:sp>
        <p:nvSpPr>
          <p:cNvPr id="89" name="Shape 11">
            <a:extLst>
              <a:ext uri="{FF2B5EF4-FFF2-40B4-BE49-F238E27FC236}">
                <a16:creationId xmlns:a16="http://schemas.microsoft.com/office/drawing/2014/main" id="{9DCC4488-8759-4A74-1128-8397ED822E06}"/>
              </a:ext>
            </a:extLst>
          </p:cNvPr>
          <p:cNvSpPr>
            <a:spLocks noGrp="1"/>
          </p:cNvSpPr>
          <p:nvPr/>
        </p:nvSpPr>
        <p:spPr>
          <a:xfrm>
            <a:off x="800100" y="34661535"/>
            <a:ext cx="28803600" cy="6315933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C9C9C9"/>
            </a:solidFill>
            <a:prstDash val="solid"/>
          </a:ln>
        </p:spPr>
        <p:txBody>
          <a:bodyPr/>
          <a:lstStyle/>
          <a:p>
            <a:endParaRPr sz="38310"/>
          </a:p>
        </p:txBody>
      </p:sp>
      <p:sp>
        <p:nvSpPr>
          <p:cNvPr id="91" name="Shape 12">
            <a:extLst>
              <a:ext uri="{FF2B5EF4-FFF2-40B4-BE49-F238E27FC236}">
                <a16:creationId xmlns:a16="http://schemas.microsoft.com/office/drawing/2014/main" id="{3BC607A9-DC1C-D746-8184-624761B05BF8}"/>
              </a:ext>
            </a:extLst>
          </p:cNvPr>
          <p:cNvSpPr>
            <a:spLocks noGrp="1"/>
          </p:cNvSpPr>
          <p:nvPr/>
        </p:nvSpPr>
        <p:spPr>
          <a:xfrm>
            <a:off x="800100" y="32911337"/>
            <a:ext cx="28803600" cy="178824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sz="38310"/>
          </a:p>
        </p:txBody>
      </p:sp>
      <p:sp>
        <p:nvSpPr>
          <p:cNvPr id="93" name="Text 13">
            <a:extLst>
              <a:ext uri="{FF2B5EF4-FFF2-40B4-BE49-F238E27FC236}">
                <a16:creationId xmlns:a16="http://schemas.microsoft.com/office/drawing/2014/main" id="{AAF945E6-D566-25E7-30C6-DEC88397058B}"/>
              </a:ext>
            </a:extLst>
          </p:cNvPr>
          <p:cNvSpPr>
            <a:spLocks noGrp="1"/>
          </p:cNvSpPr>
          <p:nvPr/>
        </p:nvSpPr>
        <p:spPr>
          <a:xfrm>
            <a:off x="1250163" y="33215719"/>
            <a:ext cx="27774886" cy="1141434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5238" lnSpcReduction="10000"/>
          </a:bodyPr>
          <a:lstStyle/>
          <a:p>
            <a:pPr algn="ctr">
              <a:buNone/>
            </a:pPr>
            <a:r>
              <a:rPr sz="8738" b="1">
                <a:solidFill>
                  <a:srgbClr val="2F3033"/>
                </a:solidFill>
                <a:latin typeface="Aptos Display"/>
                <a:ea typeface="Aptos Display"/>
                <a:cs typeface="Aptos Display"/>
              </a:rPr>
              <a:t>WHAT MADE IT WORK</a:t>
            </a:r>
            <a:endParaRPr sz="8738"/>
          </a:p>
        </p:txBody>
      </p:sp>
      <p:sp>
        <p:nvSpPr>
          <p:cNvPr id="95" name="governance-band">
            <a:extLst>
              <a:ext uri="{FF2B5EF4-FFF2-40B4-BE49-F238E27FC236}">
                <a16:creationId xmlns:a16="http://schemas.microsoft.com/office/drawing/2014/main" id="{98DB25C3-C3EE-122D-CEFE-EBF47DAAF8DF}"/>
              </a:ext>
            </a:extLst>
          </p:cNvPr>
          <p:cNvSpPr>
            <a:spLocks noGrp="1"/>
          </p:cNvSpPr>
          <p:nvPr/>
        </p:nvSpPr>
        <p:spPr>
          <a:xfrm>
            <a:off x="1526288" y="27218686"/>
            <a:ext cx="27031950" cy="5000625"/>
          </a:xfrm>
          <a:prstGeom prst="roundRect">
            <a:avLst>
              <a:gd name="adj" fmla="val 1524"/>
            </a:avLst>
          </a:prstGeom>
          <a:solidFill>
            <a:srgbClr val="FFF8DF"/>
          </a:solidFill>
          <a:ln w="28575">
            <a:solidFill>
              <a:srgbClr val="F7D1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7" name="governance-heading">
            <a:extLst>
              <a:ext uri="{FF2B5EF4-FFF2-40B4-BE49-F238E27FC236}">
                <a16:creationId xmlns:a16="http://schemas.microsoft.com/office/drawing/2014/main" id="{C3BFA3EF-7CB7-4D69-ED28-346657154509}"/>
              </a:ext>
            </a:extLst>
          </p:cNvPr>
          <p:cNvSpPr>
            <a:spLocks noGrp="1"/>
          </p:cNvSpPr>
          <p:nvPr/>
        </p:nvSpPr>
        <p:spPr>
          <a:xfrm>
            <a:off x="2097788" y="27599686"/>
            <a:ext cx="14382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4650" b="1">
                <a:solidFill>
                  <a:srgbClr val="2F3033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2F3033"/>
                </a:solidFill>
                <a:latin typeface="Aptos Display"/>
                <a:ea typeface="Aptos Display"/>
                <a:cs typeface="Aptos Display"/>
              </a:rPr>
              <a:t>GOVERNANCE WAS THE MULTIPLIER</a:t>
            </a:r>
          </a:p>
        </p:txBody>
      </p:sp>
      <p:sp>
        <p:nvSpPr>
          <p:cNvPr id="101" name="governance-connector">
            <a:extLst>
              <a:ext uri="{FF2B5EF4-FFF2-40B4-BE49-F238E27FC236}">
                <a16:creationId xmlns:a16="http://schemas.microsoft.com/office/drawing/2014/main" id="{FB1852B4-9E91-1A6B-305E-755C52AFEEC4}"/>
              </a:ext>
            </a:extLst>
          </p:cNvPr>
          <p:cNvSpPr>
            <a:spLocks noGrp="1"/>
          </p:cNvSpPr>
          <p:nvPr/>
        </p:nvSpPr>
        <p:spPr>
          <a:xfrm>
            <a:off x="6337802" y="29546163"/>
            <a:ext cx="18212540" cy="19050"/>
          </a:xfrm>
          <a:prstGeom prst="line">
            <a:avLst/>
          </a:prstGeom>
          <a:noFill/>
          <a:ln w="66675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3" name="gov-1">
            <a:extLst>
              <a:ext uri="{FF2B5EF4-FFF2-40B4-BE49-F238E27FC236}">
                <a16:creationId xmlns:a16="http://schemas.microsoft.com/office/drawing/2014/main" id="{31309D2A-CD45-5610-86B3-00A57185DA92}"/>
              </a:ext>
            </a:extLst>
          </p:cNvPr>
          <p:cNvSpPr>
            <a:spLocks noGrp="1"/>
          </p:cNvSpPr>
          <p:nvPr/>
        </p:nvSpPr>
        <p:spPr>
          <a:xfrm>
            <a:off x="5099552" y="28927038"/>
            <a:ext cx="1238250" cy="1238250"/>
          </a:xfrm>
          <a:prstGeom prst="ellipse">
            <a:avLst/>
          </a:prstGeom>
          <a:solidFill>
            <a:srgbClr val="D71920"/>
          </a:solidFill>
          <a:ln w="9525">
            <a:solidFill>
              <a:srgbClr val="D71920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05" name="gov-title-1">
            <a:extLst>
              <a:ext uri="{FF2B5EF4-FFF2-40B4-BE49-F238E27FC236}">
                <a16:creationId xmlns:a16="http://schemas.microsoft.com/office/drawing/2014/main" id="{1C61CAB0-2755-5654-BCF3-A9AA6D997B1B}"/>
              </a:ext>
            </a:extLst>
          </p:cNvPr>
          <p:cNvSpPr>
            <a:spLocks noGrp="1"/>
          </p:cNvSpPr>
          <p:nvPr/>
        </p:nvSpPr>
        <p:spPr>
          <a:xfrm>
            <a:off x="4099427" y="30279588"/>
            <a:ext cx="3238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700" b="1">
                <a:solidFill>
                  <a:srgbClr val="2F303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F3033"/>
                </a:solidFill>
                <a:latin typeface="Aptos"/>
                <a:ea typeface="Aptos"/>
                <a:cs typeface="Aptos"/>
              </a:rPr>
              <a:t>Lean core team</a:t>
            </a:r>
          </a:p>
        </p:txBody>
      </p:sp>
      <p:sp>
        <p:nvSpPr>
          <p:cNvPr id="107" name="gov-body-1">
            <a:extLst>
              <a:ext uri="{FF2B5EF4-FFF2-40B4-BE49-F238E27FC236}">
                <a16:creationId xmlns:a16="http://schemas.microsoft.com/office/drawing/2014/main" id="{376D648A-2A5B-6D6F-266E-C336B9BD7A66}"/>
              </a:ext>
            </a:extLst>
          </p:cNvPr>
          <p:cNvSpPr>
            <a:spLocks noGrp="1"/>
          </p:cNvSpPr>
          <p:nvPr/>
        </p:nvSpPr>
        <p:spPr>
          <a:xfrm>
            <a:off x="3956552" y="30822513"/>
            <a:ext cx="3524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175">
                <a:solidFill>
                  <a:srgbClr val="5A5A5A"/>
                </a:solidFill>
                <a:latin typeface="Aptos"/>
                <a:ea typeface="Aptos"/>
                <a:cs typeface="Aptos"/>
              </a:defRPr>
            </a:pPr>
            <a:r>
              <a:rPr sz="2175">
                <a:solidFill>
                  <a:srgbClr val="5A5A5A"/>
                </a:solidFill>
                <a:latin typeface="Aptos"/>
                <a:ea typeface="Aptos"/>
                <a:cs typeface="Aptos"/>
              </a:rPr>
              <a:t>Small group, high trust</a:t>
            </a:r>
          </a:p>
        </p:txBody>
      </p:sp>
      <p:sp>
        <p:nvSpPr>
          <p:cNvPr id="109" name="gov-2">
            <a:extLst>
              <a:ext uri="{FF2B5EF4-FFF2-40B4-BE49-F238E27FC236}">
                <a16:creationId xmlns:a16="http://schemas.microsoft.com/office/drawing/2014/main" id="{5F72F108-B0FA-29A0-7320-6C8785E12061}"/>
              </a:ext>
            </a:extLst>
          </p:cNvPr>
          <p:cNvSpPr>
            <a:spLocks noGrp="1"/>
          </p:cNvSpPr>
          <p:nvPr/>
        </p:nvSpPr>
        <p:spPr>
          <a:xfrm>
            <a:off x="11243177" y="28927038"/>
            <a:ext cx="1238250" cy="1238250"/>
          </a:xfrm>
          <a:prstGeom prst="ellipse">
            <a:avLst/>
          </a:prstGeom>
          <a:solidFill>
            <a:srgbClr val="D71920"/>
          </a:solidFill>
          <a:ln w="9525">
            <a:solidFill>
              <a:srgbClr val="D71920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11" name="gov-title-2">
            <a:extLst>
              <a:ext uri="{FF2B5EF4-FFF2-40B4-BE49-F238E27FC236}">
                <a16:creationId xmlns:a16="http://schemas.microsoft.com/office/drawing/2014/main" id="{14EF9FF4-7C21-4B86-4128-F48A31900592}"/>
              </a:ext>
            </a:extLst>
          </p:cNvPr>
          <p:cNvSpPr>
            <a:spLocks noGrp="1"/>
          </p:cNvSpPr>
          <p:nvPr/>
        </p:nvSpPr>
        <p:spPr>
          <a:xfrm>
            <a:off x="10243052" y="30279588"/>
            <a:ext cx="3238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700" b="1">
                <a:solidFill>
                  <a:srgbClr val="2F303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F3033"/>
                </a:solidFill>
                <a:latin typeface="Aptos"/>
                <a:ea typeface="Aptos"/>
                <a:cs typeface="Aptos"/>
              </a:rPr>
              <a:t>Clear decisions</a:t>
            </a:r>
          </a:p>
        </p:txBody>
      </p:sp>
      <p:sp>
        <p:nvSpPr>
          <p:cNvPr id="113" name="gov-body-2">
            <a:extLst>
              <a:ext uri="{FF2B5EF4-FFF2-40B4-BE49-F238E27FC236}">
                <a16:creationId xmlns:a16="http://schemas.microsoft.com/office/drawing/2014/main" id="{35F3DB58-69CB-C025-967D-940CC83AB543}"/>
              </a:ext>
            </a:extLst>
          </p:cNvPr>
          <p:cNvSpPr>
            <a:spLocks noGrp="1"/>
          </p:cNvSpPr>
          <p:nvPr/>
        </p:nvSpPr>
        <p:spPr>
          <a:xfrm>
            <a:off x="10100177" y="30822513"/>
            <a:ext cx="3524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/>
          </a:bodyPr>
          <a:lstStyle/>
          <a:p>
            <a:pPr algn="ctr">
              <a:defRPr sz="2175">
                <a:solidFill>
                  <a:srgbClr val="5A5A5A"/>
                </a:solidFill>
                <a:latin typeface="Aptos"/>
                <a:ea typeface="Aptos"/>
                <a:cs typeface="Aptos"/>
              </a:defRPr>
            </a:pPr>
            <a:r>
              <a:rPr sz="2175" dirty="0">
                <a:solidFill>
                  <a:srgbClr val="5A5A5A"/>
                </a:solidFill>
                <a:latin typeface="Aptos"/>
                <a:ea typeface="Aptos"/>
                <a:cs typeface="Aptos"/>
              </a:rPr>
              <a:t>Fast routes to </a:t>
            </a:r>
            <a:r>
              <a:rPr lang="en-GB" sz="2175" dirty="0">
                <a:solidFill>
                  <a:srgbClr val="5A5A5A"/>
                </a:solidFill>
                <a:latin typeface="Aptos"/>
                <a:ea typeface="Aptos"/>
                <a:cs typeface="Aptos"/>
              </a:rPr>
              <a:t>decision makers</a:t>
            </a:r>
            <a:endParaRPr sz="2175" dirty="0">
              <a:solidFill>
                <a:srgbClr val="5A5A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5" name="gov-3">
            <a:extLst>
              <a:ext uri="{FF2B5EF4-FFF2-40B4-BE49-F238E27FC236}">
                <a16:creationId xmlns:a16="http://schemas.microsoft.com/office/drawing/2014/main" id="{7D663446-2E8B-3436-63F2-A67B1E7185F9}"/>
              </a:ext>
            </a:extLst>
          </p:cNvPr>
          <p:cNvSpPr>
            <a:spLocks noGrp="1"/>
          </p:cNvSpPr>
          <p:nvPr/>
        </p:nvSpPr>
        <p:spPr>
          <a:xfrm>
            <a:off x="17386802" y="28927038"/>
            <a:ext cx="1238250" cy="1238250"/>
          </a:xfrm>
          <a:prstGeom prst="ellipse">
            <a:avLst/>
          </a:prstGeom>
          <a:solidFill>
            <a:srgbClr val="D71920"/>
          </a:solidFill>
          <a:ln w="9525">
            <a:solidFill>
              <a:srgbClr val="D71920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17" name="gov-title-3">
            <a:extLst>
              <a:ext uri="{FF2B5EF4-FFF2-40B4-BE49-F238E27FC236}">
                <a16:creationId xmlns:a16="http://schemas.microsoft.com/office/drawing/2014/main" id="{57BDE3E4-793E-3605-77AC-493F39D6AA4F}"/>
              </a:ext>
            </a:extLst>
          </p:cNvPr>
          <p:cNvSpPr>
            <a:spLocks noGrp="1"/>
          </p:cNvSpPr>
          <p:nvPr/>
        </p:nvSpPr>
        <p:spPr>
          <a:xfrm>
            <a:off x="16386677" y="30279588"/>
            <a:ext cx="3238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700" b="1">
                <a:solidFill>
                  <a:srgbClr val="2F3033"/>
                </a:solidFill>
                <a:latin typeface="Aptos"/>
                <a:ea typeface="Aptos"/>
                <a:cs typeface="Aptos"/>
              </a:defRPr>
            </a:pPr>
            <a:r>
              <a:rPr lang="en-GB" sz="2700" b="1" dirty="0">
                <a:solidFill>
                  <a:srgbClr val="2F3033"/>
                </a:solidFill>
                <a:latin typeface="Aptos"/>
                <a:ea typeface="Aptos"/>
                <a:cs typeface="Aptos"/>
              </a:rPr>
              <a:t>One working model</a:t>
            </a:r>
            <a:endParaRPr sz="2700" b="1" dirty="0">
              <a:solidFill>
                <a:srgbClr val="2F3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9" name="gov-body-3">
            <a:extLst>
              <a:ext uri="{FF2B5EF4-FFF2-40B4-BE49-F238E27FC236}">
                <a16:creationId xmlns:a16="http://schemas.microsoft.com/office/drawing/2014/main" id="{C13DBCEF-14F2-F6F4-5FD2-B6BC43513B54}"/>
              </a:ext>
            </a:extLst>
          </p:cNvPr>
          <p:cNvSpPr>
            <a:spLocks noGrp="1"/>
          </p:cNvSpPr>
          <p:nvPr/>
        </p:nvSpPr>
        <p:spPr>
          <a:xfrm>
            <a:off x="16243802" y="30822513"/>
            <a:ext cx="3524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175">
                <a:solidFill>
                  <a:srgbClr val="5A5A5A"/>
                </a:solidFill>
                <a:latin typeface="Aptos"/>
                <a:ea typeface="Aptos"/>
                <a:cs typeface="Aptos"/>
              </a:defRPr>
            </a:pPr>
            <a:r>
              <a:rPr sz="2175" dirty="0">
                <a:solidFill>
                  <a:srgbClr val="5A5A5A"/>
                </a:solidFill>
                <a:latin typeface="Aptos"/>
                <a:ea typeface="Aptos"/>
                <a:cs typeface="Aptos"/>
              </a:rPr>
              <a:t>Shared </a:t>
            </a:r>
            <a:r>
              <a:rPr lang="en-GB" sz="2175" dirty="0">
                <a:solidFill>
                  <a:srgbClr val="5A5A5A"/>
                </a:solidFill>
                <a:latin typeface="Aptos"/>
                <a:ea typeface="Aptos"/>
                <a:cs typeface="Aptos"/>
              </a:rPr>
              <a:t>models &amp; analysis</a:t>
            </a:r>
            <a:endParaRPr sz="2175" dirty="0">
              <a:solidFill>
                <a:srgbClr val="5A5A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1" name="gov-4">
            <a:extLst>
              <a:ext uri="{FF2B5EF4-FFF2-40B4-BE49-F238E27FC236}">
                <a16:creationId xmlns:a16="http://schemas.microsoft.com/office/drawing/2014/main" id="{15517ED2-A83F-FAE8-4DE1-D80C1C36EE9E}"/>
              </a:ext>
            </a:extLst>
          </p:cNvPr>
          <p:cNvSpPr>
            <a:spLocks noGrp="1"/>
          </p:cNvSpPr>
          <p:nvPr/>
        </p:nvSpPr>
        <p:spPr>
          <a:xfrm>
            <a:off x="23530427" y="28927038"/>
            <a:ext cx="1238250" cy="1238250"/>
          </a:xfrm>
          <a:prstGeom prst="ellipse">
            <a:avLst/>
          </a:prstGeom>
          <a:solidFill>
            <a:srgbClr val="D71920"/>
          </a:solidFill>
          <a:ln w="9525">
            <a:solidFill>
              <a:srgbClr val="D71920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23" name="gov-title-4">
            <a:extLst>
              <a:ext uri="{FF2B5EF4-FFF2-40B4-BE49-F238E27FC236}">
                <a16:creationId xmlns:a16="http://schemas.microsoft.com/office/drawing/2014/main" id="{87F9F522-D763-27E6-A42B-3A2A1686E669}"/>
              </a:ext>
            </a:extLst>
          </p:cNvPr>
          <p:cNvSpPr>
            <a:spLocks noGrp="1"/>
          </p:cNvSpPr>
          <p:nvPr/>
        </p:nvSpPr>
        <p:spPr>
          <a:xfrm>
            <a:off x="22530302" y="30279588"/>
            <a:ext cx="3238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37"/>
          </a:bodyPr>
          <a:lstStyle/>
          <a:p>
            <a:pPr algn="ctr">
              <a:defRPr sz="2700" b="1">
                <a:solidFill>
                  <a:srgbClr val="2F3033"/>
                </a:solidFill>
                <a:latin typeface="Aptos"/>
                <a:ea typeface="Aptos"/>
                <a:cs typeface="Aptos"/>
              </a:defRPr>
            </a:pPr>
            <a:r>
              <a:rPr lang="en-GB" sz="2700" b="1" dirty="0">
                <a:solidFill>
                  <a:srgbClr val="2F3033"/>
                </a:solidFill>
                <a:latin typeface="Aptos"/>
                <a:ea typeface="Aptos"/>
                <a:cs typeface="Aptos"/>
              </a:rPr>
              <a:t>Tight confidentiality</a:t>
            </a:r>
            <a:endParaRPr sz="2700" b="1" dirty="0">
              <a:solidFill>
                <a:srgbClr val="2F3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5" name="gov-body-4">
            <a:extLst>
              <a:ext uri="{FF2B5EF4-FFF2-40B4-BE49-F238E27FC236}">
                <a16:creationId xmlns:a16="http://schemas.microsoft.com/office/drawing/2014/main" id="{1DCDFEC2-5E1C-57A1-5C68-5A76320E5A36}"/>
              </a:ext>
            </a:extLst>
          </p:cNvPr>
          <p:cNvSpPr>
            <a:spLocks noGrp="1"/>
          </p:cNvSpPr>
          <p:nvPr/>
        </p:nvSpPr>
        <p:spPr>
          <a:xfrm>
            <a:off x="22387426" y="30822512"/>
            <a:ext cx="5636715" cy="5052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>
                <a:solidFill>
                  <a:srgbClr val="5A5A5A"/>
                </a:solidFill>
                <a:latin typeface="Aptos"/>
                <a:ea typeface="Aptos"/>
                <a:cs typeface="Aptos"/>
              </a:defRPr>
            </a:pPr>
            <a:r>
              <a:rPr lang="en-GB" sz="2180" dirty="0">
                <a:solidFill>
                  <a:srgbClr val="5A5A5A"/>
                </a:solidFill>
                <a:latin typeface="Aptos"/>
                <a:ea typeface="Aptos"/>
                <a:cs typeface="Aptos"/>
              </a:rPr>
              <a:t>Need-to-know access throughout</a:t>
            </a:r>
            <a:endParaRPr sz="2180" dirty="0">
              <a:solidFill>
                <a:srgbClr val="5A5A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7" name="collaboration-ribbon">
            <a:extLst>
              <a:ext uri="{FF2B5EF4-FFF2-40B4-BE49-F238E27FC236}">
                <a16:creationId xmlns:a16="http://schemas.microsoft.com/office/drawing/2014/main" id="{BEFA2E0C-FC36-B511-5C2E-AFD236E195E4}"/>
              </a:ext>
            </a:extLst>
          </p:cNvPr>
          <p:cNvSpPr>
            <a:spLocks noGrp="1"/>
          </p:cNvSpPr>
          <p:nvPr/>
        </p:nvSpPr>
        <p:spPr>
          <a:xfrm>
            <a:off x="1526287" y="31552562"/>
            <a:ext cx="27031950" cy="666750"/>
          </a:xfrm>
          <a:prstGeom prst="roundRect">
            <a:avLst>
              <a:gd name="adj" fmla="val 11429"/>
            </a:avLst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9" name="collaboration-text">
            <a:extLst>
              <a:ext uri="{FF2B5EF4-FFF2-40B4-BE49-F238E27FC236}">
                <a16:creationId xmlns:a16="http://schemas.microsoft.com/office/drawing/2014/main" id="{0088E6AC-E6DC-3AA4-C251-AC8FE44221A6}"/>
              </a:ext>
            </a:extLst>
          </p:cNvPr>
          <p:cNvSpPr>
            <a:spLocks noGrp="1"/>
          </p:cNvSpPr>
          <p:nvPr/>
        </p:nvSpPr>
        <p:spPr>
          <a:xfrm>
            <a:off x="4288538" y="31666861"/>
            <a:ext cx="211264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SCA + M&amp;A worked as one team across modelling  •  negotiation  •  IR narrative</a:t>
            </a:r>
          </a:p>
        </p:txBody>
      </p:sp>
      <p:sp>
        <p:nvSpPr>
          <p:cNvPr id="131" name="learning-number-01">
            <a:extLst>
              <a:ext uri="{FF2B5EF4-FFF2-40B4-BE49-F238E27FC236}">
                <a16:creationId xmlns:a16="http://schemas.microsoft.com/office/drawing/2014/main" id="{F37D3CEE-76B7-896A-080B-B707D01A0FB1}"/>
              </a:ext>
            </a:extLst>
          </p:cNvPr>
          <p:cNvSpPr>
            <a:spLocks noGrp="1"/>
          </p:cNvSpPr>
          <p:nvPr/>
        </p:nvSpPr>
        <p:spPr>
          <a:xfrm>
            <a:off x="1714500" y="35194875"/>
            <a:ext cx="1619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5700" b="1">
                <a:solidFill>
                  <a:srgbClr val="D71920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1">
                <a:solidFill>
                  <a:srgbClr val="D71920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33" name="learning-rule-01">
            <a:extLst>
              <a:ext uri="{FF2B5EF4-FFF2-40B4-BE49-F238E27FC236}">
                <a16:creationId xmlns:a16="http://schemas.microsoft.com/office/drawing/2014/main" id="{ADBAE52B-A34F-424A-0D3C-9285531DA32E}"/>
              </a:ext>
            </a:extLst>
          </p:cNvPr>
          <p:cNvSpPr>
            <a:spLocks noGrp="1"/>
          </p:cNvSpPr>
          <p:nvPr/>
        </p:nvSpPr>
        <p:spPr>
          <a:xfrm>
            <a:off x="1714500" y="36147375"/>
            <a:ext cx="7239000" cy="95250"/>
          </a:xfrm>
          <a:prstGeom prst="rect">
            <a:avLst/>
          </a:prstGeom>
          <a:solidFill>
            <a:srgbClr val="F7D117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5" name="learning-title-01">
            <a:extLst>
              <a:ext uri="{FF2B5EF4-FFF2-40B4-BE49-F238E27FC236}">
                <a16:creationId xmlns:a16="http://schemas.microsoft.com/office/drawing/2014/main" id="{7817961B-96A6-FA5D-67FD-AE57E4B5EE78}"/>
              </a:ext>
            </a:extLst>
          </p:cNvPr>
          <p:cNvSpPr>
            <a:spLocks noGrp="1"/>
          </p:cNvSpPr>
          <p:nvPr/>
        </p:nvSpPr>
        <p:spPr>
          <a:xfrm>
            <a:off x="1714500" y="36528375"/>
            <a:ext cx="7810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825" b="1">
                <a:solidFill>
                  <a:srgbClr val="2F3033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GB" sz="3825" b="1" dirty="0">
                <a:solidFill>
                  <a:srgbClr val="2F3033"/>
                </a:solidFill>
                <a:latin typeface="Aptos Display"/>
                <a:ea typeface="Aptos Display"/>
                <a:cs typeface="Aptos Display"/>
              </a:rPr>
              <a:t>Keep the team lean</a:t>
            </a:r>
            <a:endParaRPr sz="3825" b="1" dirty="0">
              <a:solidFill>
                <a:srgbClr val="2F3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7" name="learning-body-01">
            <a:extLst>
              <a:ext uri="{FF2B5EF4-FFF2-40B4-BE49-F238E27FC236}">
                <a16:creationId xmlns:a16="http://schemas.microsoft.com/office/drawing/2014/main" id="{A24FA903-E585-16B5-4328-262036A79E66}"/>
              </a:ext>
            </a:extLst>
          </p:cNvPr>
          <p:cNvSpPr>
            <a:spLocks noGrp="1"/>
          </p:cNvSpPr>
          <p:nvPr/>
        </p:nvSpPr>
        <p:spPr>
          <a:xfrm>
            <a:off x="1714500" y="37623750"/>
            <a:ext cx="78105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850">
                <a:solidFill>
                  <a:srgbClr val="5A5A5A"/>
                </a:solidFill>
                <a:latin typeface="Aptos"/>
                <a:ea typeface="Aptos"/>
                <a:cs typeface="Aptos"/>
              </a:defRPr>
            </a:pPr>
            <a:r>
              <a:rPr lang="en-GB" sz="2850" dirty="0">
                <a:solidFill>
                  <a:srgbClr val="5A5A5A"/>
                </a:solidFill>
                <a:latin typeface="Aptos"/>
                <a:ea typeface="Aptos"/>
                <a:cs typeface="Aptos"/>
              </a:rPr>
              <a:t>A small team made it easier to work through issues quickly and get decisions made. </a:t>
            </a:r>
            <a:endParaRPr sz="2850" dirty="0">
              <a:solidFill>
                <a:srgbClr val="5A5A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9" name="learning-number-02">
            <a:extLst>
              <a:ext uri="{FF2B5EF4-FFF2-40B4-BE49-F238E27FC236}">
                <a16:creationId xmlns:a16="http://schemas.microsoft.com/office/drawing/2014/main" id="{6EF782D3-C604-1CAD-2A30-FFCD3CD40BE8}"/>
              </a:ext>
            </a:extLst>
          </p:cNvPr>
          <p:cNvSpPr>
            <a:spLocks noGrp="1"/>
          </p:cNvSpPr>
          <p:nvPr/>
        </p:nvSpPr>
        <p:spPr>
          <a:xfrm>
            <a:off x="10991850" y="35194875"/>
            <a:ext cx="1619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5700" b="1">
                <a:solidFill>
                  <a:srgbClr val="D71920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1">
                <a:solidFill>
                  <a:srgbClr val="D71920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41" name="learning-rule-02">
            <a:extLst>
              <a:ext uri="{FF2B5EF4-FFF2-40B4-BE49-F238E27FC236}">
                <a16:creationId xmlns:a16="http://schemas.microsoft.com/office/drawing/2014/main" id="{BC92A5FD-2EB5-59EF-D37B-3866CC4EE804}"/>
              </a:ext>
            </a:extLst>
          </p:cNvPr>
          <p:cNvSpPr>
            <a:spLocks noGrp="1"/>
          </p:cNvSpPr>
          <p:nvPr/>
        </p:nvSpPr>
        <p:spPr>
          <a:xfrm>
            <a:off x="10991850" y="36147375"/>
            <a:ext cx="7239000" cy="95250"/>
          </a:xfrm>
          <a:prstGeom prst="rect">
            <a:avLst/>
          </a:prstGeom>
          <a:solidFill>
            <a:srgbClr val="F7D117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3" name="learning-title-02">
            <a:extLst>
              <a:ext uri="{FF2B5EF4-FFF2-40B4-BE49-F238E27FC236}">
                <a16:creationId xmlns:a16="http://schemas.microsoft.com/office/drawing/2014/main" id="{4A4D84B3-E225-7FD2-C1BA-F52C395C5AB5}"/>
              </a:ext>
            </a:extLst>
          </p:cNvPr>
          <p:cNvSpPr>
            <a:spLocks noGrp="1"/>
          </p:cNvSpPr>
          <p:nvPr/>
        </p:nvSpPr>
        <p:spPr>
          <a:xfrm>
            <a:off x="10991850" y="36528375"/>
            <a:ext cx="7810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825" b="1">
                <a:solidFill>
                  <a:srgbClr val="2F3033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GB" sz="3825" b="1" dirty="0">
                <a:solidFill>
                  <a:srgbClr val="2F3033"/>
                </a:solidFill>
                <a:latin typeface="Aptos Display"/>
                <a:ea typeface="Aptos Display"/>
                <a:cs typeface="Aptos Display"/>
              </a:rPr>
              <a:t>Work together from the start</a:t>
            </a:r>
            <a:endParaRPr sz="3825" b="1" dirty="0">
              <a:solidFill>
                <a:srgbClr val="2F3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45" name="learning-body-02">
            <a:extLst>
              <a:ext uri="{FF2B5EF4-FFF2-40B4-BE49-F238E27FC236}">
                <a16:creationId xmlns:a16="http://schemas.microsoft.com/office/drawing/2014/main" id="{8A703556-0552-2BF2-FD0F-0939A2C3CD0C}"/>
              </a:ext>
            </a:extLst>
          </p:cNvPr>
          <p:cNvSpPr>
            <a:spLocks noGrp="1"/>
          </p:cNvSpPr>
          <p:nvPr/>
        </p:nvSpPr>
        <p:spPr>
          <a:xfrm>
            <a:off x="10991850" y="37623750"/>
            <a:ext cx="78105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850">
                <a:solidFill>
                  <a:srgbClr val="5A5A5A"/>
                </a:solidFill>
                <a:latin typeface="Aptos"/>
                <a:ea typeface="Aptos"/>
                <a:cs typeface="Aptos"/>
              </a:defRPr>
            </a:pPr>
            <a:r>
              <a:rPr sz="2850" dirty="0">
                <a:solidFill>
                  <a:srgbClr val="5A5A5A"/>
                </a:solidFill>
                <a:latin typeface="Aptos"/>
                <a:ea typeface="Aptos"/>
                <a:cs typeface="Aptos"/>
              </a:rPr>
              <a:t>SCA and M&amp;A </a:t>
            </a:r>
            <a:r>
              <a:rPr lang="en-GB" sz="2850" dirty="0">
                <a:solidFill>
                  <a:srgbClr val="5A5A5A"/>
                </a:solidFill>
                <a:latin typeface="Aptos"/>
                <a:ea typeface="Aptos"/>
                <a:cs typeface="Aptos"/>
              </a:rPr>
              <a:t>developed the analysis, negotiation approach and investor narrative together. </a:t>
            </a:r>
            <a:endParaRPr sz="2850" dirty="0">
              <a:solidFill>
                <a:srgbClr val="5A5A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7" name="learning-number-03">
            <a:extLst>
              <a:ext uri="{FF2B5EF4-FFF2-40B4-BE49-F238E27FC236}">
                <a16:creationId xmlns:a16="http://schemas.microsoft.com/office/drawing/2014/main" id="{BDB6B071-980D-B03F-7173-709D2841709E}"/>
              </a:ext>
            </a:extLst>
          </p:cNvPr>
          <p:cNvSpPr>
            <a:spLocks noGrp="1"/>
          </p:cNvSpPr>
          <p:nvPr/>
        </p:nvSpPr>
        <p:spPr>
          <a:xfrm>
            <a:off x="20269200" y="35194875"/>
            <a:ext cx="1619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5700" b="1">
                <a:solidFill>
                  <a:srgbClr val="D71920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1">
                <a:solidFill>
                  <a:srgbClr val="D71920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49" name="learning-rule-03">
            <a:extLst>
              <a:ext uri="{FF2B5EF4-FFF2-40B4-BE49-F238E27FC236}">
                <a16:creationId xmlns:a16="http://schemas.microsoft.com/office/drawing/2014/main" id="{A6BECF6D-854E-F1B2-FB15-E22068B2E055}"/>
              </a:ext>
            </a:extLst>
          </p:cNvPr>
          <p:cNvSpPr>
            <a:spLocks noGrp="1"/>
          </p:cNvSpPr>
          <p:nvPr/>
        </p:nvSpPr>
        <p:spPr>
          <a:xfrm>
            <a:off x="20269200" y="36147375"/>
            <a:ext cx="7239000" cy="95250"/>
          </a:xfrm>
          <a:prstGeom prst="rect">
            <a:avLst/>
          </a:prstGeom>
          <a:solidFill>
            <a:srgbClr val="F7D117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1" name="learning-title-03">
            <a:extLst>
              <a:ext uri="{FF2B5EF4-FFF2-40B4-BE49-F238E27FC236}">
                <a16:creationId xmlns:a16="http://schemas.microsoft.com/office/drawing/2014/main" id="{1F00BB99-2108-7C87-8053-96A1E8ECAD72}"/>
              </a:ext>
            </a:extLst>
          </p:cNvPr>
          <p:cNvSpPr>
            <a:spLocks noGrp="1"/>
          </p:cNvSpPr>
          <p:nvPr/>
        </p:nvSpPr>
        <p:spPr>
          <a:xfrm>
            <a:off x="20269200" y="36528375"/>
            <a:ext cx="7810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825" b="1">
                <a:solidFill>
                  <a:srgbClr val="2F3033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GB" sz="3825" b="1" dirty="0">
                <a:solidFill>
                  <a:srgbClr val="2F3033"/>
                </a:solidFill>
                <a:latin typeface="Aptos Display"/>
                <a:ea typeface="Aptos Display"/>
                <a:cs typeface="Aptos Display"/>
              </a:rPr>
              <a:t>Challenge the assumptions</a:t>
            </a:r>
            <a:endParaRPr sz="3825" b="1" dirty="0">
              <a:solidFill>
                <a:srgbClr val="2F3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53" name="learning-body-03">
            <a:extLst>
              <a:ext uri="{FF2B5EF4-FFF2-40B4-BE49-F238E27FC236}">
                <a16:creationId xmlns:a16="http://schemas.microsoft.com/office/drawing/2014/main" id="{97C3B624-D099-EA09-0B22-A7629165348C}"/>
              </a:ext>
            </a:extLst>
          </p:cNvPr>
          <p:cNvSpPr>
            <a:spLocks noGrp="1"/>
          </p:cNvSpPr>
          <p:nvPr/>
        </p:nvSpPr>
        <p:spPr>
          <a:xfrm>
            <a:off x="20269200" y="37623750"/>
            <a:ext cx="78105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850">
                <a:solidFill>
                  <a:srgbClr val="5A5A5A"/>
                </a:solidFill>
                <a:latin typeface="Aptos"/>
                <a:ea typeface="Aptos"/>
                <a:cs typeface="Aptos"/>
              </a:defRPr>
            </a:pPr>
            <a:r>
              <a:rPr sz="2850" dirty="0">
                <a:solidFill>
                  <a:srgbClr val="5A5A5A"/>
                </a:solidFill>
                <a:latin typeface="Aptos"/>
                <a:ea typeface="Aptos"/>
                <a:cs typeface="Aptos"/>
              </a:rPr>
              <a:t>Internal expertise, external benchmarks and </a:t>
            </a:r>
            <a:r>
              <a:rPr lang="en-GB" sz="2850" dirty="0">
                <a:solidFill>
                  <a:srgbClr val="5A5A5A"/>
                </a:solidFill>
                <a:latin typeface="Aptos"/>
                <a:ea typeface="Aptos"/>
                <a:cs typeface="Aptos"/>
              </a:rPr>
              <a:t>historical data helped test the key assumptions and sensitivities. </a:t>
            </a:r>
            <a:endParaRPr sz="2850" dirty="0">
              <a:solidFill>
                <a:srgbClr val="5A5A5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5" name="01-card">
            <a:extLst>
              <a:ext uri="{FF2B5EF4-FFF2-40B4-BE49-F238E27FC236}">
                <a16:creationId xmlns:a16="http://schemas.microsoft.com/office/drawing/2014/main" id="{F1D45368-725D-3441-104E-6DFD68C386F9}"/>
              </a:ext>
            </a:extLst>
          </p:cNvPr>
          <p:cNvSpPr>
            <a:spLocks noGrp="1"/>
          </p:cNvSpPr>
          <p:nvPr/>
        </p:nvSpPr>
        <p:spPr>
          <a:xfrm>
            <a:off x="1526288" y="15361084"/>
            <a:ext cx="8477250" cy="10938459"/>
          </a:xfrm>
          <a:prstGeom prst="roundRect">
            <a:avLst>
              <a:gd name="adj" fmla="val 899"/>
            </a:avLst>
          </a:prstGeom>
          <a:noFill/>
          <a:ln w="190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7" name="01-accent">
            <a:extLst>
              <a:ext uri="{FF2B5EF4-FFF2-40B4-BE49-F238E27FC236}">
                <a16:creationId xmlns:a16="http://schemas.microsoft.com/office/drawing/2014/main" id="{B500B95A-E584-E450-6F27-89DAA66D0E22}"/>
              </a:ext>
            </a:extLst>
          </p:cNvPr>
          <p:cNvSpPr>
            <a:spLocks noGrp="1"/>
          </p:cNvSpPr>
          <p:nvPr/>
        </p:nvSpPr>
        <p:spPr>
          <a:xfrm>
            <a:off x="1526288" y="15361085"/>
            <a:ext cx="8477250" cy="20955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9" name="01-number">
            <a:extLst>
              <a:ext uri="{FF2B5EF4-FFF2-40B4-BE49-F238E27FC236}">
                <a16:creationId xmlns:a16="http://schemas.microsoft.com/office/drawing/2014/main" id="{4EC3A41B-D81C-59F8-603A-590801B6B97C}"/>
              </a:ext>
            </a:extLst>
          </p:cNvPr>
          <p:cNvSpPr>
            <a:spLocks noGrp="1"/>
          </p:cNvSpPr>
          <p:nvPr/>
        </p:nvSpPr>
        <p:spPr>
          <a:xfrm>
            <a:off x="1983488" y="15989735"/>
            <a:ext cx="1104900" cy="1104900"/>
          </a:xfrm>
          <a:prstGeom prst="ellipse">
            <a:avLst/>
          </a:prstGeom>
          <a:solidFill>
            <a:srgbClr val="D71920"/>
          </a:solidFill>
          <a:ln w="9525">
            <a:solidFill>
              <a:srgbClr val="D71920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61" name="01-eyebrow">
            <a:extLst>
              <a:ext uri="{FF2B5EF4-FFF2-40B4-BE49-F238E27FC236}">
                <a16:creationId xmlns:a16="http://schemas.microsoft.com/office/drawing/2014/main" id="{3C64F0DD-281E-0FDF-5241-718B4472C5DD}"/>
              </a:ext>
            </a:extLst>
          </p:cNvPr>
          <p:cNvSpPr>
            <a:spLocks noGrp="1"/>
          </p:cNvSpPr>
          <p:nvPr/>
        </p:nvSpPr>
        <p:spPr>
          <a:xfrm>
            <a:off x="3336038" y="15989735"/>
            <a:ext cx="6210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lang="en-GB" sz="2550" b="1" dirty="0">
                <a:solidFill>
                  <a:srgbClr val="D71920"/>
                </a:solidFill>
                <a:latin typeface="Aptos"/>
                <a:ea typeface="Aptos"/>
                <a:cs typeface="Aptos"/>
              </a:rPr>
              <a:t>MARKET FUNDAMENTALS</a:t>
            </a:r>
            <a:endParaRPr sz="2550" b="1" dirty="0">
              <a:solidFill>
                <a:srgbClr val="D7192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3" name="01-title">
            <a:extLst>
              <a:ext uri="{FF2B5EF4-FFF2-40B4-BE49-F238E27FC236}">
                <a16:creationId xmlns:a16="http://schemas.microsoft.com/office/drawing/2014/main" id="{919C7739-7369-F30C-299E-AD8E5094360C}"/>
              </a:ext>
            </a:extLst>
          </p:cNvPr>
          <p:cNvSpPr>
            <a:spLocks noGrp="1"/>
          </p:cNvSpPr>
          <p:nvPr/>
        </p:nvSpPr>
        <p:spPr>
          <a:xfrm>
            <a:off x="3336038" y="16523135"/>
            <a:ext cx="62103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4650" b="1">
                <a:solidFill>
                  <a:srgbClr val="2F3033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GB" sz="4650" b="1" dirty="0">
                <a:solidFill>
                  <a:srgbClr val="2F3033"/>
                </a:solidFill>
                <a:latin typeface="Aptos Display"/>
                <a:ea typeface="Aptos Display"/>
                <a:cs typeface="Aptos Display"/>
              </a:rPr>
              <a:t>Shaping the value case</a:t>
            </a:r>
            <a:endParaRPr sz="4650" b="1" dirty="0">
              <a:solidFill>
                <a:srgbClr val="2F3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71" name="02-card">
            <a:extLst>
              <a:ext uri="{FF2B5EF4-FFF2-40B4-BE49-F238E27FC236}">
                <a16:creationId xmlns:a16="http://schemas.microsoft.com/office/drawing/2014/main" id="{63531859-3B76-C361-4041-475895B80BEF}"/>
              </a:ext>
            </a:extLst>
          </p:cNvPr>
          <p:cNvSpPr>
            <a:spLocks noGrp="1"/>
          </p:cNvSpPr>
          <p:nvPr/>
        </p:nvSpPr>
        <p:spPr>
          <a:xfrm>
            <a:off x="10803638" y="15361084"/>
            <a:ext cx="8477250" cy="10938459"/>
          </a:xfrm>
          <a:prstGeom prst="roundRect">
            <a:avLst>
              <a:gd name="adj" fmla="val 899"/>
            </a:avLst>
          </a:prstGeom>
          <a:noFill/>
          <a:ln w="190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3" name="02-accent">
            <a:extLst>
              <a:ext uri="{FF2B5EF4-FFF2-40B4-BE49-F238E27FC236}">
                <a16:creationId xmlns:a16="http://schemas.microsoft.com/office/drawing/2014/main" id="{D95ABCCC-A0D1-D8CD-5BAD-FB2473847595}"/>
              </a:ext>
            </a:extLst>
          </p:cNvPr>
          <p:cNvSpPr>
            <a:spLocks noGrp="1"/>
          </p:cNvSpPr>
          <p:nvPr/>
        </p:nvSpPr>
        <p:spPr>
          <a:xfrm>
            <a:off x="10803638" y="15361085"/>
            <a:ext cx="8477250" cy="209550"/>
          </a:xfrm>
          <a:prstGeom prst="rect">
            <a:avLst/>
          </a:prstGeom>
          <a:solidFill>
            <a:srgbClr val="E9571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5" name="02-number">
            <a:extLst>
              <a:ext uri="{FF2B5EF4-FFF2-40B4-BE49-F238E27FC236}">
                <a16:creationId xmlns:a16="http://schemas.microsoft.com/office/drawing/2014/main" id="{A6543CA5-02D1-82E8-87C9-B6C16CC5F453}"/>
              </a:ext>
            </a:extLst>
          </p:cNvPr>
          <p:cNvSpPr>
            <a:spLocks noGrp="1"/>
          </p:cNvSpPr>
          <p:nvPr/>
        </p:nvSpPr>
        <p:spPr>
          <a:xfrm>
            <a:off x="11260838" y="15989735"/>
            <a:ext cx="1104900" cy="1104900"/>
          </a:xfrm>
          <a:prstGeom prst="ellipse">
            <a:avLst/>
          </a:prstGeom>
          <a:solidFill>
            <a:srgbClr val="E9571F"/>
          </a:solidFill>
          <a:ln w="9525">
            <a:solidFill>
              <a:srgbClr val="E9571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77" name="02-eyebrow">
            <a:extLst>
              <a:ext uri="{FF2B5EF4-FFF2-40B4-BE49-F238E27FC236}">
                <a16:creationId xmlns:a16="http://schemas.microsoft.com/office/drawing/2014/main" id="{5A2B73C0-114D-C03B-E0E0-F36DE4DB0B04}"/>
              </a:ext>
            </a:extLst>
          </p:cNvPr>
          <p:cNvSpPr>
            <a:spLocks noGrp="1"/>
          </p:cNvSpPr>
          <p:nvPr/>
        </p:nvSpPr>
        <p:spPr>
          <a:xfrm>
            <a:off x="12613388" y="15989735"/>
            <a:ext cx="6210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1">
                <a:solidFill>
                  <a:srgbClr val="E9571F"/>
                </a:solidFill>
                <a:latin typeface="Aptos"/>
                <a:ea typeface="Aptos"/>
                <a:cs typeface="Aptos"/>
              </a:defRPr>
            </a:pPr>
            <a:r>
              <a:rPr lang="en-GB" sz="2550" b="1" dirty="0">
                <a:solidFill>
                  <a:srgbClr val="E9571F"/>
                </a:solidFill>
                <a:latin typeface="Aptos"/>
                <a:ea typeface="Aptos"/>
                <a:cs typeface="Aptos"/>
              </a:rPr>
              <a:t>STRATEGIC PLANNING</a:t>
            </a:r>
            <a:endParaRPr sz="2550" b="1" dirty="0">
              <a:solidFill>
                <a:srgbClr val="E9571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9" name="02-title">
            <a:extLst>
              <a:ext uri="{FF2B5EF4-FFF2-40B4-BE49-F238E27FC236}">
                <a16:creationId xmlns:a16="http://schemas.microsoft.com/office/drawing/2014/main" id="{8029FE16-94AE-8671-CCFE-8B84D94A63F9}"/>
              </a:ext>
            </a:extLst>
          </p:cNvPr>
          <p:cNvSpPr>
            <a:spLocks noGrp="1"/>
          </p:cNvSpPr>
          <p:nvPr/>
        </p:nvSpPr>
        <p:spPr>
          <a:xfrm>
            <a:off x="12613388" y="16523135"/>
            <a:ext cx="6667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4650" b="1">
                <a:solidFill>
                  <a:srgbClr val="2F3033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GB" sz="4650" b="1" dirty="0">
                <a:solidFill>
                  <a:srgbClr val="2F3033"/>
                </a:solidFill>
                <a:latin typeface="Aptos Display"/>
                <a:ea typeface="Aptos Display"/>
                <a:cs typeface="Aptos Display"/>
              </a:rPr>
              <a:t>From Deal to Group value</a:t>
            </a:r>
            <a:endParaRPr sz="4650" b="1" dirty="0">
              <a:solidFill>
                <a:srgbClr val="2F3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87" name="03-card">
            <a:extLst>
              <a:ext uri="{FF2B5EF4-FFF2-40B4-BE49-F238E27FC236}">
                <a16:creationId xmlns:a16="http://schemas.microsoft.com/office/drawing/2014/main" id="{87A0E805-D702-F231-F4F5-CD3DD2C43607}"/>
              </a:ext>
            </a:extLst>
          </p:cNvPr>
          <p:cNvSpPr>
            <a:spLocks noGrp="1"/>
          </p:cNvSpPr>
          <p:nvPr/>
        </p:nvSpPr>
        <p:spPr>
          <a:xfrm>
            <a:off x="20080988" y="15361084"/>
            <a:ext cx="8477250" cy="10938459"/>
          </a:xfrm>
          <a:prstGeom prst="roundRect">
            <a:avLst>
              <a:gd name="adj" fmla="val 899"/>
            </a:avLst>
          </a:prstGeom>
          <a:noFill/>
          <a:ln w="190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9" name="03-accent">
            <a:extLst>
              <a:ext uri="{FF2B5EF4-FFF2-40B4-BE49-F238E27FC236}">
                <a16:creationId xmlns:a16="http://schemas.microsoft.com/office/drawing/2014/main" id="{C9176B6B-479D-0EBA-1049-9528A9D5C05A}"/>
              </a:ext>
            </a:extLst>
          </p:cNvPr>
          <p:cNvSpPr>
            <a:spLocks noGrp="1"/>
          </p:cNvSpPr>
          <p:nvPr/>
        </p:nvSpPr>
        <p:spPr>
          <a:xfrm>
            <a:off x="20080988" y="15361085"/>
            <a:ext cx="8477250" cy="209550"/>
          </a:xfrm>
          <a:prstGeom prst="rect">
            <a:avLst/>
          </a:prstGeom>
          <a:solidFill>
            <a:srgbClr val="F7D117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1" name="03-number">
            <a:extLst>
              <a:ext uri="{FF2B5EF4-FFF2-40B4-BE49-F238E27FC236}">
                <a16:creationId xmlns:a16="http://schemas.microsoft.com/office/drawing/2014/main" id="{59D5A93B-0F66-5553-24D1-E9675091A6AD}"/>
              </a:ext>
            </a:extLst>
          </p:cNvPr>
          <p:cNvSpPr>
            <a:spLocks noGrp="1"/>
          </p:cNvSpPr>
          <p:nvPr/>
        </p:nvSpPr>
        <p:spPr>
          <a:xfrm>
            <a:off x="20538188" y="15989735"/>
            <a:ext cx="1104900" cy="1104900"/>
          </a:xfrm>
          <a:prstGeom prst="ellipse">
            <a:avLst/>
          </a:prstGeom>
          <a:solidFill>
            <a:srgbClr val="F7D117"/>
          </a:solidFill>
          <a:ln w="9525">
            <a:solidFill>
              <a:srgbClr val="F7D117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93" name="03-eyebrow">
            <a:extLst>
              <a:ext uri="{FF2B5EF4-FFF2-40B4-BE49-F238E27FC236}">
                <a16:creationId xmlns:a16="http://schemas.microsoft.com/office/drawing/2014/main" id="{67C7876C-AF08-C7CE-ED27-D8AF1375D68D}"/>
              </a:ext>
            </a:extLst>
          </p:cNvPr>
          <p:cNvSpPr>
            <a:spLocks noGrp="1"/>
          </p:cNvSpPr>
          <p:nvPr/>
        </p:nvSpPr>
        <p:spPr>
          <a:xfrm>
            <a:off x="21890738" y="15989735"/>
            <a:ext cx="6210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1">
                <a:solidFill>
                  <a:srgbClr val="F7D11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D117"/>
                </a:solidFill>
                <a:latin typeface="Aptos"/>
                <a:ea typeface="Aptos"/>
                <a:cs typeface="Aptos"/>
              </a:rPr>
              <a:t>INVESTOR RELATIONS</a:t>
            </a:r>
          </a:p>
        </p:txBody>
      </p:sp>
      <p:sp>
        <p:nvSpPr>
          <p:cNvPr id="195" name="03-title">
            <a:extLst>
              <a:ext uri="{FF2B5EF4-FFF2-40B4-BE49-F238E27FC236}">
                <a16:creationId xmlns:a16="http://schemas.microsoft.com/office/drawing/2014/main" id="{421DD1A6-94D1-9A85-7E19-4E558EB303CF}"/>
              </a:ext>
            </a:extLst>
          </p:cNvPr>
          <p:cNvSpPr>
            <a:spLocks noGrp="1"/>
          </p:cNvSpPr>
          <p:nvPr/>
        </p:nvSpPr>
        <p:spPr>
          <a:xfrm>
            <a:off x="21890738" y="16523135"/>
            <a:ext cx="62103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4650" b="1">
                <a:solidFill>
                  <a:srgbClr val="2F3033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2F3033"/>
                </a:solidFill>
                <a:latin typeface="Aptos Display"/>
                <a:ea typeface="Aptos Display"/>
                <a:cs typeface="Aptos Display"/>
              </a:rPr>
              <a:t>Make the rationale travel</a:t>
            </a:r>
          </a:p>
        </p:txBody>
      </p:sp>
      <p:pic>
        <p:nvPicPr>
          <p:cNvPr id="205" name="Picture 204">
            <a:extLst>
              <a:ext uri="{FF2B5EF4-FFF2-40B4-BE49-F238E27FC236}">
                <a16:creationId xmlns:a16="http://schemas.microsoft.com/office/drawing/2014/main" id="{37962517-18F9-9CB0-9FA1-D96346E183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2827860" y="22235731"/>
            <a:ext cx="6210300" cy="3493294"/>
          </a:xfrm>
          <a:prstGeom prst="rect">
            <a:avLst/>
          </a:prstGeom>
        </p:spPr>
      </p:pic>
      <p:sp>
        <p:nvSpPr>
          <p:cNvPr id="239" name="TextBox 238">
            <a:extLst>
              <a:ext uri="{FF2B5EF4-FFF2-40B4-BE49-F238E27FC236}">
                <a16:creationId xmlns:a16="http://schemas.microsoft.com/office/drawing/2014/main" id="{0D0D0A9F-BB95-B142-1923-6CF3305A0392}"/>
              </a:ext>
            </a:extLst>
          </p:cNvPr>
          <p:cNvSpPr txBox="1"/>
          <p:nvPr/>
        </p:nvSpPr>
        <p:spPr>
          <a:xfrm>
            <a:off x="1763575" y="17710853"/>
            <a:ext cx="8078295" cy="3881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30000" indent="-430000" algn="l">
              <a:lnSpc>
                <a:spcPct val="105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lang="en-GB" sz="2900" b="1" dirty="0">
                <a:solidFill>
                  <a:srgbClr val="2F3033"/>
                </a:solidFill>
                <a:latin typeface="Aptos"/>
              </a:rPr>
              <a:t>D</a:t>
            </a:r>
            <a:r>
              <a:rPr lang="en-GB" sz="2900" b="1" i="0" dirty="0">
                <a:solidFill>
                  <a:srgbClr val="2F3033"/>
                </a:solidFill>
                <a:latin typeface="Aptos"/>
              </a:rPr>
              <a:t>iluent &amp; NGL pricing: </a:t>
            </a:r>
            <a:r>
              <a:rPr lang="en-GB" sz="2900" b="0" i="0" dirty="0">
                <a:solidFill>
                  <a:srgbClr val="2F3033"/>
                </a:solidFill>
                <a:latin typeface="Aptos"/>
              </a:rPr>
              <a:t>LPG (propane, butane) and gasoline (C5+) that come with ARC’s gas</a:t>
            </a:r>
          </a:p>
          <a:p>
            <a:pPr marL="430000" indent="-430000" algn="l">
              <a:lnSpc>
                <a:spcPct val="105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lang="en-GB" sz="2900" b="1" dirty="0">
                <a:solidFill>
                  <a:srgbClr val="2F3033"/>
                </a:solidFill>
                <a:latin typeface="Aptos"/>
              </a:rPr>
              <a:t>C</a:t>
            </a:r>
            <a:r>
              <a:rPr lang="en-GB" sz="2900" b="1" i="0" dirty="0">
                <a:solidFill>
                  <a:srgbClr val="2F3033"/>
                </a:solidFill>
                <a:latin typeface="Aptos"/>
              </a:rPr>
              <a:t>hallenged </a:t>
            </a:r>
            <a:r>
              <a:rPr lang="en-GB" sz="2900" b="1" dirty="0">
                <a:solidFill>
                  <a:srgbClr val="2F3033"/>
                </a:solidFill>
                <a:latin typeface="Aptos"/>
              </a:rPr>
              <a:t>the existing OCSVs assumptions</a:t>
            </a:r>
          </a:p>
          <a:p>
            <a:pPr marL="430000" indent="-430000" algn="l">
              <a:lnSpc>
                <a:spcPct val="105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lang="en-GB" sz="2900" b="1" i="0" dirty="0">
                <a:solidFill>
                  <a:srgbClr val="2F3033"/>
                </a:solidFill>
                <a:latin typeface="Aptos"/>
              </a:rPr>
              <a:t>Worked </a:t>
            </a:r>
            <a:r>
              <a:rPr lang="en-GB" sz="2900" b="0" i="0" dirty="0">
                <a:solidFill>
                  <a:srgbClr val="2F3033"/>
                </a:solidFill>
                <a:latin typeface="Aptos"/>
              </a:rPr>
              <a:t>with Shell Trading Canada, downstream strategy, </a:t>
            </a:r>
            <a:r>
              <a:rPr lang="en-GB" sz="2900" b="0" i="0" dirty="0" err="1">
                <a:solidFill>
                  <a:srgbClr val="2F3033"/>
                </a:solidFill>
                <a:latin typeface="Aptos"/>
              </a:rPr>
              <a:t>Woodmac</a:t>
            </a:r>
            <a:r>
              <a:rPr lang="en-GB" sz="2900" b="0" i="0" dirty="0">
                <a:solidFill>
                  <a:srgbClr val="2F3033"/>
                </a:solidFill>
                <a:latin typeface="Aptos"/>
              </a:rPr>
              <a:t> &amp; S&amp;P</a:t>
            </a:r>
          </a:p>
          <a:p>
            <a:pPr marL="430000" indent="-430000" algn="l">
              <a:lnSpc>
                <a:spcPct val="105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lang="en-GB" sz="2900" b="1" i="0" dirty="0">
                <a:solidFill>
                  <a:srgbClr val="2F3033"/>
                </a:solidFill>
                <a:latin typeface="Aptos"/>
              </a:rPr>
              <a:t>15 years of history + forward curves </a:t>
            </a:r>
            <a:r>
              <a:rPr lang="en-GB" sz="2900" b="0" i="0" dirty="0">
                <a:solidFill>
                  <a:srgbClr val="2F3033"/>
                </a:solidFill>
                <a:latin typeface="Aptos"/>
              </a:rPr>
              <a:t>to frame trends and price sensitivities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59ABCFE8-9CCC-5F5E-FE90-61E6F3C87257}"/>
              </a:ext>
            </a:extLst>
          </p:cNvPr>
          <p:cNvSpPr txBox="1"/>
          <p:nvPr/>
        </p:nvSpPr>
        <p:spPr>
          <a:xfrm>
            <a:off x="11161870" y="17710853"/>
            <a:ext cx="8078295" cy="41449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30000" indent="-430000" algn="l">
              <a:lnSpc>
                <a:spcPct val="105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lang="en-GB" sz="2900" b="1" dirty="0">
                <a:solidFill>
                  <a:srgbClr val="2F3033"/>
                </a:solidFill>
                <a:latin typeface="Aptos"/>
              </a:rPr>
              <a:t>One integrated model -</a:t>
            </a:r>
            <a:r>
              <a:rPr lang="en-GB" sz="2900" dirty="0">
                <a:solidFill>
                  <a:srgbClr val="2F3033"/>
                </a:solidFill>
                <a:latin typeface="Aptos"/>
              </a:rPr>
              <a:t> Group financial framework integrated with the M&amp;A model, ensuring consistent fundamentals across both</a:t>
            </a:r>
          </a:p>
          <a:p>
            <a:pPr marL="430000" indent="-430000" algn="l">
              <a:lnSpc>
                <a:spcPct val="105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lang="en-GB" sz="2900" b="1" dirty="0">
                <a:solidFill>
                  <a:srgbClr val="2F3033"/>
                </a:solidFill>
                <a:latin typeface="Aptos"/>
              </a:rPr>
              <a:t>Tested the portfolio choices beyond the deal </a:t>
            </a:r>
            <a:r>
              <a:rPr lang="en-GB" sz="2900" dirty="0">
                <a:solidFill>
                  <a:srgbClr val="2F3033"/>
                </a:solidFill>
                <a:latin typeface="Aptos"/>
              </a:rPr>
              <a:t>across LNGC2 and Aurora to understand value under different scenarios </a:t>
            </a:r>
          </a:p>
          <a:p>
            <a:pPr marL="430000" indent="-430000" algn="l">
              <a:lnSpc>
                <a:spcPct val="105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sz="2900" b="1" i="0" dirty="0">
                <a:solidFill>
                  <a:srgbClr val="2F3033"/>
                </a:solidFill>
                <a:latin typeface="Aptos"/>
              </a:rPr>
              <a:t>Stress-tested </a:t>
            </a:r>
            <a:r>
              <a:rPr lang="en-GB" sz="2900" dirty="0">
                <a:solidFill>
                  <a:srgbClr val="2F3033"/>
                </a:solidFill>
                <a:latin typeface="Aptos"/>
              </a:rPr>
              <a:t>Group targets, </a:t>
            </a:r>
            <a:r>
              <a:rPr sz="2900" dirty="0">
                <a:solidFill>
                  <a:srgbClr val="2F3033"/>
                </a:solidFill>
                <a:latin typeface="Aptos"/>
              </a:rPr>
              <a:t>funding</a:t>
            </a:r>
            <a:r>
              <a:rPr sz="2900" b="0" i="0" dirty="0">
                <a:solidFill>
                  <a:srgbClr val="2F3033"/>
                </a:solidFill>
                <a:latin typeface="Aptos"/>
              </a:rPr>
              <a:t>, returns and balance-sheet impacts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D7086BA8-BE9D-FFB1-72F0-92566A60887A}"/>
              </a:ext>
            </a:extLst>
          </p:cNvPr>
          <p:cNvSpPr txBox="1"/>
          <p:nvPr/>
        </p:nvSpPr>
        <p:spPr>
          <a:xfrm>
            <a:off x="20560165" y="17710853"/>
            <a:ext cx="8078295" cy="43501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30000" indent="-430000" algn="l">
              <a:lnSpc>
                <a:spcPct val="105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sz="2900" b="1" i="0" dirty="0">
                <a:solidFill>
                  <a:srgbClr val="2F3033"/>
                </a:solidFill>
                <a:latin typeface="Aptos"/>
              </a:rPr>
              <a:t>Shaped the strategic narrative </a:t>
            </a:r>
            <a:r>
              <a:rPr lang="en-GB" sz="2900" dirty="0">
                <a:solidFill>
                  <a:srgbClr val="2F3033"/>
                </a:solidFill>
                <a:latin typeface="Aptos"/>
              </a:rPr>
              <a:t>- </a:t>
            </a:r>
            <a:r>
              <a:rPr sz="2900" b="0" i="0" dirty="0">
                <a:solidFill>
                  <a:srgbClr val="2F3033"/>
                </a:solidFill>
                <a:latin typeface="Aptos"/>
              </a:rPr>
              <a:t>why ARC, why now, and how it fits Shell’s direction</a:t>
            </a:r>
          </a:p>
          <a:p>
            <a:pPr marL="430000" indent="-430000">
              <a:lnSpc>
                <a:spcPct val="105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lang="en-GB" sz="2900" b="1" dirty="0">
                <a:solidFill>
                  <a:srgbClr val="2F3033"/>
                </a:solidFill>
                <a:latin typeface="Aptos"/>
              </a:rPr>
              <a:t>Translated </a:t>
            </a:r>
            <a:r>
              <a:rPr lang="en-GB" sz="2900" dirty="0">
                <a:solidFill>
                  <a:srgbClr val="2F3033"/>
                </a:solidFill>
                <a:latin typeface="Aptos"/>
              </a:rPr>
              <a:t>the deal economics into a clear investor narrative </a:t>
            </a:r>
          </a:p>
          <a:p>
            <a:pPr marL="430000" indent="-430000">
              <a:lnSpc>
                <a:spcPct val="105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sz="2900" b="1" i="0" dirty="0">
                <a:solidFill>
                  <a:srgbClr val="2F3033"/>
                </a:solidFill>
                <a:latin typeface="Aptos"/>
              </a:rPr>
              <a:t>Benchmarked </a:t>
            </a:r>
            <a:r>
              <a:rPr lang="en-GB" sz="2900" b="1" i="0" dirty="0">
                <a:solidFill>
                  <a:srgbClr val="2F3033"/>
                </a:solidFill>
                <a:latin typeface="Aptos"/>
              </a:rPr>
              <a:t>valuation </a:t>
            </a:r>
            <a:r>
              <a:rPr sz="2900" b="0" i="0" dirty="0">
                <a:solidFill>
                  <a:srgbClr val="2F3033"/>
                </a:solidFill>
                <a:latin typeface="Aptos"/>
              </a:rPr>
              <a:t>against peers and precedent transactions</a:t>
            </a:r>
            <a:endParaRPr lang="en-GB" sz="2900" b="0" i="0" dirty="0">
              <a:solidFill>
                <a:srgbClr val="2F3033"/>
              </a:solidFill>
              <a:latin typeface="Aptos"/>
            </a:endParaRPr>
          </a:p>
          <a:p>
            <a:pPr marL="430000" indent="-430000">
              <a:lnSpc>
                <a:spcPct val="105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lang="en-US" sz="2900" b="1" dirty="0">
                <a:solidFill>
                  <a:srgbClr val="2F3033"/>
                </a:solidFill>
                <a:latin typeface="Aptos"/>
              </a:rPr>
              <a:t>Anticipated a range of potential </a:t>
            </a:r>
            <a:r>
              <a:rPr lang="en-US" sz="2900" dirty="0">
                <a:solidFill>
                  <a:srgbClr val="2F3033"/>
                </a:solidFill>
                <a:latin typeface="Aptos"/>
              </a:rPr>
              <a:t>market reactions and prepared accordingly</a:t>
            </a:r>
            <a:endParaRPr sz="2900" b="0" i="0" dirty="0">
              <a:solidFill>
                <a:srgbClr val="2F3033"/>
              </a:solidFill>
              <a:latin typeface="Aptos"/>
            </a:endParaRPr>
          </a:p>
        </p:txBody>
      </p:sp>
      <p:pic>
        <p:nvPicPr>
          <p:cNvPr id="251" name="Picture 250">
            <a:extLst>
              <a:ext uri="{FF2B5EF4-FFF2-40B4-BE49-F238E27FC236}">
                <a16:creationId xmlns:a16="http://schemas.microsoft.com/office/drawing/2014/main" id="{8C2592CC-7CAF-7A93-D79A-0D439D0EAC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25252" y="22265435"/>
            <a:ext cx="6275832" cy="3516420"/>
          </a:xfrm>
          <a:prstGeom prst="rect">
            <a:avLst/>
          </a:prstGeom>
        </p:spPr>
      </p:pic>
      <p:pic>
        <p:nvPicPr>
          <p:cNvPr id="253" name="Picture 252">
            <a:extLst>
              <a:ext uri="{FF2B5EF4-FFF2-40B4-BE49-F238E27FC236}">
                <a16:creationId xmlns:a16="http://schemas.microsoft.com/office/drawing/2014/main" id="{32576C05-CE97-B987-3644-8417DDD2D2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76709" y="22368129"/>
            <a:ext cx="6215605" cy="3482359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hell layouts with footer">
  <a:themeElements>
    <a:clrScheme name="Custom 1">
      <a:dk1>
        <a:srgbClr val="595959"/>
      </a:dk1>
      <a:lt1>
        <a:srgbClr val="FFFFFF"/>
      </a:lt1>
      <a:dk2>
        <a:srgbClr val="EAEAEA"/>
      </a:dk2>
      <a:lt2>
        <a:srgbClr val="CCCCCC"/>
      </a:lt2>
      <a:accent1>
        <a:srgbClr val="F7D117"/>
      </a:accent1>
      <a:accent2>
        <a:srgbClr val="D42E12"/>
      </a:accent2>
      <a:accent3>
        <a:srgbClr val="003882"/>
      </a:accent3>
      <a:accent4>
        <a:srgbClr val="611759"/>
      </a:accent4>
      <a:accent5>
        <a:srgbClr val="00824A"/>
      </a:accent5>
      <a:accent6>
        <a:srgbClr val="DE8703"/>
      </a:accent6>
      <a:hlink>
        <a:srgbClr val="000000"/>
      </a:hlink>
      <a:folHlink>
        <a:srgbClr val="000000"/>
      </a:folHlink>
    </a:clrScheme>
    <a:fontScheme name="Shell - Fonts">
      <a:majorFont>
        <a:latin typeface="Futura Medium"/>
        <a:ea typeface=""/>
        <a:cs typeface=""/>
      </a:majorFont>
      <a:minorFont>
        <a:latin typeface="Futura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7800" indent="-177800">
          <a:lnSpc>
            <a:spcPct val="113000"/>
          </a:lnSpc>
          <a:spcAft>
            <a:spcPts val="60"/>
          </a:spcAft>
          <a:buFont typeface="Wingdings"/>
          <a:buChar char="n"/>
          <a:defRPr sz="1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AEFSecurityClassificationTaxHTField0 xmlns="http://schemas.microsoft.com/sharepoint/v3">Restricted21aa7f98-4035-4019-a764-107acb7269af</SAEFSecurityClassificationTaxHTField0>
    <TaxCatchAll xmlns="5fe9d420-80f7-4ada-bee1-a7a60088c9b2">
      <Value>1</Value>
    </TaxCatchAll>
    <ice2f7984e9548f9a31773f854109466 xmlns="5fe9d420-80f7-4ada-bee1-a7a60088c9b2">
      <Terms xmlns="http://schemas.microsoft.com/office/infopath/2007/PartnerControls">
        <TermInfo xmlns="http://schemas.microsoft.com/office/infopath/2007/PartnerControls">
          <TermName xmlns="http://schemas.microsoft.com/office/infopath/2007/PartnerControls">Restricted</TermName>
          <TermId xmlns="http://schemas.microsoft.com/office/infopath/2007/PartnerControls">21aa7f98-4035-4019-a764-107acb7269af</TermId>
        </TermInfo>
      </Terms>
    </ice2f7984e9548f9a31773f854109466>
    <_dlc_DocId xmlns="5fe9d420-80f7-4ada-bee1-a7a60088c9b2">UXD4DQ5FARXZ-1534890728-28</_dlc_DocId>
    <_dlc_DocIdUrl xmlns="5fe9d420-80f7-4ada-bee1-a7a60088c9b2">
      <Url>https://eu001-sp.shell.com/sites/SPO002395/_layouts/15/DocIdRedir.aspx?ID=UXD4DQ5FARXZ-1534890728-28</Url>
      <Description>UXD4DQ5FARXZ-1534890728-28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Shell Document" ma:contentTypeID="0x0101006F0A470EEB1140E7AA14F4CE8A50B54C0001CB1477F4DD432AA86DD56CC3887AF400F644A78CBFDAD44983885002DC8B3358" ma:contentTypeVersion="5" ma:contentTypeDescription="Shell Document Content Type" ma:contentTypeScope="" ma:versionID="9972982cb723cf5df02987a4cb397dc7">
  <xsd:schema xmlns:xsd="http://www.w3.org/2001/XMLSchema" xmlns:xs="http://www.w3.org/2001/XMLSchema" xmlns:p="http://schemas.microsoft.com/office/2006/metadata/properties" xmlns:ns1="http://schemas.microsoft.com/sharepoint/v3" xmlns:ns2="5fe9d420-80f7-4ada-bee1-a7a60088c9b2" xmlns:ns3="d897dab9-547b-4d8a-9e98-e2c84c4ab18d" targetNamespace="http://schemas.microsoft.com/office/2006/metadata/properties" ma:root="true" ma:fieldsID="11b7afb5536d3e270a25d7434dfd5e62" ns1:_="" ns2:_="" ns3:_="">
    <xsd:import namespace="http://schemas.microsoft.com/sharepoint/v3"/>
    <xsd:import namespace="5fe9d420-80f7-4ada-bee1-a7a60088c9b2"/>
    <xsd:import namespace="d897dab9-547b-4d8a-9e98-e2c84c4ab18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SAEFSecurityClassificationTaxHTField0" minOccurs="0"/>
                <xsd:element ref="ns2:ice2f7984e9548f9a31773f854109466" minOccurs="0"/>
                <xsd:element ref="ns2:TaxCatchAll" minOccurs="0"/>
                <xsd:element ref="ns2:TaxCatchAllLabel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AEFSecurityClassificationTaxHTField0" ma:index="11" nillable="true" ma:displayName="Security Classification_0" ma:hidden="true" ma:internalName="SAEFSecurityClassificationTaxHTField0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9d420-80f7-4ada-bee1-a7a60088c9b2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ice2f7984e9548f9a31773f854109466" ma:index="12" ma:taxonomy="true" ma:internalName="ice2f7984e9548f9a31773f854109466" ma:taxonomyFieldName="SAEFSecurityClassification" ma:displayName="Security Classification" ma:default="5;#Confidential|e4bc29b2-6e76-48cc-b090-8b544c0802ae" ma:fieldId="{2ce2f798-4e95-48f9-a317-73f854109466}" ma:sspId="e3aebf70-341c-4d91-bdd3-aba9df361687" ma:termSetId="daf890f0-167e-4ee2-a9fd-a81536ed816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3" nillable="true" ma:displayName="Taxonomy Catch All Column" ma:hidden="true" ma:list="{c7126bf2-9056-4401-894f-d1136f5f3720}" ma:internalName="TaxCatchAll" ma:showField="CatchAllData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4" nillable="true" ma:displayName="Taxonomy Catch All Column1" ma:hidden="true" ma:list="{c7126bf2-9056-4401-894f-d1136f5f3720}" ma:internalName="TaxCatchAllLabel" ma:readOnly="true" ma:showField="CatchAllDataLabel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97dab9-547b-4d8a-9e98-e2c84c4ab1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6CAE002A-7645-46A2-8C4A-738EDFAA7ED3}">
  <ds:schemaRefs>
    <ds:schemaRef ds:uri="67a4d270-2e9e-45ec-b53e-707b7cbfe7c3"/>
    <ds:schemaRef ds:uri="http://purl.org/dc/terms/"/>
    <ds:schemaRef ds:uri="http://schemas.microsoft.com/sharepoint/v3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c642a6ca-8515-4142-b4ce-183d01f224d8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6E5DF60-9A37-4736-B096-7CC14C88996F}"/>
</file>

<file path=customXml/itemProps3.xml><?xml version="1.0" encoding="utf-8"?>
<ds:datastoreItem xmlns:ds="http://schemas.openxmlformats.org/officeDocument/2006/customXml" ds:itemID="{4FE3B36A-2FDB-43C8-A4F8-BA8A83EB3660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420B9DEE-A40E-4C94-A4DC-BDF50334D131}"/>
</file>

<file path=docMetadata/LabelInfo.xml><?xml version="1.0" encoding="utf-8"?>
<clbl:labelList xmlns:clbl="http://schemas.microsoft.com/office/2020/mipLabelMetadata">
  <clbl:label id="{d0cb1e24-a0e2-4a4c-9340-733297c9cd7c}" enabled="1" method="Privileged" siteId="{db1e96a8-a3da-442a-930b-235cac24cd5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3629</TotalTime>
  <Words>373</Words>
  <Application>Microsoft Office PowerPoint</Application>
  <PresentationFormat>Custom</PresentationFormat>
  <Paragraphs>66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Aptos Display</vt:lpstr>
      <vt:lpstr>Futura Medium</vt:lpstr>
      <vt:lpstr>Aptos</vt:lpstr>
      <vt:lpstr>Wingdings</vt:lpstr>
      <vt:lpstr>Shell layouts with footer</vt:lpstr>
      <vt:lpstr>think-cell Slide</vt:lpstr>
      <vt:lpstr>PowerPoint Presentation</vt:lpstr>
    </vt:vector>
  </TitlesOfParts>
  <Company>Shell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CO2 Valuation Challenges</dc:title>
  <dc:creator>Thomas.Lopez@shell.com</dc:creator>
  <cp:keywords>GEC'17</cp:keywords>
  <cp:lastModifiedBy>Dairova, Zhannat SI-FR/P</cp:lastModifiedBy>
  <cp:revision>526</cp:revision>
  <cp:lastPrinted>2017-04-25T09:06:38Z</cp:lastPrinted>
  <dcterms:created xsi:type="dcterms:W3CDTF">2009-11-25T14:32:06Z</dcterms:created>
  <dcterms:modified xsi:type="dcterms:W3CDTF">2026-08-31T15:24:57Z</dcterms:modified>
  <cp:category>Poster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izKit Template Type">
    <vt:lpwstr>Widescreen</vt:lpwstr>
  </property>
  <property fmtid="{D5CDD505-2E9C-101B-9397-08002B2CF9AE}" pid="3" name="WizKit Template Version">
    <vt:i4>4</vt:i4>
  </property>
  <property fmtid="{D5CDD505-2E9C-101B-9397-08002B2CF9AE}" pid="4" name="ContentTypeId">
    <vt:lpwstr>0x0101006F0A470EEB1140E7AA14F4CE8A50B54C0001CB1477F4DD432AA86DD56CC3887AF400F644A78CBFDAD44983885002DC8B3358</vt:lpwstr>
  </property>
  <property fmtid="{D5CDD505-2E9C-101B-9397-08002B2CF9AE}" pid="5" name="_dlc_policyId">
    <vt:lpwstr/>
  </property>
  <property fmtid="{D5CDD505-2E9C-101B-9397-08002B2CF9AE}" pid="6" name="ItemRetentionFormula">
    <vt:lpwstr/>
  </property>
  <property fmtid="{D5CDD505-2E9C-101B-9397-08002B2CF9AE}" pid="7" name="_dlc_DocIdItemGuid">
    <vt:lpwstr>c9701bc4-86f5-4925-b270-7edbdbfcebbf</vt:lpwstr>
  </property>
  <property fmtid="{D5CDD505-2E9C-101B-9397-08002B2CF9AE}" pid="8" name="Shell SharePoint SAEF KeepFileLocal">
    <vt:bool>false</vt:bool>
  </property>
  <property fmtid="{D5CDD505-2E9C-101B-9397-08002B2CF9AE}" pid="9" name="Shell SharePoint SAEF WorkgroupIDTaxHTField0">
    <vt:lpwstr>UIB Commercial, New Business ＆ LNG - 11947|52d8a608-ed1f-401e-8ffb-8cc5334b8b42</vt:lpwstr>
  </property>
  <property fmtid="{D5CDD505-2E9C-101B-9397-08002B2CF9AE}" pid="10" name="Shell SharePoint SAEF SecurityClassificationTaxHTField0">
    <vt:lpwstr>Restricted|21aa7f98-4035-4019-a764-107acb7269af</vt:lpwstr>
  </property>
  <property fmtid="{D5CDD505-2E9C-101B-9397-08002B2CF9AE}" pid="11" name="Shell SharePoint SAEF LegalEntity">
    <vt:lpwstr>3;#SIEP|ca814f84-fd49-4cca-9dd4-ac559012442b</vt:lpwstr>
  </property>
  <property fmtid="{D5CDD505-2E9C-101B-9397-08002B2CF9AE}" pid="12" name="Shell SharePoint SAEF CountryOfJurisdiction">
    <vt:lpwstr>6;#NETHERLANDS|54565ecb-470f-40ea-a584-819150a65a13</vt:lpwstr>
  </property>
  <property fmtid="{D5CDD505-2E9C-101B-9397-08002B2CF9AE}" pid="13" name="Shell SharePoint SAEF ExportControlClassification">
    <vt:lpwstr>8;#Non-US content - Non Controlled|2ac8835e-0587-4096-a6e2-1f68da1e6cb3</vt:lpwstr>
  </property>
  <property fmtid="{D5CDD505-2E9C-101B-9397-08002B2CF9AE}" pid="14" name="SME Areas">
    <vt:lpwstr/>
  </property>
  <property fmtid="{D5CDD505-2E9C-101B-9397-08002B2CF9AE}" pid="15" name="SAEFSecurityClassification">
    <vt:lpwstr>1;#Restricted|21aa7f98-4035-4019-a764-107acb7269af</vt:lpwstr>
  </property>
  <property fmtid="{D5CDD505-2E9C-101B-9397-08002B2CF9AE}" pid="16" name="Shell SharePoint SAEF DocumentStatus">
    <vt:lpwstr>11;#Draft|1c86f377-7d91-4c95-bd5b-c18c83fe0aa5</vt:lpwstr>
  </property>
  <property fmtid="{D5CDD505-2E9C-101B-9397-08002B2CF9AE}" pid="17" name="Shell SharePoint SAEF Language">
    <vt:lpwstr>5;#English|bd3ad5ee-f0c3-40aa-8cc8-36ef09940af3</vt:lpwstr>
  </property>
  <property fmtid="{D5CDD505-2E9C-101B-9397-08002B2CF9AE}" pid="18" name="Shell SharePoint SAEF Business">
    <vt:lpwstr>1;#Upstream International|dabf15d9-4f75-4ed1-b8a1-a0c3e2a85888</vt:lpwstr>
  </property>
  <property fmtid="{D5CDD505-2E9C-101B-9397-08002B2CF9AE}" pid="19" name="Shell SharePoint SAEF BusinessProcess">
    <vt:lpwstr>7;#Develop New Business|8f030812-6a49-4616-837f-b8f0f1d07b9c</vt:lpwstr>
  </property>
  <property fmtid="{D5CDD505-2E9C-101B-9397-08002B2CF9AE}" pid="20" name="Shell SharePoint SAEF DocumentType">
    <vt:lpwstr>13;#Study results|073ec550-c791-4e3f-9683-953f7d5eb953</vt:lpwstr>
  </property>
  <property fmtid="{D5CDD505-2E9C-101B-9397-08002B2CF9AE}" pid="21" name="SME Keywords">
    <vt:lpwstr/>
  </property>
  <property fmtid="{D5CDD505-2E9C-101B-9397-08002B2CF9AE}" pid="22" name="Shell SharePoint SAEF BusinessUnitRegion">
    <vt:lpwstr>1;#Upstream International|dabf15d9-4f75-4ed1-b8a1-a0c3e2a85888</vt:lpwstr>
  </property>
  <property fmtid="{D5CDD505-2E9C-101B-9397-08002B2CF9AE}" pid="23" name="Shell SharePoint SAEF GlobalFunction">
    <vt:lpwstr>2;#Sustainable Development|2fbcccf5-c9b5-4b2d-984f-9a9b70c47e11</vt:lpwstr>
  </property>
  <property fmtid="{D5CDD505-2E9C-101B-9397-08002B2CF9AE}" pid="24" name="Shell SharePoint SAEF SiteCollectionName">
    <vt:lpwstr>Global Upstream Economics Portal</vt:lpwstr>
  </property>
  <property fmtid="{D5CDD505-2E9C-101B-9397-08002B2CF9AE}" pid="25" name="Order">
    <vt:r8>284000</vt:r8>
  </property>
  <property fmtid="{D5CDD505-2E9C-101B-9397-08002B2CF9AE}" pid="26" name="xd_Signature">
    <vt:bool>false</vt:bool>
  </property>
  <property fmtid="{D5CDD505-2E9C-101B-9397-08002B2CF9AE}" pid="27" name="Shell SharePoint SAEF GlobalFunctionTaxHTField0">
    <vt:lpwstr>Sustainable Development|2fbcccf5-c9b5-4b2d-984f-9a9b70c47e11</vt:lpwstr>
  </property>
  <property fmtid="{D5CDD505-2E9C-101B-9397-08002B2CF9AE}" pid="28" name="Shell SharePoint SAEF DocumentTypeTaxHTField0">
    <vt:lpwstr>Study results|073ec550-c791-4e3f-9683-953f7d5eb953</vt:lpwstr>
  </property>
  <property fmtid="{D5CDD505-2E9C-101B-9397-08002B2CF9AE}" pid="29" name="xd_ProgID">
    <vt:lpwstr/>
  </property>
  <property fmtid="{D5CDD505-2E9C-101B-9397-08002B2CF9AE}" pid="30" name="Shell SharePoint SAEF SiteOwner">
    <vt:lpwstr>Peter Grieve</vt:lpwstr>
  </property>
  <property fmtid="{D5CDD505-2E9C-101B-9397-08002B2CF9AE}" pid="31" name="Shell SharePoint SAEF LanguageTaxHTField0">
    <vt:lpwstr>English|bd3ad5ee-f0c3-40aa-8cc8-36ef09940af3</vt:lpwstr>
  </property>
  <property fmtid="{D5CDD505-2E9C-101B-9397-08002B2CF9AE}" pid="32" name="Shell SharePoint SAEF CountryOfJurisdictionTaxHTField0">
    <vt:lpwstr>NETHERLANDS|54565ecb-470f-40ea-a584-819150a65a13</vt:lpwstr>
  </property>
  <property fmtid="{D5CDD505-2E9C-101B-9397-08002B2CF9AE}" pid="33" name="ComplianceAssetId">
    <vt:lpwstr/>
  </property>
  <property fmtid="{D5CDD505-2E9C-101B-9397-08002B2CF9AE}" pid="34" name="TemplateUrl">
    <vt:lpwstr/>
  </property>
  <property fmtid="{D5CDD505-2E9C-101B-9397-08002B2CF9AE}" pid="35" name="Shell SharePoint SAEF BusinessUnitRegionTaxHTField0">
    <vt:lpwstr>Upstream International|dabf15d9-4f75-4ed1-b8a1-a0c3e2a85888</vt:lpwstr>
  </property>
  <property fmtid="{D5CDD505-2E9C-101B-9397-08002B2CF9AE}" pid="36" name="Shell SharePoint SAEF DocumentStatusTaxHTField0">
    <vt:lpwstr>Draft|1c86f377-7d91-4c95-bd5b-c18c83fe0aa5</vt:lpwstr>
  </property>
  <property fmtid="{D5CDD505-2E9C-101B-9397-08002B2CF9AE}" pid="37" name="Shell SharePoint SAEF BusinessProcessTaxHTField0">
    <vt:lpwstr>Develop New Business|8f030812-6a49-4616-837f-b8f0f1d07b9c</vt:lpwstr>
  </property>
  <property fmtid="{D5CDD505-2E9C-101B-9397-08002B2CF9AE}" pid="38" name="Shell SharePoint SAEF BusinessTaxHTField0">
    <vt:lpwstr>Upstream International|dabf15d9-4f75-4ed1-b8a1-a0c3e2a85888</vt:lpwstr>
  </property>
  <property fmtid="{D5CDD505-2E9C-101B-9397-08002B2CF9AE}" pid="39" name="Shell SharePoint SAEF Collection">
    <vt:bool>false</vt:bool>
  </property>
  <property fmtid="{D5CDD505-2E9C-101B-9397-08002B2CF9AE}" pid="40" name="_ExtendedDescription">
    <vt:lpwstr/>
  </property>
  <property fmtid="{D5CDD505-2E9C-101B-9397-08002B2CF9AE}" pid="41" name="Shell SharePoint SAEF ExportControlClassificationTaxHTField0">
    <vt:lpwstr>Non-US content - Non Controlled|2ac8835e-0587-4096-a6e2-1f68da1e6cb3</vt:lpwstr>
  </property>
  <property fmtid="{D5CDD505-2E9C-101B-9397-08002B2CF9AE}" pid="42" name="TriggerFlowInfo">
    <vt:lpwstr/>
  </property>
  <property fmtid="{D5CDD505-2E9C-101B-9397-08002B2CF9AE}" pid="43" name="Shell SharePoint SAEF LegalEntityTaxHTField0">
    <vt:lpwstr>SIEP|ca814f84-fd49-4cca-9dd4-ac559012442b</vt:lpwstr>
  </property>
  <property fmtid="{D5CDD505-2E9C-101B-9397-08002B2CF9AE}" pid="44" name="MediaServiceImageTags">
    <vt:lpwstr/>
  </property>
</Properties>
</file>