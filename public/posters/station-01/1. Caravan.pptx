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30275213" cy="42803763"/>
  <p:notesSz cx="9926638" cy="14355763"/>
  <p:embeddedFontLst>
    <p:embeddedFont>
      <p:font typeface="Futura Medium" panose="00000800000000000000"/>
      <p:regular r:id="rId9"/>
      <p:bold r:id="rId10"/>
      <p:italic r:id="rId11"/>
      <p:boldItalic r:id="rId12"/>
    </p:embeddedFont>
    <p:embeddedFont>
      <p:font typeface="ShellHeavy" panose="00000700000000000000" pitchFamily="2" charset="0"/>
      <p:bold r:id="rId13"/>
    </p:embeddedFont>
  </p:embeddedFontLst>
  <p:custDataLst>
    <p:tags r:id="rId14"/>
  </p:custData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D602CB-98E2-1E27-D028-602AEEC0CCAE}" name="Ismayilzada, Emil SDSI-DRS/D" initials="EI" userId="S::Emil.Ismailzade@shell.com::4ce851f5-2dd3-48db-9f0a-1a8a1ddb9ecb" providerId="AD"/>
  <p188:author id="{DAFEE9EC-D951-8D29-F850-82796F6D30C2}" name="Negro, Emanuela SIBV-FR/P/R" initials="EN" userId="S::Emanuela.Negro@shell.com::e29d9913-b970-4761-bc40-ba64e3e93e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80"/>
    <a:srgbClr val="DFF2F5"/>
    <a:srgbClr val="E7E7E7"/>
    <a:srgbClr val="2F3033"/>
    <a:srgbClr val="ACACAC"/>
    <a:srgbClr val="D9D9D9"/>
    <a:srgbClr val="595959"/>
    <a:srgbClr val="AFAFAF"/>
    <a:srgbClr val="C0E5EB"/>
    <a:srgbClr val="8FD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06247E-4405-4FF6-A2B4-0B2446C67D59}" v="1" dt="2026-09-01T14:15:53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6540" autoAdjust="0"/>
  </p:normalViewPr>
  <p:slideViewPr>
    <p:cSldViewPr snapToGrid="0" showGuides="1">
      <p:cViewPr>
        <p:scale>
          <a:sx n="50" d="100"/>
          <a:sy n="50" d="100"/>
        </p:scale>
        <p:origin x="270" y="-8562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4195" y="77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font" Target="fonts/font1.fntdata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gro, Emanuela SIBV-FR/P/R" userId="e29d9913-b970-4761-bc40-ba64e3e93eaf" providerId="ADAL" clId="{52E53613-A2C7-4C2D-A91D-6A616CC0B18A}"/>
    <pc:docChg chg="modSld">
      <pc:chgData name="Negro, Emanuela SIBV-FR/P/R" userId="e29d9913-b970-4761-bc40-ba64e3e93eaf" providerId="ADAL" clId="{52E53613-A2C7-4C2D-A91D-6A616CC0B18A}" dt="2026-09-01T14:19:23.801" v="197" actId="20577"/>
      <pc:docMkLst>
        <pc:docMk/>
      </pc:docMkLst>
      <pc:sldChg chg="modSp mod">
        <pc:chgData name="Negro, Emanuela SIBV-FR/P/R" userId="e29d9913-b970-4761-bc40-ba64e3e93eaf" providerId="ADAL" clId="{52E53613-A2C7-4C2D-A91D-6A616CC0B18A}" dt="2026-09-01T14:19:23.801" v="197" actId="20577"/>
        <pc:sldMkLst>
          <pc:docMk/>
          <pc:sldMk cId="0" sldId="256"/>
        </pc:sldMkLst>
        <pc:spChg chg="mod">
          <ac:chgData name="Negro, Emanuela SIBV-FR/P/R" userId="e29d9913-b970-4761-bc40-ba64e3e93eaf" providerId="ADAL" clId="{52E53613-A2C7-4C2D-A91D-6A616CC0B18A}" dt="2026-09-01T14:16:12.994" v="165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Negro, Emanuela SIBV-FR/P/R" userId="e29d9913-b970-4761-bc40-ba64e3e93eaf" providerId="ADAL" clId="{52E53613-A2C7-4C2D-A91D-6A616CC0B18A}" dt="2026-09-01T14:14:34.358" v="34" actId="20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Negro, Emanuela SIBV-FR/P/R" userId="e29d9913-b970-4761-bc40-ba64e3e93eaf" providerId="ADAL" clId="{52E53613-A2C7-4C2D-A91D-6A616CC0B18A}" dt="2026-09-01T14:19:23.801" v="197" actId="20577"/>
          <ac:spMkLst>
            <pc:docMk/>
            <pc:sldMk cId="0" sldId="256"/>
            <ac:spMk id="243" creationId="{700D8AAD-860A-D6D9-B65E-D08B1C0C67A7}"/>
          </ac:spMkLst>
        </pc:spChg>
        <pc:spChg chg="mod">
          <ac:chgData name="Negro, Emanuela SIBV-FR/P/R" userId="e29d9913-b970-4761-bc40-ba64e3e93eaf" providerId="ADAL" clId="{52E53613-A2C7-4C2D-A91D-6A616CC0B18A}" dt="2026-09-01T14:19:14.869" v="196" actId="20577"/>
          <ac:spMkLst>
            <pc:docMk/>
            <pc:sldMk cId="0" sldId="256"/>
            <ac:spMk id="249" creationId="{873B0EFB-3F62-4312-1775-27316D30FA1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83065578087964E-2"/>
          <c:y val="0.27742616033755274"/>
          <c:w val="0.97432183302607323"/>
          <c:h val="0.4451476793248945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F8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04219409282700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4000" kern="1200">
                      <a:solidFill>
                        <a:schemeClr val="bg1"/>
                      </a:solidFill>
                      <a:latin typeface="Aptos"/>
                      <a:ea typeface="Aptos"/>
                      <a:cs typeface="Aptos"/>
                      <a:sym typeface="Apto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FB3-43C8-8BE4-D7D68657E9D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B3-43C8-8BE4-D7D68657E9D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316829075585989E-4"/>
                  <c:y val="-2.004219409282700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4000" kern="1200">
                      <a:solidFill>
                        <a:schemeClr val="bg1"/>
                      </a:solidFill>
                      <a:latin typeface="Aptos"/>
                      <a:ea typeface="Aptos"/>
                      <a:cs typeface="Aptos"/>
                      <a:sym typeface="Apto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FB3-43C8-8BE4-D7D68657E9D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FB3-43C8-8BE4-D7D68657E9D8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316829075585989E-4"/>
                  <c:y val="-2.004219409282700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4000" kern="1200">
                      <a:solidFill>
                        <a:schemeClr val="tx1"/>
                      </a:solidFill>
                      <a:latin typeface="Aptos"/>
                      <a:ea typeface="Aptos"/>
                      <a:cs typeface="Aptos"/>
                      <a:sym typeface="Apto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FB3-43C8-8BE4-D7D68657E9D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FB3-43C8-8BE4-D7D68657E9D8}"/>
            </c:ext>
          </c:extLst>
        </c:ser>
        <c:ser>
          <c:idx val="3"/>
          <c:order val="3"/>
          <c:spPr>
            <a:solidFill>
              <a:srgbClr val="80CC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04219409282700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4000" kern="1200">
                      <a:solidFill>
                        <a:schemeClr val="tx1"/>
                      </a:solidFill>
                      <a:latin typeface="Aptos"/>
                      <a:ea typeface="+mn-ea"/>
                      <a:cs typeface="+mn-cs"/>
                      <a:sym typeface="Apto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FB3-43C8-8BE4-D7D68657E9D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FB3-43C8-8BE4-D7D68657E9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03353328"/>
        <c:axId val="1"/>
      </c:barChart>
      <c:catAx>
        <c:axId val="40335332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6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033533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01/09/2026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 dirty="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 dirty="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.sv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4.png"/><Relationship Id="rId2" Type="http://schemas.openxmlformats.org/officeDocument/2006/relationships/tags" Target="../tags/tag4.xml"/><Relationship Id="rId16" Type="http://schemas.openxmlformats.org/officeDocument/2006/relationships/chart" Target="../charts/chart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3.emf"/><Relationship Id="rId5" Type="http://schemas.openxmlformats.org/officeDocument/2006/relationships/tags" Target="../tags/tag7.xml"/><Relationship Id="rId15" Type="http://schemas.openxmlformats.org/officeDocument/2006/relationships/image" Target="../media/image7.svg"/><Relationship Id="rId10" Type="http://schemas.openxmlformats.org/officeDocument/2006/relationships/oleObject" Target="../embeddings/oleObject2.bin"/><Relationship Id="rId4" Type="http://schemas.openxmlformats.org/officeDocument/2006/relationships/tags" Target="../tags/tag6.xml"/><Relationship Id="rId9" Type="http://schemas.openxmlformats.org/officeDocument/2006/relationships/notesSlide" Target="../notesSlides/notesSlide1.xml"/><Relationship Id="rId14" Type="http://schemas.openxmlformats.org/officeDocument/2006/relationships/image" Target="../media/image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think-cell data - do not delete" hidden="1">
            <a:extLst>
              <a:ext uri="{FF2B5EF4-FFF2-40B4-BE49-F238E27FC236}">
                <a16:creationId xmlns:a16="http://schemas.microsoft.com/office/drawing/2014/main" id="{5D5E4FD7-9FA5-7540-CB76-309BFB14F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4760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3" progId="TCLayout.ActiveDocument.1">
                  <p:embed/>
                </p:oleObj>
              </mc:Choice>
              <mc:Fallback>
                <p:oleObj name="think-cell Slide" r:id="rId10" imgW="404" imgH="403" progId="TCLayout.ActiveDocument.1">
                  <p:embed/>
                  <p:pic>
                    <p:nvPicPr>
                      <p:cNvPr id="1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5E4FD7-9FA5-7540-CB76-309BFB14F2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hape 8"/>
          <p:cNvSpPr/>
          <p:nvPr/>
        </p:nvSpPr>
        <p:spPr>
          <a:xfrm>
            <a:off x="800100" y="10805572"/>
            <a:ext cx="28803600" cy="23713028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01" name="Rounded Rectangle 100"/>
          <p:cNvSpPr/>
          <p:nvPr/>
        </p:nvSpPr>
        <p:spPr>
          <a:xfrm>
            <a:off x="1099002" y="27668538"/>
            <a:ext cx="27889200" cy="6318209"/>
          </a:xfrm>
          <a:prstGeom prst="roundRect">
            <a:avLst/>
          </a:prstGeom>
          <a:solidFill>
            <a:srgbClr val="FFFFFF"/>
          </a:solidFill>
          <a:ln w="2794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42">
            <a:extLst>
              <a:ext uri="{FF2B5EF4-FFF2-40B4-BE49-F238E27FC236}">
                <a16:creationId xmlns:a16="http://schemas.microsoft.com/office/drawing/2014/main" id="{7044CD96-D8D5-99B4-C85D-E8408D55A5CA}"/>
              </a:ext>
            </a:extLst>
          </p:cNvPr>
          <p:cNvSpPr/>
          <p:nvPr/>
        </p:nvSpPr>
        <p:spPr>
          <a:xfrm>
            <a:off x="1099002" y="18027784"/>
            <a:ext cx="27978674" cy="8070715"/>
          </a:xfrm>
          <a:prstGeom prst="roundRect">
            <a:avLst/>
          </a:prstGeom>
          <a:noFill/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/mnt/data/48c52803bb.png"/>
          <p:cNvPicPr>
            <a:picLocks noChangeAspect="1"/>
          </p:cNvPicPr>
          <p:nvPr/>
        </p:nvPicPr>
        <p:blipFill>
          <a:blip r:embed="rId12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87215" y="1065338"/>
            <a:ext cx="9457608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/>
          <p:cNvSpPr/>
          <p:nvPr/>
        </p:nvSpPr>
        <p:spPr>
          <a:xfrm>
            <a:off x="2467692" y="1369720"/>
            <a:ext cx="9457607" cy="6848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 fontScale="92500" lnSpcReduction="20000"/>
          </a:bodyPr>
          <a:lstStyle/>
          <a:p>
            <a:pPr algn="l">
              <a:lnSpc>
                <a:spcPct val="95000"/>
              </a:lnSpc>
            </a:pPr>
            <a:r>
              <a:rPr sz="5600" b="1" dirty="0">
                <a:solidFill>
                  <a:srgbClr val="FFFFFF"/>
                </a:solidFill>
                <a:latin typeface="Aptos Display"/>
              </a:rPr>
              <a:t>SHAPING GROUP DIRECTION</a:t>
            </a:r>
            <a:endParaRPr lang="en-US" sz="5617" dirty="0"/>
          </a:p>
        </p:txBody>
      </p:sp>
      <p:sp>
        <p:nvSpPr>
          <p:cNvPr id="5" name="Text 2"/>
          <p:cNvSpPr/>
          <p:nvPr/>
        </p:nvSpPr>
        <p:spPr>
          <a:xfrm>
            <a:off x="2087575" y="2816352"/>
            <a:ext cx="19613880" cy="239572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l">
              <a:lnSpc>
                <a:spcPct val="88000"/>
              </a:lnSpc>
            </a:pPr>
            <a:r>
              <a:rPr lang="en-US" sz="7200" b="1" dirty="0">
                <a:solidFill>
                  <a:srgbClr val="2F3033"/>
                </a:solidFill>
                <a:latin typeface="Aptos Display"/>
              </a:rPr>
              <a:t>Project </a:t>
            </a:r>
            <a:r>
              <a:rPr sz="7200" b="1" dirty="0">
                <a:solidFill>
                  <a:srgbClr val="2F3033"/>
                </a:solidFill>
                <a:latin typeface="Aptos Display"/>
              </a:rPr>
              <a:t>CARAVAN </a:t>
            </a:r>
            <a:endParaRPr lang="en-US" sz="7200" b="1" dirty="0">
              <a:solidFill>
                <a:srgbClr val="2F3033"/>
              </a:solidFill>
              <a:latin typeface="Aptos Display"/>
            </a:endParaRPr>
          </a:p>
          <a:p>
            <a:pPr algn="l">
              <a:lnSpc>
                <a:spcPct val="88000"/>
              </a:lnSpc>
            </a:pPr>
            <a:r>
              <a:rPr lang="en-US" sz="7200" b="1" dirty="0">
                <a:solidFill>
                  <a:srgbClr val="2F3033"/>
                </a:solidFill>
                <a:latin typeface="Aptos Display"/>
              </a:rPr>
              <a:t>(T&amp;S) SOV Products Terminals </a:t>
            </a:r>
            <a:r>
              <a:rPr sz="7200" b="1" dirty="0">
                <a:solidFill>
                  <a:srgbClr val="2F3033"/>
                </a:solidFill>
                <a:latin typeface="Aptos Display"/>
              </a:rPr>
              <a:t>PORTFOLIO</a:t>
            </a:r>
            <a:r>
              <a:rPr lang="en-US" sz="7200" b="1" dirty="0">
                <a:solidFill>
                  <a:srgbClr val="2F3033"/>
                </a:solidFill>
                <a:latin typeface="Aptos Display"/>
              </a:rPr>
              <a:t> Review 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2087575" y="5321808"/>
            <a:ext cx="19385280" cy="1353312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2F3033"/>
                </a:solidFill>
                <a:latin typeface="Aptos"/>
              </a:rPr>
              <a:t>Potentially u</a:t>
            </a:r>
            <a:r>
              <a:rPr lang="en-US" sz="4000" b="0" dirty="0">
                <a:solidFill>
                  <a:srgbClr val="2F3033"/>
                </a:solidFill>
                <a:latin typeface="Aptos"/>
              </a:rPr>
              <a:t>nlocking $220+ NPV by </a:t>
            </a:r>
            <a:r>
              <a:rPr lang="en-US" sz="4000" dirty="0">
                <a:solidFill>
                  <a:srgbClr val="2F3033"/>
                </a:solidFill>
                <a:latin typeface="Aptos"/>
              </a:rPr>
              <a:t>2028 trough a repeatable portfolio decision engine</a:t>
            </a:r>
            <a:endParaRPr lang="en-US" sz="5617" dirty="0"/>
          </a:p>
        </p:txBody>
      </p:sp>
      <p:sp>
        <p:nvSpPr>
          <p:cNvPr id="7" name="Shape 4"/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432" y="7406640"/>
            <a:ext cx="17282160" cy="74980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l">
              <a:lnSpc>
                <a:spcPct val="95000"/>
              </a:lnSpc>
            </a:pPr>
            <a:r>
              <a:rPr sz="4000" b="1" dirty="0">
                <a:solidFill>
                  <a:srgbClr val="2F3033"/>
                </a:solidFill>
                <a:latin typeface="Aptos"/>
              </a:rPr>
              <a:t>Emanuela Negro  </a:t>
            </a:r>
            <a:r>
              <a:rPr lang="en-US" sz="4000" b="1" dirty="0">
                <a:solidFill>
                  <a:srgbClr val="2F3033"/>
                </a:solidFill>
                <a:latin typeface="Aptos"/>
              </a:rPr>
              <a:t>&amp;</a:t>
            </a:r>
            <a:r>
              <a:rPr sz="4000" b="1" dirty="0">
                <a:solidFill>
                  <a:srgbClr val="2F3033"/>
                </a:solidFill>
                <a:latin typeface="Aptos"/>
              </a:rPr>
              <a:t>  Susannah Stott</a:t>
            </a:r>
          </a:p>
        </p:txBody>
      </p:sp>
      <p:sp>
        <p:nvSpPr>
          <p:cNvPr id="10" name="Text 6"/>
          <p:cNvSpPr/>
          <p:nvPr/>
        </p:nvSpPr>
        <p:spPr>
          <a:xfrm>
            <a:off x="2087215" y="8887968"/>
            <a:ext cx="19214133" cy="74980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2F3033"/>
                </a:solidFill>
                <a:latin typeface="Aptos"/>
              </a:rPr>
              <a:t>SCA Global Team F2F 2026  |  7-8 September</a:t>
            </a:r>
            <a:endParaRPr lang="en-US" sz="5326" dirty="0"/>
          </a:p>
        </p:txBody>
      </p:sp>
      <p:sp>
        <p:nvSpPr>
          <p:cNvPr id="12" name="Text 7"/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rmAutofit/>
          </a:bodyPr>
          <a:lstStyle/>
          <a:p>
            <a:pPr algn="ctr">
              <a:lnSpc>
                <a:spcPct val="85000"/>
              </a:lnSpc>
            </a:pPr>
            <a:r>
              <a:rPr sz="5400" b="1">
                <a:solidFill>
                  <a:srgbClr val="D71920"/>
                </a:solidFill>
                <a:latin typeface="Aptos Display"/>
              </a:rPr>
              <a:t>SHAPE</a:t>
            </a:r>
            <a:endParaRPr lang="en-US" sz="5409" dirty="0"/>
          </a:p>
          <a:p>
            <a:pPr algn="ctr">
              <a:lnSpc>
                <a:spcPct val="85000"/>
              </a:lnSpc>
            </a:pPr>
            <a:r>
              <a:rPr sz="5400" b="1">
                <a:solidFill>
                  <a:srgbClr val="D71920"/>
                </a:solidFill>
                <a:latin typeface="Aptos Display"/>
              </a:rPr>
              <a:t>CONNECT</a:t>
            </a:r>
          </a:p>
          <a:p>
            <a:pPr algn="ctr">
              <a:lnSpc>
                <a:spcPct val="85000"/>
              </a:lnSpc>
            </a:pPr>
            <a:r>
              <a:rPr sz="5400" b="1">
                <a:solidFill>
                  <a:srgbClr val="D71920"/>
                </a:solidFill>
                <a:latin typeface="Aptos Display"/>
              </a:rPr>
              <a:t>ACCELERATE</a:t>
            </a:r>
          </a:p>
        </p:txBody>
      </p:sp>
      <p:sp>
        <p:nvSpPr>
          <p:cNvPr id="16" name="Shape 11"/>
          <p:cNvSpPr/>
          <p:nvPr/>
        </p:nvSpPr>
        <p:spPr>
          <a:xfrm>
            <a:off x="800100" y="34661535"/>
            <a:ext cx="28803600" cy="6315933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21" name="Text 16"/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l">
              <a:lnSpc>
                <a:spcPct val="95000"/>
              </a:lnSpc>
            </a:pPr>
            <a:r>
              <a:rPr sz="3600" b="0">
                <a:solidFill>
                  <a:srgbClr val="5A5A5A"/>
                </a:solidFill>
                <a:latin typeface="Aptos"/>
              </a:rPr>
              <a:t>Shape. Connect. Accelerate.</a:t>
            </a:r>
            <a:endParaRPr lang="en-US" sz="3537" dirty="0"/>
          </a:p>
        </p:txBody>
      </p:sp>
      <p:sp>
        <p:nvSpPr>
          <p:cNvPr id="22" name="Text 17"/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r">
              <a:lnSpc>
                <a:spcPct val="95000"/>
              </a:lnSpc>
            </a:pPr>
            <a:r>
              <a:rPr sz="3600" b="0">
                <a:solidFill>
                  <a:srgbClr val="5A5A5A"/>
                </a:solidFill>
                <a:latin typeface="Aptos"/>
              </a:rPr>
              <a:t>September 7-8, 2026</a:t>
            </a:r>
            <a:endParaRPr lang="en-US" sz="3537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9488486-9067-A209-415D-58E37B1212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6" name="Rounded Rectangle 25"/>
          <p:cNvSpPr/>
          <p:nvPr/>
        </p:nvSpPr>
        <p:spPr>
          <a:xfrm>
            <a:off x="1036320" y="31530925"/>
            <a:ext cx="4160520" cy="2395728"/>
          </a:xfrm>
          <a:prstGeom prst="roundRect">
            <a:avLst/>
          </a:prstGeom>
          <a:noFill/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595959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264920" y="31669038"/>
            <a:ext cx="370332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84000"/>
              </a:lnSpc>
            </a:pPr>
            <a:r>
              <a:rPr sz="3800" b="1" dirty="0">
                <a:solidFill>
                  <a:srgbClr val="002F80"/>
                </a:solidFill>
                <a:latin typeface="Aptos Display"/>
              </a:rPr>
              <a:t>POTENTIAL IMPACT</a:t>
            </a:r>
          </a:p>
          <a:p>
            <a:pPr algn="ctr">
              <a:lnSpc>
                <a:spcPct val="84000"/>
              </a:lnSpc>
            </a:pPr>
            <a:r>
              <a:rPr sz="3800" b="1" dirty="0">
                <a:solidFill>
                  <a:srgbClr val="002F80"/>
                </a:solidFill>
                <a:latin typeface="Aptos Display"/>
              </a:rPr>
              <a:t>FROM 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37285" y="31669038"/>
            <a:ext cx="4590288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9" name="Rectangle 28"/>
          <p:cNvSpPr/>
          <p:nvPr/>
        </p:nvSpPr>
        <p:spPr>
          <a:xfrm>
            <a:off x="4747013" y="31778575"/>
            <a:ext cx="4370831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$2</a:t>
            </a:r>
            <a:r>
              <a:rPr lang="en-US" sz="4400" dirty="0">
                <a:solidFill>
                  <a:srgbClr val="002F80"/>
                </a:solidFill>
                <a:latin typeface="Aptos Display"/>
              </a:rPr>
              <a:t>2</a:t>
            </a:r>
            <a:r>
              <a:rPr sz="4400" dirty="0">
                <a:solidFill>
                  <a:srgbClr val="002F80"/>
                </a:solidFill>
                <a:latin typeface="Aptos Display"/>
              </a:rPr>
              <a:t>0m+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83589" y="32610425"/>
            <a:ext cx="42976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90000"/>
              </a:lnSpc>
            </a:pPr>
            <a:r>
              <a:rPr sz="4400" b="0" dirty="0">
                <a:solidFill>
                  <a:srgbClr val="2F3033"/>
                </a:solidFill>
                <a:latin typeface="Aptos"/>
              </a:rPr>
              <a:t>NPV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19013" y="31669038"/>
            <a:ext cx="4590288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2" name="Rectangle 31"/>
          <p:cNvSpPr/>
          <p:nvPr/>
        </p:nvSpPr>
        <p:spPr>
          <a:xfrm>
            <a:off x="9428740" y="31778575"/>
            <a:ext cx="4370831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~$140m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5317" y="32610425"/>
            <a:ext cx="42976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90000"/>
              </a:lnSpc>
            </a:pPr>
            <a:r>
              <a:rPr sz="4400" b="0">
                <a:solidFill>
                  <a:srgbClr val="2F3033"/>
                </a:solidFill>
                <a:latin typeface="Aptos"/>
              </a:rPr>
              <a:t>sales proceeds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000740" y="31669038"/>
            <a:ext cx="4590288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5" name="Rectangle 34"/>
          <p:cNvSpPr/>
          <p:nvPr/>
        </p:nvSpPr>
        <p:spPr>
          <a:xfrm>
            <a:off x="14110469" y="31778575"/>
            <a:ext cx="4370831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~$45m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47045" y="32610425"/>
            <a:ext cx="42976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90000"/>
              </a:lnSpc>
            </a:pPr>
            <a:r>
              <a:rPr sz="4400" b="0" dirty="0">
                <a:solidFill>
                  <a:srgbClr val="2F3033"/>
                </a:solidFill>
                <a:latin typeface="Aptos"/>
              </a:rPr>
              <a:t>annual OPEX savings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682468" y="31669038"/>
            <a:ext cx="4590288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8" name="Rectangle 37"/>
          <p:cNvSpPr/>
          <p:nvPr/>
        </p:nvSpPr>
        <p:spPr>
          <a:xfrm>
            <a:off x="18792196" y="31778575"/>
            <a:ext cx="4370831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~$15m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828772" y="32610425"/>
            <a:ext cx="42976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90000"/>
              </a:lnSpc>
            </a:pPr>
            <a:r>
              <a:rPr sz="4400" b="0">
                <a:solidFill>
                  <a:srgbClr val="2F3033"/>
                </a:solidFill>
                <a:latin typeface="Aptos"/>
              </a:rPr>
              <a:t>annual CAPEX savings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364196" y="31669038"/>
            <a:ext cx="4590288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41" name="Rectangle 40"/>
          <p:cNvSpPr/>
          <p:nvPr/>
        </p:nvSpPr>
        <p:spPr>
          <a:xfrm>
            <a:off x="23473925" y="31778575"/>
            <a:ext cx="4370831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~$1</a:t>
            </a:r>
            <a:r>
              <a:rPr lang="en-US" sz="4400" dirty="0">
                <a:solidFill>
                  <a:srgbClr val="002F80"/>
                </a:solidFill>
                <a:latin typeface="Aptos Display"/>
              </a:rPr>
              <a:t>50</a:t>
            </a:r>
            <a:r>
              <a:rPr sz="4400" dirty="0">
                <a:solidFill>
                  <a:srgbClr val="002F80"/>
                </a:solidFill>
                <a:latin typeface="Aptos Display"/>
              </a:rPr>
              <a:t>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510500" y="32610425"/>
            <a:ext cx="42976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90000"/>
              </a:lnSpc>
            </a:pPr>
            <a:r>
              <a:rPr sz="4400" b="0" dirty="0">
                <a:solidFill>
                  <a:srgbClr val="2F3033"/>
                </a:solidFill>
                <a:latin typeface="Aptos"/>
              </a:rPr>
              <a:t>capital employed reduction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9002" y="12255021"/>
            <a:ext cx="13642848" cy="4764617"/>
          </a:xfrm>
          <a:prstGeom prst="roundRect">
            <a:avLst/>
          </a:prstGeom>
          <a:noFill/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99002" y="10971574"/>
            <a:ext cx="13642848" cy="1280160"/>
          </a:xfrm>
          <a:prstGeom prst="roundRect">
            <a:avLst/>
          </a:prstGeom>
          <a:solidFill>
            <a:srgbClr val="E7E7E7"/>
          </a:solidFill>
          <a:ln w="1016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THE SITUATION </a:t>
            </a:r>
          </a:p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A Legacy Portfolio whose value is not transparent </a:t>
            </a:r>
            <a:endParaRPr sz="4800" b="1" dirty="0">
              <a:solidFill>
                <a:srgbClr val="2F3033"/>
              </a:solidFill>
              <a:latin typeface="Aptos Display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369486" y="12737761"/>
            <a:ext cx="4434840" cy="1920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0" name="Rectangle 49"/>
          <p:cNvSpPr/>
          <p:nvPr/>
        </p:nvSpPr>
        <p:spPr>
          <a:xfrm>
            <a:off x="1296236" y="12873274"/>
            <a:ext cx="4251959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66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3014" y="13485382"/>
            <a:ext cx="4215383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87000"/>
              </a:lnSpc>
            </a:pPr>
            <a:r>
              <a:rPr lang="en-US" sz="4400" dirty="0">
                <a:solidFill>
                  <a:srgbClr val="2F3033"/>
                </a:solidFill>
                <a:latin typeface="Aptos"/>
              </a:rPr>
              <a:t>T</a:t>
            </a:r>
            <a:r>
              <a:rPr sz="4400" b="0" dirty="0">
                <a:solidFill>
                  <a:srgbClr val="2F3033"/>
                </a:solidFill>
                <a:latin typeface="Aptos"/>
              </a:rPr>
              <a:t>erminals</a:t>
            </a:r>
            <a:r>
              <a:rPr lang="en-US" sz="4400" b="0" dirty="0">
                <a:solidFill>
                  <a:srgbClr val="2F3033"/>
                </a:solidFill>
                <a:latin typeface="Aptos"/>
              </a:rPr>
              <a:t> globally </a:t>
            </a:r>
            <a:endParaRPr sz="4400" b="0" dirty="0">
              <a:solidFill>
                <a:srgbClr val="2F3033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947631" y="12737761"/>
            <a:ext cx="4434840" cy="1920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3" name="Rectangle 52"/>
          <p:cNvSpPr/>
          <p:nvPr/>
        </p:nvSpPr>
        <p:spPr>
          <a:xfrm>
            <a:off x="6151256" y="12873274"/>
            <a:ext cx="4251959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 Display"/>
              </a:rPr>
              <a:t>$2bn+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0048" y="13485382"/>
            <a:ext cx="4215383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87000"/>
              </a:lnSpc>
            </a:pPr>
            <a:r>
              <a:rPr lang="en-US" sz="4400" dirty="0">
                <a:solidFill>
                  <a:srgbClr val="2F3033"/>
                </a:solidFill>
                <a:latin typeface="Aptos"/>
              </a:rPr>
              <a:t>C</a:t>
            </a:r>
            <a:r>
              <a:rPr sz="4400" b="0" dirty="0">
                <a:solidFill>
                  <a:srgbClr val="2F3033"/>
                </a:solidFill>
                <a:latin typeface="Aptos"/>
              </a:rPr>
              <a:t>apital </a:t>
            </a:r>
            <a:endParaRPr lang="en-US" sz="4400" b="0" dirty="0">
              <a:solidFill>
                <a:srgbClr val="2F3033"/>
              </a:solidFill>
              <a:latin typeface="Aptos"/>
            </a:endParaRPr>
          </a:p>
          <a:p>
            <a:pPr algn="ctr">
              <a:lnSpc>
                <a:spcPct val="87000"/>
              </a:lnSpc>
            </a:pPr>
            <a:r>
              <a:rPr lang="en-US" sz="4400" dirty="0">
                <a:solidFill>
                  <a:srgbClr val="2F3033"/>
                </a:solidFill>
                <a:latin typeface="Aptos"/>
              </a:rPr>
              <a:t>E</a:t>
            </a:r>
            <a:r>
              <a:rPr sz="4400" b="0" dirty="0">
                <a:solidFill>
                  <a:srgbClr val="2F3033"/>
                </a:solidFill>
                <a:latin typeface="Aptos"/>
              </a:rPr>
              <a:t>mployed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25776" y="12737761"/>
            <a:ext cx="3990324" cy="1920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6" name="Rectangle 55"/>
          <p:cNvSpPr/>
          <p:nvPr/>
        </p:nvSpPr>
        <p:spPr>
          <a:xfrm>
            <a:off x="10525038" y="12902772"/>
            <a:ext cx="4251959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lang="en-US" sz="4400" dirty="0">
                <a:solidFill>
                  <a:srgbClr val="002F80"/>
                </a:solidFill>
                <a:latin typeface="Aptos Display"/>
              </a:rPr>
              <a:t>90 </a:t>
            </a:r>
            <a:r>
              <a:rPr sz="4400" dirty="0">
                <a:solidFill>
                  <a:srgbClr val="002F80"/>
                </a:solidFill>
                <a:latin typeface="Aptos Display"/>
              </a:rPr>
              <a:t>bn 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84332" y="13485382"/>
            <a:ext cx="4215383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87000"/>
              </a:lnSpc>
            </a:pPr>
            <a:r>
              <a:rPr sz="4400" b="0" dirty="0">
                <a:solidFill>
                  <a:srgbClr val="2F3033"/>
                </a:solidFill>
                <a:latin typeface="Aptos"/>
              </a:rPr>
              <a:t>annual throughput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99327" y="14805903"/>
            <a:ext cx="4434840" cy="1920240"/>
          </a:xfrm>
          <a:prstGeom prst="roundRect">
            <a:avLst/>
          </a:prstGeom>
          <a:noFill/>
          <a:ln w="2032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9" name="Rectangle 58"/>
          <p:cNvSpPr/>
          <p:nvPr/>
        </p:nvSpPr>
        <p:spPr>
          <a:xfrm>
            <a:off x="1284289" y="14960466"/>
            <a:ext cx="4251959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b="1" dirty="0">
                <a:solidFill>
                  <a:srgbClr val="D71920"/>
                </a:solidFill>
                <a:latin typeface="Aptos Display"/>
              </a:rPr>
              <a:t>~-7%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56539" y="15593467"/>
            <a:ext cx="4215383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>
              <a:lnSpc>
                <a:spcPct val="87000"/>
              </a:lnSpc>
            </a:pPr>
            <a:r>
              <a:rPr sz="4400" b="0" dirty="0">
                <a:solidFill>
                  <a:srgbClr val="2F3033"/>
                </a:solidFill>
                <a:latin typeface="Aptos"/>
              </a:rPr>
              <a:t>standalone ROACE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18787" y="15024769"/>
            <a:ext cx="7610168" cy="1574538"/>
          </a:xfrm>
          <a:prstGeom prst="roundRect">
            <a:avLst/>
          </a:prstGeom>
          <a:noFill/>
          <a:ln w="165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400" dirty="0">
                <a:solidFill>
                  <a:srgbClr val="002F80"/>
                </a:solidFill>
                <a:latin typeface="Aptos"/>
              </a:rPr>
              <a:t>Integrated value</a:t>
            </a:r>
            <a:r>
              <a:rPr lang="en-US" sz="4400" dirty="0">
                <a:solidFill>
                  <a:srgbClr val="002F80"/>
                </a:solidFill>
                <a:latin typeface="Aptos"/>
              </a:rPr>
              <a:t> </a:t>
            </a:r>
            <a:endParaRPr sz="4400" dirty="0">
              <a:solidFill>
                <a:srgbClr val="002F80"/>
              </a:solidFill>
              <a:latin typeface="Aptos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15095220" y="12255021"/>
            <a:ext cx="13944600" cy="4764617"/>
          </a:xfrm>
          <a:prstGeom prst="roundRect">
            <a:avLst/>
          </a:prstGeom>
          <a:noFill/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5038070" y="10971574"/>
            <a:ext cx="13944600" cy="1280160"/>
          </a:xfrm>
          <a:prstGeom prst="roundRect">
            <a:avLst/>
          </a:prstGeom>
          <a:solidFill>
            <a:srgbClr val="E7E7E7"/>
          </a:solidFill>
          <a:ln w="1016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THE COMPLICATION</a:t>
            </a:r>
          </a:p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Lack of data in a dynamic environment  </a:t>
            </a:r>
            <a:endParaRPr sz="4800" b="1" dirty="0">
              <a:solidFill>
                <a:srgbClr val="2F3033"/>
              </a:solidFill>
              <a:latin typeface="Aptos Display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15471648" y="12820821"/>
            <a:ext cx="841248" cy="8412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524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3800" b="1">
                <a:solidFill>
                  <a:schemeClr val="tx1"/>
                </a:solidFill>
                <a:latin typeface="Aptos Display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86632" y="12765958"/>
            <a:ext cx="2971800" cy="10789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5000"/>
              </a:lnSpc>
            </a:pPr>
            <a:r>
              <a:rPr sz="4800" b="1" dirty="0">
                <a:solidFill>
                  <a:schemeClr val="tx1"/>
                </a:solidFill>
                <a:latin typeface="Aptos Display"/>
              </a:rPr>
              <a:t>DATA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722590" y="12747670"/>
            <a:ext cx="9166860" cy="1133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0000"/>
              </a:lnSpc>
            </a:pPr>
            <a:r>
              <a:rPr lang="en-US" sz="3600" b="0" dirty="0">
                <a:solidFill>
                  <a:srgbClr val="2F3033"/>
                </a:solidFill>
                <a:latin typeface="Aptos"/>
              </a:rPr>
              <a:t>Lack to terminal </a:t>
            </a:r>
            <a:r>
              <a:rPr lang="en-US" sz="3600" dirty="0">
                <a:solidFill>
                  <a:srgbClr val="2F3033"/>
                </a:solidFill>
                <a:latin typeface="Aptos"/>
              </a:rPr>
              <a:t>level data</a:t>
            </a:r>
          </a:p>
          <a:p>
            <a:pPr algn="l">
              <a:lnSpc>
                <a:spcPct val="90000"/>
              </a:lnSpc>
            </a:pPr>
            <a:r>
              <a:rPr lang="en-US" sz="3600" b="0" dirty="0">
                <a:solidFill>
                  <a:srgbClr val="2F3033"/>
                </a:solidFill>
                <a:latin typeface="Aptos"/>
              </a:rPr>
              <a:t>Cost unfairly allocated to Shell customers </a:t>
            </a:r>
            <a:endParaRPr sz="3600" b="0" dirty="0">
              <a:solidFill>
                <a:srgbClr val="2F3033"/>
              </a:solidFill>
              <a:latin typeface="Apto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5471648" y="14128413"/>
            <a:ext cx="841248" cy="8412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524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3800" b="1">
                <a:solidFill>
                  <a:schemeClr val="tx1"/>
                </a:solidFill>
                <a:latin typeface="Aptos Display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86632" y="14073550"/>
            <a:ext cx="2971800" cy="10789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chemeClr val="tx1"/>
                </a:solidFill>
                <a:latin typeface="Aptos Display"/>
              </a:rPr>
              <a:t>INTERNAL </a:t>
            </a:r>
            <a:r>
              <a:rPr sz="4800" b="1" dirty="0">
                <a:solidFill>
                  <a:schemeClr val="tx1"/>
                </a:solidFill>
                <a:latin typeface="Aptos Display"/>
              </a:rPr>
              <a:t>CHANGE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722590" y="14055262"/>
            <a:ext cx="9166860" cy="1133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0000"/>
              </a:lnSpc>
            </a:pPr>
            <a:r>
              <a:rPr lang="en-US" sz="3600" b="0" dirty="0">
                <a:solidFill>
                  <a:srgbClr val="2F3033"/>
                </a:solidFill>
                <a:latin typeface="Aptos"/>
              </a:rPr>
              <a:t>Integration, Reorganization</a:t>
            </a:r>
            <a:endParaRPr sz="3600" b="0" dirty="0">
              <a:solidFill>
                <a:srgbClr val="2F3033"/>
              </a:solidFill>
              <a:latin typeface="Apto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5471648" y="15436006"/>
            <a:ext cx="841248" cy="84124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524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3800" b="1" dirty="0">
                <a:solidFill>
                  <a:schemeClr val="tx1"/>
                </a:solidFill>
                <a:latin typeface="Aptos Display"/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86632" y="15381142"/>
            <a:ext cx="3896868" cy="10789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chemeClr val="tx1"/>
                </a:solidFill>
                <a:latin typeface="Aptos Display"/>
              </a:rPr>
              <a:t>COMPETITION </a:t>
            </a:r>
            <a:endParaRPr sz="4800" b="1" dirty="0">
              <a:solidFill>
                <a:schemeClr val="tx1"/>
              </a:solidFill>
              <a:latin typeface="Aptos Display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0073781" y="15362854"/>
            <a:ext cx="8416001" cy="1133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0000"/>
              </a:lnSpc>
            </a:pPr>
            <a:endParaRPr sz="3600" b="0" dirty="0">
              <a:solidFill>
                <a:srgbClr val="2F3033"/>
              </a:solidFill>
              <a:latin typeface="Apto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099002" y="17408652"/>
            <a:ext cx="27889200" cy="914400"/>
          </a:xfrm>
          <a:prstGeom prst="roundRect">
            <a:avLst/>
          </a:prstGeom>
          <a:solidFill>
            <a:srgbClr val="E7E7E7"/>
          </a:solidFill>
          <a:ln w="1016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THE </a:t>
            </a:r>
            <a:r>
              <a:rPr sz="4800" b="1" dirty="0">
                <a:solidFill>
                  <a:srgbClr val="2F3033"/>
                </a:solidFill>
                <a:latin typeface="Aptos Display"/>
              </a:rPr>
              <a:t>RESOLUTION </a:t>
            </a: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- </a:t>
            </a:r>
            <a:r>
              <a:rPr sz="4800" b="1" dirty="0">
                <a:solidFill>
                  <a:srgbClr val="2F3033"/>
                </a:solidFill>
                <a:latin typeface="Aptos Display"/>
              </a:rPr>
              <a:t>ONE CLEAR, DATA-BACKED DECISION ENGINE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99002" y="26601738"/>
            <a:ext cx="27889200" cy="1280160"/>
          </a:xfrm>
          <a:prstGeom prst="roundRect">
            <a:avLst/>
          </a:prstGeom>
          <a:solidFill>
            <a:srgbClr val="E7E7E7"/>
          </a:solidFill>
          <a:ln w="1016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lnSpc>
                <a:spcPct val="95000"/>
              </a:lnSpc>
            </a:pPr>
            <a:r>
              <a:rPr sz="4800" b="1" dirty="0">
                <a:solidFill>
                  <a:srgbClr val="2F3033"/>
                </a:solidFill>
                <a:latin typeface="Aptos Display"/>
              </a:rPr>
              <a:t>KEY RECOMMENDATION </a:t>
            </a:r>
            <a:endParaRPr lang="en-US" sz="4800" b="1" dirty="0">
              <a:solidFill>
                <a:srgbClr val="2F3033"/>
              </a:solidFill>
              <a:latin typeface="Aptos Display"/>
            </a:endParaRPr>
          </a:p>
          <a:p>
            <a:pPr algn="l">
              <a:lnSpc>
                <a:spcPct val="95000"/>
              </a:lnSpc>
            </a:pPr>
            <a:r>
              <a:rPr lang="en-US" sz="4800" b="1" dirty="0">
                <a:solidFill>
                  <a:srgbClr val="2F3033"/>
                </a:solidFill>
                <a:latin typeface="Aptos Display"/>
              </a:rPr>
              <a:t>High-grade the portfolio - not individual assets - through business-led, data-driven annual choices</a:t>
            </a:r>
            <a:endParaRPr sz="4800" b="1" dirty="0">
              <a:solidFill>
                <a:srgbClr val="2F3033"/>
              </a:solidFill>
              <a:latin typeface="Aptos Display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16310412" y="28720489"/>
            <a:ext cx="566928" cy="566928"/>
          </a:xfrm>
          <a:prstGeom prst="ellipse">
            <a:avLst/>
          </a:prstGeom>
          <a:solidFill>
            <a:srgbClr val="D9D9D9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000" b="1">
                <a:solidFill>
                  <a:srgbClr val="595959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7231670" y="28749721"/>
            <a:ext cx="15563088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lnSpc>
                <a:spcPct val="95000"/>
              </a:lnSpc>
            </a:pPr>
            <a:r>
              <a:rPr sz="4000" b="0" dirty="0">
                <a:solidFill>
                  <a:srgbClr val="2F3033"/>
                </a:solidFill>
                <a:latin typeface="Aptos" panose="020B0004020202020204" pitchFamily="34" charset="0"/>
              </a:rPr>
              <a:t>Make asset-level E2E P&amp;L and integrated value visible</a:t>
            </a:r>
          </a:p>
        </p:txBody>
      </p:sp>
      <p:sp>
        <p:nvSpPr>
          <p:cNvPr id="118" name="Oval 117"/>
          <p:cNvSpPr/>
          <p:nvPr/>
        </p:nvSpPr>
        <p:spPr>
          <a:xfrm>
            <a:off x="16310412" y="29533289"/>
            <a:ext cx="566928" cy="566928"/>
          </a:xfrm>
          <a:prstGeom prst="ellipse">
            <a:avLst/>
          </a:prstGeom>
          <a:solidFill>
            <a:srgbClr val="D9D9D9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000" b="1">
                <a:solidFill>
                  <a:srgbClr val="595959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7231670" y="29563537"/>
            <a:ext cx="15563088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lnSpc>
                <a:spcPct val="95000"/>
              </a:lnSpc>
            </a:pPr>
            <a:r>
              <a:rPr sz="4000" b="0" dirty="0">
                <a:solidFill>
                  <a:srgbClr val="2F3033"/>
                </a:solidFill>
                <a:latin typeface="Aptos" panose="020B0004020202020204" pitchFamily="34" charset="0"/>
              </a:rPr>
              <a:t>Allocate cost to the business that captures the value</a:t>
            </a:r>
          </a:p>
        </p:txBody>
      </p:sp>
      <p:sp>
        <p:nvSpPr>
          <p:cNvPr id="120" name="Oval 119"/>
          <p:cNvSpPr/>
          <p:nvPr/>
        </p:nvSpPr>
        <p:spPr>
          <a:xfrm>
            <a:off x="16310412" y="30347676"/>
            <a:ext cx="566928" cy="566928"/>
          </a:xfrm>
          <a:prstGeom prst="ellipse">
            <a:avLst/>
          </a:prstGeom>
          <a:solidFill>
            <a:srgbClr val="D9D9D9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95000"/>
              </a:lnSpc>
            </a:pPr>
            <a:r>
              <a:rPr sz="4000" b="1">
                <a:solidFill>
                  <a:srgbClr val="595959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7231670" y="30377353"/>
            <a:ext cx="15563088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lnSpc>
                <a:spcPct val="95000"/>
              </a:lnSpc>
            </a:pPr>
            <a:r>
              <a:rPr sz="4000" b="0">
                <a:solidFill>
                  <a:srgbClr val="2F3033"/>
                </a:solidFill>
                <a:latin typeface="Aptos" panose="020B0004020202020204" pitchFamily="34" charset="0"/>
              </a:rPr>
              <a:t>Track delivery by region; refresh the portfolio annually</a:t>
            </a:r>
          </a:p>
        </p:txBody>
      </p:sp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4462B8DC-57C1-F368-3F2C-2869D6D12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65206" y="15310795"/>
            <a:ext cx="914400" cy="914400"/>
          </a:xfrm>
          <a:prstGeom prst="rect">
            <a:avLst/>
          </a:prstGeom>
        </p:spPr>
      </p:pic>
      <p:graphicFrame>
        <p:nvGraphicFramePr>
          <p:cNvPr id="161" name="Table 160">
            <a:extLst>
              <a:ext uri="{FF2B5EF4-FFF2-40B4-BE49-F238E27FC236}">
                <a16:creationId xmlns:a16="http://schemas.microsoft.com/office/drawing/2014/main" id="{02A57407-FB4A-6794-EE49-265FFBE89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096242"/>
              </p:ext>
            </p:extLst>
          </p:nvPr>
        </p:nvGraphicFramePr>
        <p:xfrm>
          <a:off x="5609307" y="19328882"/>
          <a:ext cx="5828542" cy="6111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271">
                  <a:extLst>
                    <a:ext uri="{9D8B030D-6E8A-4147-A177-3AD203B41FA5}">
                      <a16:colId xmlns:a16="http://schemas.microsoft.com/office/drawing/2014/main" val="1491946007"/>
                    </a:ext>
                  </a:extLst>
                </a:gridCol>
                <a:gridCol w="2914271">
                  <a:extLst>
                    <a:ext uri="{9D8B030D-6E8A-4147-A177-3AD203B41FA5}">
                      <a16:colId xmlns:a16="http://schemas.microsoft.com/office/drawing/2014/main" val="1577021242"/>
                    </a:ext>
                  </a:extLst>
                </a:gridCol>
              </a:tblGrid>
              <a:tr h="3055894">
                <a:tc>
                  <a:txBody>
                    <a:bodyPr/>
                    <a:lstStyle/>
                    <a:p>
                      <a:pPr algn="ctr"/>
                      <a:r>
                        <a:rPr lang="en-GB" sz="30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IMPROVE PROFITABILITY</a:t>
                      </a:r>
                    </a:p>
                  </a:txBody>
                  <a:tcPr marL="227064" marR="227064" marT="113532" marB="11353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OPTIMIZE</a:t>
                      </a:r>
                    </a:p>
                  </a:txBody>
                  <a:tcPr marL="227064" marR="227064" marT="113532" marB="11353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69437"/>
                  </a:ext>
                </a:extLst>
              </a:tr>
              <a:tr h="3055894">
                <a:tc gridSpan="2">
                  <a:txBody>
                    <a:bodyPr/>
                    <a:lstStyle/>
                    <a:p>
                      <a:pPr algn="ctr"/>
                      <a:endParaRPr lang="en-GB" sz="30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  <a:p>
                      <a:pPr algn="ctr"/>
                      <a:r>
                        <a:rPr lang="en-GB" sz="30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EVALUATE ALTERNATIVE OPTIONS</a:t>
                      </a:r>
                    </a:p>
                  </a:txBody>
                  <a:tcPr marL="227064" marR="227064" marT="113532" marB="113532" anchor="ctr">
                    <a:solidFill>
                      <a:srgbClr val="C0E5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rgbClr val="C0E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551259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310275BA-4FC8-3A47-1528-DA0BEDD34D53}"/>
              </a:ext>
            </a:extLst>
          </p:cNvPr>
          <p:cNvSpPr txBox="1"/>
          <p:nvPr/>
        </p:nvSpPr>
        <p:spPr bwMode="auto">
          <a:xfrm rot="16200000">
            <a:off x="2363498" y="21140532"/>
            <a:ext cx="5421560" cy="709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888261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3600" b="1" dirty="0">
                <a:latin typeface="Aptos" panose="020B0004020202020204" pitchFamily="34" charset="0"/>
              </a:rPr>
              <a:t>Strategic importance</a:t>
            </a:r>
            <a:endParaRPr lang="en-GB" sz="3600" b="1" baseline="30000" dirty="0">
              <a:latin typeface="Aptos" panose="020B00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F7F60C1-C645-34B3-F9A8-DAE6BDDF84C2}"/>
              </a:ext>
            </a:extLst>
          </p:cNvPr>
          <p:cNvSpPr txBox="1"/>
          <p:nvPr/>
        </p:nvSpPr>
        <p:spPr bwMode="auto">
          <a:xfrm>
            <a:off x="3308856" y="25388060"/>
            <a:ext cx="10529914" cy="709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88261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3600" b="1" dirty="0">
                <a:latin typeface="Aptos" panose="020B0004020202020204" pitchFamily="34" charset="0"/>
              </a:rPr>
              <a:t>Profitability</a:t>
            </a:r>
            <a:endParaRPr lang="en-GB" sz="3600" b="1" baseline="30000" dirty="0">
              <a:latin typeface="Aptos" panose="020B0004020202020204" pitchFamily="34" charset="0"/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D8DE4EAA-8442-C764-0087-398202943EB4}"/>
              </a:ext>
            </a:extLst>
          </p:cNvPr>
          <p:cNvCxnSpPr>
            <a:cxnSpLocks/>
          </p:cNvCxnSpPr>
          <p:nvPr/>
        </p:nvCxnSpPr>
        <p:spPr>
          <a:xfrm>
            <a:off x="5615951" y="25457582"/>
            <a:ext cx="61307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08292A0-01E5-3BA1-7CD7-A3152BB09AE2}"/>
              </a:ext>
            </a:extLst>
          </p:cNvPr>
          <p:cNvCxnSpPr>
            <a:cxnSpLocks/>
          </p:cNvCxnSpPr>
          <p:nvPr/>
        </p:nvCxnSpPr>
        <p:spPr>
          <a:xfrm flipV="1">
            <a:off x="5615951" y="19070026"/>
            <a:ext cx="0" cy="63577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090DB18D-8D34-63ED-513B-7D58393C48B3}"/>
              </a:ext>
            </a:extLst>
          </p:cNvPr>
          <p:cNvSpPr txBox="1"/>
          <p:nvPr/>
        </p:nvSpPr>
        <p:spPr bwMode="auto">
          <a:xfrm>
            <a:off x="1370613" y="20743512"/>
            <a:ext cx="3576244" cy="29546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8261">
              <a:buClr>
                <a:schemeClr val="accent2"/>
              </a:buClr>
              <a:buSzPct val="75000"/>
            </a:pPr>
            <a:r>
              <a:rPr lang="en-GB" sz="3200" b="1" dirty="0">
                <a:latin typeface="Aptos" panose="020B0004020202020204" pitchFamily="34" charset="0"/>
              </a:rPr>
              <a:t>INPUT : 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Actuals data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OP25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 Past Projects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SME Interviews 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CI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915738E-C464-77F4-C963-9FCBCCA1FC90}"/>
              </a:ext>
            </a:extLst>
          </p:cNvPr>
          <p:cNvSpPr txBox="1"/>
          <p:nvPr/>
        </p:nvSpPr>
        <p:spPr bwMode="auto">
          <a:xfrm>
            <a:off x="4936614" y="18301687"/>
            <a:ext cx="8716331" cy="709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888261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3600" b="1" dirty="0">
                <a:latin typeface="Aptos" panose="020B0004020202020204" pitchFamily="34" charset="0"/>
              </a:rPr>
              <a:t>1. Identify less strategic terminal</a:t>
            </a:r>
          </a:p>
        </p:txBody>
      </p:sp>
      <p:graphicFrame>
        <p:nvGraphicFramePr>
          <p:cNvPr id="169" name="Table 168">
            <a:extLst>
              <a:ext uri="{FF2B5EF4-FFF2-40B4-BE49-F238E27FC236}">
                <a16:creationId xmlns:a16="http://schemas.microsoft.com/office/drawing/2014/main" id="{7D6EAC9C-6E41-584A-C7BC-C696D6716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82746"/>
              </p:ext>
            </p:extLst>
          </p:nvPr>
        </p:nvGraphicFramePr>
        <p:xfrm>
          <a:off x="12782550" y="20504390"/>
          <a:ext cx="5583976" cy="3867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976">
                  <a:extLst>
                    <a:ext uri="{9D8B030D-6E8A-4147-A177-3AD203B41FA5}">
                      <a16:colId xmlns:a16="http://schemas.microsoft.com/office/drawing/2014/main" val="4130779175"/>
                    </a:ext>
                  </a:extLst>
                </a:gridCol>
              </a:tblGrid>
              <a:tr h="38523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TERMINAL LEVEL</a:t>
                      </a:r>
                    </a:p>
                    <a:p>
                      <a:pPr marL="457200" marR="0" lvl="0" indent="-4572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800" b="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Divest &amp; Competitive access</a:t>
                      </a:r>
                    </a:p>
                    <a:p>
                      <a:pPr marL="457200" marR="0" lvl="0" indent="-4572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800" b="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Divest &amp; Re-route volumes</a:t>
                      </a:r>
                    </a:p>
                    <a:p>
                      <a:pPr marL="457200" marR="0" lvl="0" indent="-4572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800" b="0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No alternative</a:t>
                      </a:r>
                    </a:p>
                  </a:txBody>
                  <a:tcPr marL="227064" marR="227064" marT="113532" marB="11353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001697"/>
                  </a:ext>
                </a:extLst>
              </a:tr>
              <a:tr h="349166">
                <a:tc>
                  <a:txBody>
                    <a:bodyPr/>
                    <a:lstStyle/>
                    <a:p>
                      <a:pPr algn="l" defTabSz="357708">
                        <a:buClr>
                          <a:schemeClr val="accent2"/>
                        </a:buClr>
                        <a:buSzPct val="75000"/>
                      </a:pPr>
                      <a:r>
                        <a:rPr lang="en-GB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PORTFOLIO LEVEL</a:t>
                      </a:r>
                    </a:p>
                    <a:p>
                      <a:pPr marL="457200" marR="0" lvl="0" indent="-457200" algn="l" defTabSz="357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033"/>
                        </a:buClr>
                        <a:buSzPct val="7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Outsource Operatorship </a:t>
                      </a:r>
                    </a:p>
                    <a:p>
                      <a:pPr marL="457200" marR="0" lvl="0" indent="-457200" algn="l" defTabSz="357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033"/>
                        </a:buClr>
                        <a:buSzPct val="7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NOV/</a:t>
                      </a:r>
                      <a:r>
                        <a:rPr lang="en-GB" sz="2800" b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iJV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  <a:p>
                      <a:pPr marL="457200" marR="0" lvl="0" indent="-457200" algn="l" defTabSz="357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033"/>
                        </a:buClr>
                        <a:buSzPct val="7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DIVEST as a Package</a:t>
                      </a:r>
                    </a:p>
                  </a:txBody>
                  <a:tcPr marL="227064" marR="227064" marT="113532" marB="11353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25516"/>
                  </a:ext>
                </a:extLst>
              </a:tr>
            </a:tbl>
          </a:graphicData>
        </a:graphic>
      </p:graphicFrame>
      <p:sp>
        <p:nvSpPr>
          <p:cNvPr id="170" name="TextBox 169">
            <a:extLst>
              <a:ext uri="{FF2B5EF4-FFF2-40B4-BE49-F238E27FC236}">
                <a16:creationId xmlns:a16="http://schemas.microsoft.com/office/drawing/2014/main" id="{D13D2F0F-ABFE-BE21-550B-13E3CFB2450A}"/>
              </a:ext>
            </a:extLst>
          </p:cNvPr>
          <p:cNvSpPr txBox="1"/>
          <p:nvPr/>
        </p:nvSpPr>
        <p:spPr bwMode="auto">
          <a:xfrm>
            <a:off x="9448167" y="18484813"/>
            <a:ext cx="11620079" cy="11079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dirty="0">
                <a:latin typeface="Aptos" panose="020B0004020202020204" pitchFamily="34" charset="0"/>
              </a:rPr>
              <a:t>2. Understand Alternatives </a:t>
            </a:r>
          </a:p>
          <a:p>
            <a:pPr algn="ctr"/>
            <a:r>
              <a:rPr lang="en-GB" sz="3600" b="1" dirty="0">
                <a:latin typeface="Aptos" panose="020B0004020202020204" pitchFamily="34" charset="0"/>
              </a:rPr>
              <a:t>&amp; INTEGRATED VALUE </a:t>
            </a:r>
          </a:p>
        </p:txBody>
      </p:sp>
      <p:graphicFrame>
        <p:nvGraphicFramePr>
          <p:cNvPr id="171" name="Table 170">
            <a:extLst>
              <a:ext uri="{FF2B5EF4-FFF2-40B4-BE49-F238E27FC236}">
                <a16:creationId xmlns:a16="http://schemas.microsoft.com/office/drawing/2014/main" id="{C1BBCB8F-0B1C-DFED-DC3B-D136206B4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2916"/>
              </p:ext>
            </p:extLst>
          </p:nvPr>
        </p:nvGraphicFramePr>
        <p:xfrm>
          <a:off x="19606295" y="19301428"/>
          <a:ext cx="5449538" cy="614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769">
                  <a:extLst>
                    <a:ext uri="{9D8B030D-6E8A-4147-A177-3AD203B41FA5}">
                      <a16:colId xmlns:a16="http://schemas.microsoft.com/office/drawing/2014/main" val="1491946007"/>
                    </a:ext>
                  </a:extLst>
                </a:gridCol>
                <a:gridCol w="2724769">
                  <a:extLst>
                    <a:ext uri="{9D8B030D-6E8A-4147-A177-3AD203B41FA5}">
                      <a16:colId xmlns:a16="http://schemas.microsoft.com/office/drawing/2014/main" val="1577021242"/>
                    </a:ext>
                  </a:extLst>
                </a:gridCol>
              </a:tblGrid>
              <a:tr h="4098944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PLAN </a:t>
                      </a:r>
                    </a:p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or DROP</a:t>
                      </a:r>
                    </a:p>
                  </a:txBody>
                  <a:tcPr marL="227064" marR="227064" marT="113532" marB="113532" anchor="ctr">
                    <a:solidFill>
                      <a:srgbClr val="FFF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DO ASAP </a:t>
                      </a:r>
                    </a:p>
                  </a:txBody>
                  <a:tcPr marL="227064" marR="227064" marT="113532" marB="113532" anchor="ctr">
                    <a:solidFill>
                      <a:srgbClr val="CBE6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69437"/>
                  </a:ext>
                </a:extLst>
              </a:tr>
              <a:tr h="2049472">
                <a:tc gridSpan="2"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DON’T DO</a:t>
                      </a:r>
                    </a:p>
                  </a:txBody>
                  <a:tcPr marL="227064" marR="227064" marT="113532" marB="1135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C0E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606105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6BC4E976-2CBB-CD8F-BD2E-C45C9E87ED19}"/>
              </a:ext>
            </a:extLst>
          </p:cNvPr>
          <p:cNvSpPr txBox="1"/>
          <p:nvPr/>
        </p:nvSpPr>
        <p:spPr bwMode="auto">
          <a:xfrm rot="16200000">
            <a:off x="17125005" y="20605575"/>
            <a:ext cx="3858692" cy="709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888261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3600" b="1" dirty="0">
                <a:latin typeface="Aptos" panose="020B0004020202020204" pitchFamily="34" charset="0"/>
              </a:rPr>
              <a:t>Value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CE58F8F0-7618-3D95-1E8C-B3BA2F68FB11}"/>
              </a:ext>
            </a:extLst>
          </p:cNvPr>
          <p:cNvCxnSpPr>
            <a:cxnSpLocks/>
          </p:cNvCxnSpPr>
          <p:nvPr/>
        </p:nvCxnSpPr>
        <p:spPr>
          <a:xfrm>
            <a:off x="19625518" y="25459625"/>
            <a:ext cx="61307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14FEFDA-3C11-DC77-91C1-763A92DCDDCA}"/>
              </a:ext>
            </a:extLst>
          </p:cNvPr>
          <p:cNvCxnSpPr>
            <a:cxnSpLocks/>
          </p:cNvCxnSpPr>
          <p:nvPr/>
        </p:nvCxnSpPr>
        <p:spPr>
          <a:xfrm flipV="1">
            <a:off x="19625519" y="19072069"/>
            <a:ext cx="0" cy="63577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E45737C3-DBF8-9450-0F55-6A2E7E775F29}"/>
              </a:ext>
            </a:extLst>
          </p:cNvPr>
          <p:cNvSpPr txBox="1"/>
          <p:nvPr/>
        </p:nvSpPr>
        <p:spPr bwMode="auto">
          <a:xfrm>
            <a:off x="25497505" y="20810072"/>
            <a:ext cx="3378610" cy="19697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8261">
              <a:buClr>
                <a:schemeClr val="accent2"/>
              </a:buClr>
              <a:buSzPct val="75000"/>
            </a:pPr>
            <a:r>
              <a:rPr lang="en-GB" sz="3200" b="1" dirty="0">
                <a:latin typeface="Aptos" panose="020B0004020202020204" pitchFamily="34" charset="0"/>
              </a:rPr>
              <a:t>OUTPUT : 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OP26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Spin-off Projects</a:t>
            </a:r>
          </a:p>
          <a:p>
            <a:pPr marL="457200" indent="-457200" defTabSz="888261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3200" dirty="0">
                <a:latin typeface="Aptos" panose="020B0004020202020204" pitchFamily="34" charset="0"/>
              </a:rPr>
              <a:t>Handover 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2D05DE2-BA97-06F4-BBB7-D5D981888BA9}"/>
              </a:ext>
            </a:extLst>
          </p:cNvPr>
          <p:cNvSpPr txBox="1"/>
          <p:nvPr/>
        </p:nvSpPr>
        <p:spPr bwMode="auto">
          <a:xfrm>
            <a:off x="18880051" y="18337328"/>
            <a:ext cx="8716331" cy="709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888261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3600" b="1" dirty="0">
                <a:latin typeface="Aptos" panose="020B0004020202020204" pitchFamily="34" charset="0"/>
              </a:rPr>
              <a:t>3.  Value/Feasibility assessment 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9BB8BE4-9996-7C1D-489C-113D73110FF5}"/>
              </a:ext>
            </a:extLst>
          </p:cNvPr>
          <p:cNvSpPr txBox="1"/>
          <p:nvPr/>
        </p:nvSpPr>
        <p:spPr bwMode="auto">
          <a:xfrm>
            <a:off x="17635437" y="25455485"/>
            <a:ext cx="10529914" cy="709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88261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3600" b="1" dirty="0">
                <a:latin typeface="Aptos" panose="020B0004020202020204" pitchFamily="34" charset="0"/>
              </a:rPr>
              <a:t>Feasibility</a:t>
            </a:r>
            <a:endParaRPr lang="en-GB" sz="3600" b="1" baseline="30000" dirty="0">
              <a:latin typeface="Aptos" panose="020B0004020202020204" pitchFamily="34" charset="0"/>
            </a:endParaRPr>
          </a:p>
        </p:txBody>
      </p:sp>
      <p:graphicFrame>
        <p:nvGraphicFramePr>
          <p:cNvPr id="263" name="Chart 262">
            <a:extLst>
              <a:ext uri="{FF2B5EF4-FFF2-40B4-BE49-F238E27FC236}">
                <a16:creationId xmlns:a16="http://schemas.microsoft.com/office/drawing/2014/main" id="{0E08E246-C0D2-1CAB-C008-5BA34F465EDE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0706747"/>
              </p:ext>
            </p:extLst>
          </p:nvPr>
        </p:nvGraphicFramePr>
        <p:xfrm>
          <a:off x="3530600" y="28016200"/>
          <a:ext cx="12055475" cy="300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87" name="Rectangle 186">
            <a:extLst>
              <a:ext uri="{FF2B5EF4-FFF2-40B4-BE49-F238E27FC236}">
                <a16:creationId xmlns:a16="http://schemas.microsoft.com/office/drawing/2014/main" id="{13E5559D-BC70-20B0-0362-41F65EC7A6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193800" y="29092525"/>
            <a:ext cx="2224088" cy="854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GB" sz="4000" dirty="0">
                <a:latin typeface="Aptos" panose="020B0004020202020204" pitchFamily="34" charset="0"/>
                <a:sym typeface="Aptos" panose="020B0004020202020204" pitchFamily="34" charset="0"/>
              </a:rPr>
              <a:t>Terminals 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3EAEBC7-77A4-CD8A-BE19-35837130DFF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3506450" y="30299025"/>
            <a:ext cx="19970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4000" dirty="0">
                <a:solidFill>
                  <a:schemeClr val="tx1"/>
                </a:solidFill>
                <a:latin typeface="Aptos" panose="020B0004020202020204" pitchFamily="34" charset="0"/>
                <a:sym typeface="Aptos" panose="020B0004020202020204" pitchFamily="34" charset="0"/>
              </a:rPr>
              <a:t>Business</a:t>
            </a:r>
            <a:br>
              <a:rPr lang="en-GB" sz="4000" dirty="0">
                <a:solidFill>
                  <a:schemeClr val="tx1"/>
                </a:solidFill>
                <a:latin typeface="Aptos" panose="020B0004020202020204" pitchFamily="34" charset="0"/>
                <a:sym typeface="Aptos" panose="020B0004020202020204" pitchFamily="34" charset="0"/>
              </a:rPr>
            </a:br>
            <a:r>
              <a:rPr lang="en-GB" sz="4000" dirty="0">
                <a:solidFill>
                  <a:schemeClr val="tx1"/>
                </a:solidFill>
                <a:latin typeface="Aptos" panose="020B0004020202020204" pitchFamily="34" charset="0"/>
                <a:sym typeface="Aptos" panose="020B0004020202020204" pitchFamily="34" charset="0"/>
              </a:rPr>
              <a:t>Review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09BA7A7-019E-D68B-714E-D2736970E57F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280650" y="28132088"/>
            <a:ext cx="52228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E3C5C25-82B4-4184-BD45-9959D658C91F}" type="datetime'''O''''''''''utso''''''''u''''rce ''o''p''erato''r''''ship'''">
              <a:rPr lang="en-GB" altLang="en-US" sz="4000" smtClean="0">
                <a:solidFill>
                  <a:schemeClr val="tx1"/>
                </a:solidFill>
                <a:effectLst/>
                <a:latin typeface="Aptos" panose="020B0004020202020204" pitchFamily="34" charset="0"/>
                <a:sym typeface="Aptos" panose="020B0004020202020204" pitchFamily="34" charset="0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Outsource operatorship</a:t>
            </a:fld>
            <a:endParaRPr lang="en-GB" sz="4000" dirty="0">
              <a:solidFill>
                <a:schemeClr val="tx1"/>
              </a:solidFill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ACF9A32-5B93-AC2F-F8ED-A2B4BBECAC9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618788" y="30299025"/>
            <a:ext cx="15811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32D48C3-F00B-4A9B-9B6D-B409A63DD45C}" type="datetime'''DI''''''V''E''''''''''''''''''''''''S''''''''''''''T'">
              <a:rPr lang="en-GB" altLang="en-US" sz="4000" smtClean="0">
                <a:solidFill>
                  <a:schemeClr val="tx1"/>
                </a:solidFill>
                <a:effectLst/>
                <a:latin typeface="Aptos" panose="020B0004020202020204" pitchFamily="34" charset="0"/>
                <a:sym typeface="Aptos" panose="020B0004020202020204" pitchFamily="34" charset="0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DIVEST</a:t>
            </a:fld>
            <a:endParaRPr lang="en-GB" sz="4000" dirty="0">
              <a:solidFill>
                <a:schemeClr val="tx1"/>
              </a:solidFill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B8C80F3-048A-A181-6E4C-5DE05406B6E3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835650" y="28132088"/>
            <a:ext cx="24304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F96BCF3-C91E-4824-AF31-69181CA14B53}" type="datetime'''''K''EE''''''''P'''''' ''''''''''''AS''''''-I''S'''''''''''">
              <a:rPr lang="en-GB" altLang="en-US" sz="4000" smtClean="0">
                <a:solidFill>
                  <a:schemeClr val="tx1"/>
                </a:solidFill>
                <a:effectLst/>
                <a:latin typeface="Aptos" panose="020B0004020202020204" pitchFamily="34" charset="0"/>
                <a:sym typeface="Aptos" panose="020B0004020202020204" pitchFamily="34" charset="0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KEEP AS-IS</a:t>
            </a:fld>
            <a:endParaRPr lang="en-GB" sz="4000" dirty="0">
              <a:solidFill>
                <a:schemeClr val="tx1"/>
              </a:solidFill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A7829ED3-708D-A245-FE70-37985CE6A693}"/>
              </a:ext>
            </a:extLst>
          </p:cNvPr>
          <p:cNvSpPr/>
          <p:nvPr/>
        </p:nvSpPr>
        <p:spPr>
          <a:xfrm>
            <a:off x="930536" y="34732857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/>
            <a:r>
              <a:rPr sz="4800" dirty="0">
                <a:solidFill>
                  <a:srgbClr val="2F3033"/>
                </a:solidFill>
                <a:latin typeface="ShellHeavy" panose="00000700000000000000" pitchFamily="2" charset="0"/>
              </a:rPr>
              <a:t>KEY LEARNINGS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6363300-697E-6FC0-ABDB-43FEAF4CC5BE}"/>
              </a:ext>
            </a:extLst>
          </p:cNvPr>
          <p:cNvSpPr/>
          <p:nvPr/>
        </p:nvSpPr>
        <p:spPr>
          <a:xfrm>
            <a:off x="930536" y="35857569"/>
            <a:ext cx="28620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FC086EC-6068-956A-B2BF-CA22A4CEAE87}"/>
              </a:ext>
            </a:extLst>
          </p:cNvPr>
          <p:cNvSpPr/>
          <p:nvPr/>
        </p:nvSpPr>
        <p:spPr>
          <a:xfrm>
            <a:off x="1250576" y="36141033"/>
            <a:ext cx="868680" cy="868680"/>
          </a:xfrm>
          <a:prstGeom prst="rect">
            <a:avLst/>
          </a:prstGeom>
          <a:solidFill>
            <a:srgbClr val="D9D9D9"/>
          </a:solidFill>
          <a:ln>
            <a:solidFill>
              <a:srgbClr val="A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F80"/>
                </a:solidFill>
                <a:latin typeface="Aptos Display"/>
              </a:rPr>
              <a:t>1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700D8AAD-860A-D6D9-B65E-D08B1C0C67A7}"/>
              </a:ext>
            </a:extLst>
          </p:cNvPr>
          <p:cNvSpPr txBox="1"/>
          <p:nvPr/>
        </p:nvSpPr>
        <p:spPr>
          <a:xfrm>
            <a:off x="2439296" y="36201470"/>
            <a:ext cx="264261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4800" b="1" dirty="0">
                <a:solidFill>
                  <a:srgbClr val="2F3033"/>
                </a:solidFill>
                <a:latin typeface="Aptos" panose="020B0004020202020204" pitchFamily="34" charset="0"/>
              </a:rPr>
              <a:t>MAKE DATA DECISION-READY</a:t>
            </a:r>
            <a:r>
              <a:rPr lang="en-GB" sz="4800" b="1" dirty="0">
                <a:solidFill>
                  <a:srgbClr val="5A5A5A"/>
                </a:solidFill>
                <a:latin typeface="Aptos" panose="020B0004020202020204" pitchFamily="34" charset="0"/>
              </a:rPr>
              <a:t>- </a:t>
            </a:r>
            <a:r>
              <a:rPr lang="en-GB" sz="4800" dirty="0">
                <a:solidFill>
                  <a:srgbClr val="2F3033"/>
                </a:solidFill>
                <a:latin typeface="Aptos" panose="020B0004020202020204" pitchFamily="34" charset="0"/>
              </a:rPr>
              <a:t>Data-backed decisions require the “right” data, readily accessible  </a:t>
            </a:r>
            <a:endParaRPr sz="4800" dirty="0">
              <a:solidFill>
                <a:srgbClr val="5A5A5A"/>
              </a:solidFill>
              <a:latin typeface="Aptos" panose="020B0004020202020204" pitchFamily="34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F83D2D0-0F5C-021F-9EBF-04459B3820C9}"/>
              </a:ext>
            </a:extLst>
          </p:cNvPr>
          <p:cNvSpPr/>
          <p:nvPr/>
        </p:nvSpPr>
        <p:spPr>
          <a:xfrm>
            <a:off x="930536" y="37439481"/>
            <a:ext cx="28620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765B5C6F-65A5-8ABC-5A96-8F54AD9ADEB2}"/>
              </a:ext>
            </a:extLst>
          </p:cNvPr>
          <p:cNvSpPr/>
          <p:nvPr/>
        </p:nvSpPr>
        <p:spPr>
          <a:xfrm>
            <a:off x="1250576" y="37722945"/>
            <a:ext cx="868680" cy="868680"/>
          </a:xfrm>
          <a:prstGeom prst="rect">
            <a:avLst/>
          </a:prstGeom>
          <a:solidFill>
            <a:srgbClr val="D9D9D9"/>
          </a:solidFill>
          <a:ln>
            <a:solidFill>
              <a:srgbClr val="A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F80"/>
                </a:solidFill>
                <a:latin typeface="Aptos Display"/>
              </a:rPr>
              <a:t>2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873B0EFB-3F62-4312-1775-27316D30FA1A}"/>
              </a:ext>
            </a:extLst>
          </p:cNvPr>
          <p:cNvSpPr txBox="1"/>
          <p:nvPr/>
        </p:nvSpPr>
        <p:spPr>
          <a:xfrm>
            <a:off x="2439296" y="37783383"/>
            <a:ext cx="27164404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4800" b="1" dirty="0">
                <a:solidFill>
                  <a:srgbClr val="2F3033"/>
                </a:solidFill>
                <a:latin typeface="Aptos" panose="020B0004020202020204" pitchFamily="34" charset="0"/>
              </a:rPr>
              <a:t>CHANGE IS A JOURNEY -  </a:t>
            </a:r>
            <a:r>
              <a:rPr lang="en-US" sz="4800" dirty="0">
                <a:solidFill>
                  <a:srgbClr val="2F3033"/>
                </a:solidFill>
                <a:latin typeface="Aptos" panose="020B0004020202020204" pitchFamily="34" charset="0"/>
              </a:rPr>
              <a:t>Empathy, persistence, common language &amp; a clear framework are key</a:t>
            </a:r>
            <a:endParaRPr sz="4800" dirty="0">
              <a:solidFill>
                <a:srgbClr val="5A5A5A"/>
              </a:solidFill>
              <a:latin typeface="Aptos" panose="020B00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529C0CB-77A0-9121-29E5-BDEA6AE7B68A}"/>
              </a:ext>
            </a:extLst>
          </p:cNvPr>
          <p:cNvSpPr/>
          <p:nvPr/>
        </p:nvSpPr>
        <p:spPr>
          <a:xfrm>
            <a:off x="930536" y="39021392"/>
            <a:ext cx="28620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1B1C1B47-67B4-287B-781F-77E02577E6AE}"/>
              </a:ext>
            </a:extLst>
          </p:cNvPr>
          <p:cNvSpPr/>
          <p:nvPr/>
        </p:nvSpPr>
        <p:spPr>
          <a:xfrm>
            <a:off x="1250576" y="39304856"/>
            <a:ext cx="868680" cy="868680"/>
          </a:xfrm>
          <a:prstGeom prst="rect">
            <a:avLst/>
          </a:prstGeom>
          <a:solidFill>
            <a:srgbClr val="D9D9D9"/>
          </a:solidFill>
          <a:ln>
            <a:solidFill>
              <a:srgbClr val="A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F80"/>
                </a:solidFill>
                <a:latin typeface="Aptos Display"/>
              </a:rPr>
              <a:t>3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4AABA4A-6C4A-98EA-B71C-2125BE605B7E}"/>
              </a:ext>
            </a:extLst>
          </p:cNvPr>
          <p:cNvSpPr txBox="1"/>
          <p:nvPr/>
        </p:nvSpPr>
        <p:spPr>
          <a:xfrm>
            <a:off x="2439296" y="39365293"/>
            <a:ext cx="264261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2F3033"/>
                </a:solidFill>
                <a:latin typeface="Aptos" panose="020B0004020202020204" pitchFamily="34" charset="0"/>
              </a:rPr>
              <a:t>BUILD A SUSTAINABLE SOLUTION -  </a:t>
            </a:r>
            <a:r>
              <a:rPr lang="en-US" sz="4800" dirty="0">
                <a:solidFill>
                  <a:srgbClr val="2F3033"/>
                </a:solidFill>
                <a:latin typeface="Aptos" panose="020B0004020202020204" pitchFamily="34" charset="0"/>
              </a:rPr>
              <a:t>with tools easy to handover to the business</a:t>
            </a:r>
            <a:endParaRPr sz="4800" dirty="0">
              <a:solidFill>
                <a:srgbClr val="5A5A5A"/>
              </a:solidFill>
              <a:latin typeface="Aptos" panose="020B0004020202020204" pitchFamily="34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CF3A215F-D332-D269-F566-E0861E9F052D}"/>
              </a:ext>
            </a:extLst>
          </p:cNvPr>
          <p:cNvSpPr/>
          <p:nvPr/>
        </p:nvSpPr>
        <p:spPr>
          <a:xfrm>
            <a:off x="20646390" y="15312562"/>
            <a:ext cx="9166860" cy="1133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lnSpc>
                <a:spcPct val="90000"/>
              </a:lnSpc>
            </a:pPr>
            <a:r>
              <a:rPr lang="en-US" sz="3600" b="0" dirty="0">
                <a:solidFill>
                  <a:srgbClr val="2F3033"/>
                </a:solidFill>
                <a:latin typeface="Aptos"/>
              </a:rPr>
              <a:t>Demand decline, Consolidation, PE penetration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42&quot;/&gt;&lt;CPresentation id=&quot;1&quot;&gt;&lt;m_precDefaultOrdinal&gt;&lt;m_yearfmt&gt;&lt;begin val=&quot;0&quot;/&gt;&lt;end val=&quot;4&quot;/&gt;&lt;/m_yearfmt&gt;&lt;/m_precDefaultOrdinal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00&quot; g=&quot;2F&quot; b=&quot;80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wFIicDD6ZehEtkShYGE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AjVeYrrInuoIRIAP16o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m7Q9ag3CQIEdjZar5AP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.nuDdV2Pmry4Rr_Pem9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LbgrfnmORHGYVeVgC_b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D7K4Zdn9eTl_oii6HSSQ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5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</TermName>
          <TermId xmlns="http://schemas.microsoft.com/office/infopath/2007/PartnerControls">e4bc29b2-6e76-48cc-b090-8b544c0802ae</TermId>
        </TermInfo>
      </Terms>
    </ice2f7984e9548f9a31773f854109466>
    <_dlc_DocId xmlns="5fe9d420-80f7-4ada-bee1-a7a60088c9b2">UXD4DQ5FARXZ-1534890728-29</_dlc_DocId>
    <_dlc_DocIdUrl xmlns="5fe9d420-80f7-4ada-bee1-a7a60088c9b2">
      <Url>https://eu001-sp.shell.com/sites/SPO002395/_layouts/15/DocIdRedir.aspx?ID=UXD4DQ5FARXZ-1534890728-29</Url>
      <Description>UXD4DQ5FARXZ-1534890728-29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E002A-7645-46A2-8C4A-738EDFAA7ED3}">
  <ds:schemaRefs>
    <ds:schemaRef ds:uri="http://purl.org/dc/dcmitype/"/>
    <ds:schemaRef ds:uri="http://www.w3.org/XML/1998/namespace"/>
    <ds:schemaRef ds:uri="http://schemas.microsoft.com/office/infopath/2007/PartnerControls"/>
    <ds:schemaRef ds:uri="67a4d270-2e9e-45ec-b53e-707b7cbfe7c3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c642a6ca-8515-4142-b4ce-183d01f224d8"/>
    <ds:schemaRef ds:uri="http://purl.org/dc/elements/1.1/"/>
    <ds:schemaRef ds:uri="5fe9d420-80f7-4ada-bee1-a7a60088c9b2"/>
  </ds:schemaRefs>
</ds:datastoreItem>
</file>

<file path=customXml/itemProps3.xml><?xml version="1.0" encoding="utf-8"?>
<ds:datastoreItem xmlns:ds="http://schemas.openxmlformats.org/officeDocument/2006/customXml" ds:itemID="{E11FD44A-3560-48B9-A6ED-688E0F990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fe9d420-80f7-4ada-bee1-a7a60088c9b2"/>
    <ds:schemaRef ds:uri="d897dab9-547b-4d8a-9e98-e2c84c4ab1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CFBDA65-7E30-4663-A790-25B17281558A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350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Futura Medium</vt:lpstr>
      <vt:lpstr>ShellHeavy</vt:lpstr>
      <vt:lpstr>Wingdings</vt:lpstr>
      <vt:lpstr>Arial</vt:lpstr>
      <vt:lpstr>Aptos Display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Caravan - Data-backed portfolio high-grading</dc:title>
  <dc:subject>Shaping Group Direction poster for SCA Global Team F2F 2026</dc:subject>
  <dc:creator>Emanuela Negro; Susannah Stott</dc:creator>
  <cp:keywords>Caravan; SCA; Shaping Group Direction; portfolio high-grading</cp:keywords>
  <dc:description>Potential benefits are rounded and based on the July 2026 Caravan strategy review.</dc:description>
  <cp:lastModifiedBy>Negro, Emanuela SIBV-FR/P/R</cp:lastModifiedBy>
  <cp:revision>527</cp:revision>
  <cp:lastPrinted>2017-04-25T09:06:38Z</cp:lastPrinted>
  <dcterms:created xsi:type="dcterms:W3CDTF">2009-11-25T14:32:06Z</dcterms:created>
  <dcterms:modified xsi:type="dcterms:W3CDTF">2026-09-01T14:19:26Z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4063e04d-21d1-4ccc-a042-057c4cbead92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5;#Confidential|e4bc29b2-6e76-48cc-b090-8b544c0802ae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