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2" r:id="rId5"/>
  </p:sldIdLst>
  <p:sldSz cx="30275213" cy="42803763"/>
  <p:notesSz cx="9926638" cy="14355763"/>
  <p:embeddedFontLst>
    <p:embeddedFont>
      <p:font typeface="Futura Medium" panose="00000800000000000000"/>
      <p:regular r:id="rId8"/>
      <p:bold r:id="rId9"/>
      <p:italic r:id="rId10"/>
      <p:boldItalic r:id="rId11"/>
    </p:embeddedFont>
    <p:embeddedFont>
      <p:font typeface="ShellBook" panose="00000500000000000000" pitchFamily="2" charset="0"/>
      <p:regular r:id="rId12"/>
    </p:embeddedFont>
    <p:embeddedFont>
      <p:font typeface="ShellMedium" panose="00000600000000000000" pitchFamily="2" charset="0"/>
      <p:regular r:id="rId13"/>
    </p:embeddedFont>
  </p:embeddedFontLst>
  <p:defaultTextStyle>
    <a:defPPr>
      <a:defRPr lang="en-US"/>
    </a:defPPr>
    <a:lvl1pPr marL="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1pPr>
    <a:lvl2pPr marL="2338487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2pPr>
    <a:lvl3pPr marL="467697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3pPr>
    <a:lvl4pPr marL="701546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4pPr>
    <a:lvl5pPr marL="935394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5pPr>
    <a:lvl6pPr marL="1169243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98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orient="horz" pos="5143" userDrawn="1">
          <p15:clr>
            <a:srgbClr val="A4A3A4"/>
          </p15:clr>
        </p15:guide>
        <p15:guide id="4" orient="horz" pos="2938" userDrawn="1">
          <p15:clr>
            <a:srgbClr val="A4A3A4"/>
          </p15:clr>
        </p15:guide>
        <p15:guide id="5" orient="horz" pos="25141" userDrawn="1">
          <p15:clr>
            <a:srgbClr val="A4A3A4"/>
          </p15:clr>
        </p15:guide>
        <p15:guide id="6" orient="horz" pos="13074" userDrawn="1">
          <p15:clr>
            <a:srgbClr val="A4A3A4"/>
          </p15:clr>
        </p15:guide>
        <p15:guide id="7" pos="18098" userDrawn="1">
          <p15:clr>
            <a:srgbClr val="A4A3A4"/>
          </p15:clr>
        </p15:guide>
        <p15:guide id="8" pos="9244" userDrawn="1">
          <p15:clr>
            <a:srgbClr val="A4A3A4"/>
          </p15:clr>
        </p15:guide>
        <p15:guide id="9" pos="977" userDrawn="1">
          <p15:clr>
            <a:srgbClr val="A4A3A4"/>
          </p15:clr>
        </p15:guide>
        <p15:guide id="10" pos="98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22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0727A67-5409-5CA0-3A79-590A046B581C}" name="van der Meer, Thomas J SIBV-FR/P/S" initials="Tv" userId="S::Thomas.T.vanderMeer@shell.com::11c385e0-b285-4dc8-a23d-1c0162111c77" providerId="AD"/>
  <p188:author id="{9F329FA1-AD9C-09B7-2216-16D50100B03A}" name="Parmar, Chirag SI-FR/P" initials="CP" userId="S::Chirag.Parmar@shell.com::d5aa5a06-4e86-4b31-954e-c30d7693b0e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D117"/>
    <a:srgbClr val="D42E12"/>
    <a:srgbClr val="8FD1E3"/>
    <a:srgbClr val="FFEECA"/>
    <a:srgbClr val="F49600"/>
    <a:srgbClr val="FFFFFF"/>
    <a:srgbClr val="CCE9DB"/>
    <a:srgbClr val="99CDB7"/>
    <a:srgbClr val="66B492"/>
    <a:srgbClr val="339B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322" autoAdjust="0"/>
    <p:restoredTop sz="97386" autoAdjust="0"/>
  </p:normalViewPr>
  <p:slideViewPr>
    <p:cSldViewPr snapToGrid="0" showGuides="1">
      <p:cViewPr varScale="1">
        <p:scale>
          <a:sx n="13" d="100"/>
          <a:sy n="13" d="100"/>
        </p:scale>
        <p:origin x="2102" y="154"/>
      </p:cViewPr>
      <p:guideLst>
        <p:guide orient="horz" pos="25998"/>
        <p:guide orient="horz" pos="890"/>
        <p:guide orient="horz" pos="5143"/>
        <p:guide orient="horz" pos="2938"/>
        <p:guide orient="horz" pos="25141"/>
        <p:guide orient="horz" pos="13074"/>
        <p:guide pos="18098"/>
        <p:guide pos="9244"/>
        <p:guide pos="977"/>
        <p:guide pos="98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3" d="100"/>
        <a:sy n="53" d="100"/>
      </p:scale>
      <p:origin x="0" y="0"/>
    </p:cViewPr>
  </p:sorterViewPr>
  <p:notesViewPr>
    <p:cSldViewPr snapToGrid="0" showGuides="1">
      <p:cViewPr varScale="1">
        <p:scale>
          <a:sx n="59" d="100"/>
          <a:sy n="59" d="100"/>
        </p:scale>
        <p:origin x="4195" y="77"/>
      </p:cViewPr>
      <p:guideLst>
        <p:guide orient="horz" pos="4522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openxmlformats.org/officeDocument/2006/relationships/customXml" Target="../customXml/item4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 der Meer, Thomas J SIBV-FR/P/S" userId="11c385e0-b285-4dc8-a23d-1c0162111c77" providerId="ADAL" clId="{DFEC1F9E-F7C2-4872-9F47-30DFEE5A0CF3}"/>
    <pc:docChg chg="undo redo custSel delSld modSld addSection delSection modSection">
      <pc:chgData name="van der Meer, Thomas J SIBV-FR/P/S" userId="11c385e0-b285-4dc8-a23d-1c0162111c77" providerId="ADAL" clId="{DFEC1F9E-F7C2-4872-9F47-30DFEE5A0CF3}" dt="2026-08-31T07:45:56.886" v="54" actId="20577"/>
      <pc:docMkLst>
        <pc:docMk/>
      </pc:docMkLst>
      <pc:sldChg chg="del">
        <pc:chgData name="van der Meer, Thomas J SIBV-FR/P/S" userId="11c385e0-b285-4dc8-a23d-1c0162111c77" providerId="ADAL" clId="{DFEC1F9E-F7C2-4872-9F47-30DFEE5A0CF3}" dt="2026-08-31T07:25:40.083" v="0" actId="47"/>
        <pc:sldMkLst>
          <pc:docMk/>
          <pc:sldMk cId="0" sldId="256"/>
        </pc:sldMkLst>
      </pc:sldChg>
      <pc:sldChg chg="del">
        <pc:chgData name="van der Meer, Thomas J SIBV-FR/P/S" userId="11c385e0-b285-4dc8-a23d-1c0162111c77" providerId="ADAL" clId="{DFEC1F9E-F7C2-4872-9F47-30DFEE5A0CF3}" dt="2026-08-31T07:25:40.083" v="0" actId="47"/>
        <pc:sldMkLst>
          <pc:docMk/>
          <pc:sldMk cId="3923660313" sldId="257"/>
        </pc:sldMkLst>
      </pc:sldChg>
      <pc:sldChg chg="del">
        <pc:chgData name="van der Meer, Thomas J SIBV-FR/P/S" userId="11c385e0-b285-4dc8-a23d-1c0162111c77" providerId="ADAL" clId="{DFEC1F9E-F7C2-4872-9F47-30DFEE5A0CF3}" dt="2026-08-31T07:25:40.083" v="0" actId="47"/>
        <pc:sldMkLst>
          <pc:docMk/>
          <pc:sldMk cId="837965678" sldId="258"/>
        </pc:sldMkLst>
      </pc:sldChg>
      <pc:sldChg chg="del">
        <pc:chgData name="van der Meer, Thomas J SIBV-FR/P/S" userId="11c385e0-b285-4dc8-a23d-1c0162111c77" providerId="ADAL" clId="{DFEC1F9E-F7C2-4872-9F47-30DFEE5A0CF3}" dt="2026-08-31T07:25:40.083" v="0" actId="47"/>
        <pc:sldMkLst>
          <pc:docMk/>
          <pc:sldMk cId="3436824667" sldId="261"/>
        </pc:sldMkLst>
      </pc:sldChg>
      <pc:sldChg chg="modSp mod">
        <pc:chgData name="van der Meer, Thomas J SIBV-FR/P/S" userId="11c385e0-b285-4dc8-a23d-1c0162111c77" providerId="ADAL" clId="{DFEC1F9E-F7C2-4872-9F47-30DFEE5A0CF3}" dt="2026-08-31T07:45:56.886" v="54" actId="20577"/>
        <pc:sldMkLst>
          <pc:docMk/>
          <pc:sldMk cId="4130696236" sldId="262"/>
        </pc:sldMkLst>
        <pc:spChg chg="mod">
          <ac:chgData name="van der Meer, Thomas J SIBV-FR/P/S" userId="11c385e0-b285-4dc8-a23d-1c0162111c77" providerId="ADAL" clId="{DFEC1F9E-F7C2-4872-9F47-30DFEE5A0CF3}" dt="2026-08-31T07:45:56.886" v="54" actId="20577"/>
          <ac:spMkLst>
            <pc:docMk/>
            <pc:sldMk cId="4130696236" sldId="262"/>
            <ac:spMk id="93" creationId="{75A091E8-00DD-CF2E-9371-1C0B2A5759AE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oleObject3.bin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Thomas.Akkerhuis\Working%20directory\ETS27%20WS1%20compendium\ETS27-WS1%20compendium\Main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538683574879226"/>
          <c:y val="6.295275750202757E-2"/>
          <c:w val="0.68342185990338167"/>
          <c:h val="0.49140916463909162"/>
        </c:manualLayout>
      </c:layout>
      <c:areaChart>
        <c:grouping val="stacked"/>
        <c:varyColors val="0"/>
        <c:ser>
          <c:idx val="1"/>
          <c:order val="1"/>
          <c:tx>
            <c:strRef>
              <c:f>'3'!$E$131</c:f>
              <c:strCache>
                <c:ptCount val="1"/>
                <c:pt idx="0">
                  <c:v>Invisible wedge</c:v>
                </c:pt>
              </c:strCache>
            </c:strRef>
          </c:tx>
          <c:spPr>
            <a:noFill/>
            <a:ln>
              <a:noFill/>
            </a:ln>
          </c:spPr>
          <c:cat>
            <c:numRef>
              <c:f>'3'!$F$128:$AT$128</c:f>
              <c:numCache>
                <c:formatCode>General</c:formatCod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numCache>
            </c:numRef>
          </c:cat>
          <c:val>
            <c:numRef>
              <c:f>'3'!$F$131:$AT$131</c:f>
              <c:numCache>
                <c:formatCode>General</c:formatCode>
                <c:ptCount val="41"/>
                <c:pt idx="15" formatCode="#,##0">
                  <c:v>345.89185697684968</c:v>
                </c:pt>
                <c:pt idx="16" formatCode="#,##0">
                  <c:v>350.04115250559886</c:v>
                </c:pt>
                <c:pt idx="17" formatCode="#,##0">
                  <c:v>352.8068477236904</c:v>
                </c:pt>
                <c:pt idx="18" formatCode="#,##0">
                  <c:v>354.22118567145071</c:v>
                </c:pt>
                <c:pt idx="19" formatCode="#,##0">
                  <c:v>355.66999433773651</c:v>
                </c:pt>
                <c:pt idx="20" formatCode="#,##0">
                  <c:v>357.32072274029434</c:v>
                </c:pt>
                <c:pt idx="21" formatCode="#,##0">
                  <c:v>359.27369610587573</c:v>
                </c:pt>
                <c:pt idx="22" formatCode="#,##0">
                  <c:v>361.18508732114458</c:v>
                </c:pt>
                <c:pt idx="23" formatCode="#,##0">
                  <c:v>362.75222499893425</c:v>
                </c:pt>
                <c:pt idx="24" formatCode="#,##0">
                  <c:v>363.92358298636293</c:v>
                </c:pt>
                <c:pt idx="25" formatCode="#,##0">
                  <c:v>364.72575241745756</c:v>
                </c:pt>
                <c:pt idx="26" formatCode="#,##0">
                  <c:v>365.14326883954271</c:v>
                </c:pt>
                <c:pt idx="27" formatCode="#,##0">
                  <c:v>365.0295662462263</c:v>
                </c:pt>
                <c:pt idx="28" formatCode="#,##0">
                  <c:v>364.12678688157155</c:v>
                </c:pt>
                <c:pt idx="29" formatCode="#,##0">
                  <c:v>362.92872790114643</c:v>
                </c:pt>
                <c:pt idx="30" formatCode="#,##0">
                  <c:v>361.34281634367039</c:v>
                </c:pt>
                <c:pt idx="31" formatCode="#,##0">
                  <c:v>359.16694199603404</c:v>
                </c:pt>
                <c:pt idx="32" formatCode="#,##0">
                  <c:v>356.47376572775636</c:v>
                </c:pt>
                <c:pt idx="33" formatCode="#,##0">
                  <c:v>353.25874789904873</c:v>
                </c:pt>
                <c:pt idx="34" formatCode="#,##0">
                  <c:v>349.61049879447626</c:v>
                </c:pt>
                <c:pt idx="35" formatCode="#,##0">
                  <c:v>345.54909518317606</c:v>
                </c:pt>
                <c:pt idx="36" formatCode="#,##0">
                  <c:v>341.05095672464358</c:v>
                </c:pt>
                <c:pt idx="37" formatCode="#,##0">
                  <c:v>336.41410328702341</c:v>
                </c:pt>
                <c:pt idx="38" formatCode="#,##0">
                  <c:v>331.64696761317151</c:v>
                </c:pt>
                <c:pt idx="39" formatCode="#,##0">
                  <c:v>326.84577513917367</c:v>
                </c:pt>
                <c:pt idx="40" formatCode="#,##0">
                  <c:v>322.03887379382286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3D-4EC5-B799-491227E628DE}"/>
            </c:ext>
          </c:extLst>
        </c:ser>
        <c:ser>
          <c:idx val="2"/>
          <c:order val="2"/>
          <c:tx>
            <c:strRef>
              <c:f>'3'!$E$132</c:f>
              <c:strCache>
                <c:ptCount val="1"/>
                <c:pt idx="0">
                  <c:v>Shell</c:v>
                </c:pt>
              </c:strCache>
            </c:strRef>
          </c:tx>
          <c:spPr>
            <a:solidFill>
              <a:srgbClr val="CC0000">
                <a:alpha val="50000"/>
              </a:srgbClr>
            </a:solidFill>
            <a:ln>
              <a:noFill/>
            </a:ln>
          </c:spPr>
          <c:cat>
            <c:numRef>
              <c:f>'3'!$F$128:$AT$128</c:f>
              <c:numCache>
                <c:formatCode>General</c:formatCod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numCache>
            </c:numRef>
          </c:cat>
          <c:val>
            <c:numRef>
              <c:f>'3'!$F$132:$AT$132</c:f>
              <c:numCache>
                <c:formatCode>General</c:formatCode>
                <c:ptCount val="41"/>
                <c:pt idx="15" formatCode="#,##0">
                  <c:v>0</c:v>
                </c:pt>
                <c:pt idx="16" formatCode="#,##0">
                  <c:v>0.13031282337027505</c:v>
                </c:pt>
                <c:pt idx="17" formatCode="#,##0">
                  <c:v>1.2383277295724042</c:v>
                </c:pt>
                <c:pt idx="18" formatCode="#,##0">
                  <c:v>3.1875134680182668</c:v>
                </c:pt>
                <c:pt idx="19" formatCode="#,##0">
                  <c:v>4.4657924054988598</c:v>
                </c:pt>
                <c:pt idx="20" formatCode="#,##0">
                  <c:v>4.9842175814784468</c:v>
                </c:pt>
                <c:pt idx="21" formatCode="#,##0">
                  <c:v>4.3627478622086642</c:v>
                </c:pt>
                <c:pt idx="22" formatCode="#,##0">
                  <c:v>3.2367695877293272</c:v>
                </c:pt>
                <c:pt idx="23" formatCode="#,##0">
                  <c:v>2.1198285906181695</c:v>
                </c:pt>
                <c:pt idx="24" formatCode="#,##0">
                  <c:v>1.2630356833657288</c:v>
                </c:pt>
                <c:pt idx="25" formatCode="#,##0">
                  <c:v>0.89029559826565219</c:v>
                </c:pt>
                <c:pt idx="26" formatCode="#,##0">
                  <c:v>0.42493593764703519</c:v>
                </c:pt>
                <c:pt idx="27" formatCode="#,##0">
                  <c:v>0.28334367810094818</c:v>
                </c:pt>
                <c:pt idx="28" formatCode="#,##0">
                  <c:v>1.5786279635946698</c:v>
                </c:pt>
                <c:pt idx="29" formatCode="#,##0">
                  <c:v>2.5893349421669427</c:v>
                </c:pt>
                <c:pt idx="30" formatCode="#,##0">
                  <c:v>3.6383862115264378</c:v>
                </c:pt>
                <c:pt idx="31" formatCode="#,##0">
                  <c:v>5.2486204613476843</c:v>
                </c:pt>
                <c:pt idx="32" formatCode="#,##0">
                  <c:v>6.8465927078719346</c:v>
                </c:pt>
                <c:pt idx="33" formatCode="#,##0">
                  <c:v>8.584952747201271</c:v>
                </c:pt>
                <c:pt idx="34" formatCode="#,##0">
                  <c:v>10.433512343194025</c:v>
                </c:pt>
                <c:pt idx="35" formatCode="#,##0">
                  <c:v>12.412099557682495</c:v>
                </c:pt>
                <c:pt idx="36" formatCode="#,##0">
                  <c:v>14.466459002113368</c:v>
                </c:pt>
                <c:pt idx="37" formatCode="#,##0">
                  <c:v>16.516793495092429</c:v>
                </c:pt>
                <c:pt idx="38" formatCode="#,##0">
                  <c:v>18.424369455891508</c:v>
                </c:pt>
                <c:pt idx="39" formatCode="#,##0">
                  <c:v>20.057262501287596</c:v>
                </c:pt>
                <c:pt idx="40" formatCode="#,##0">
                  <c:v>21.522776819867431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3D-4EC5-B799-491227E628DE}"/>
            </c:ext>
          </c:extLst>
        </c:ser>
        <c:ser>
          <c:idx val="3"/>
          <c:order val="3"/>
          <c:tx>
            <c:strRef>
              <c:f>'3'!$E$133</c:f>
              <c:strCache>
                <c:ptCount val="1"/>
                <c:pt idx="0">
                  <c:v>Invisible Wedge</c:v>
                </c:pt>
              </c:strCache>
            </c:strRef>
          </c:tx>
          <c:spPr>
            <a:noFill/>
            <a:ln>
              <a:noFill/>
            </a:ln>
          </c:spPr>
          <c:cat>
            <c:numRef>
              <c:f>'3'!$F$128:$AT$128</c:f>
              <c:numCache>
                <c:formatCode>General</c:formatCod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numCache>
            </c:numRef>
          </c:cat>
          <c:val>
            <c:numRef>
              <c:f>'3'!$F$133:$AT$133</c:f>
              <c:numCache>
                <c:formatCode>General</c:formatCode>
                <c:ptCount val="41"/>
                <c:pt idx="15" formatCode="#,##0">
                  <c:v>-3.4373115223042419</c:v>
                </c:pt>
                <c:pt idx="16" formatCode="#,##0">
                  <c:v>-6.262374419878256</c:v>
                </c:pt>
                <c:pt idx="17" formatCode="#,##0">
                  <c:v>-8.681539089626483</c:v>
                </c:pt>
                <c:pt idx="18" formatCode="#,##0">
                  <c:v>-10.590517321287223</c:v>
                </c:pt>
                <c:pt idx="19" formatCode="#,##0">
                  <c:v>-11.863059470508176</c:v>
                </c:pt>
                <c:pt idx="20" formatCode="#,##0">
                  <c:v>-12.577667594500156</c:v>
                </c:pt>
                <c:pt idx="21" formatCode="#,##0">
                  <c:v>-12.45462578626632</c:v>
                </c:pt>
                <c:pt idx="22" formatCode="#,##0">
                  <c:v>-11.785493272510394</c:v>
                </c:pt>
                <c:pt idx="23" formatCode="#,##0">
                  <c:v>-10.781144498643471</c:v>
                </c:pt>
                <c:pt idx="24" formatCode="#,##0">
                  <c:v>-9.6411641242742689</c:v>
                </c:pt>
                <c:pt idx="25" formatCode="#,##0">
                  <c:v>-8.6160480157232087</c:v>
                </c:pt>
                <c:pt idx="26" formatCode="#,##0">
                  <c:v>-9.5682047771897487</c:v>
                </c:pt>
                <c:pt idx="27" formatCode="#,##0">
                  <c:v>-10.312909924327244</c:v>
                </c:pt>
                <c:pt idx="28" formatCode="#,##0">
                  <c:v>-11.705414845166217</c:v>
                </c:pt>
                <c:pt idx="29" formatCode="#,##0">
                  <c:v>-12.518062843313373</c:v>
                </c:pt>
                <c:pt idx="30" formatCode="#,##0">
                  <c:v>-12.98120255519683</c:v>
                </c:pt>
                <c:pt idx="31" formatCode="#,##0">
                  <c:v>-13.015562457381748</c:v>
                </c:pt>
                <c:pt idx="32" formatCode="#,##0">
                  <c:v>-12.520358435628339</c:v>
                </c:pt>
                <c:pt idx="33" formatCode="#,##0">
                  <c:v>-11.643700646250068</c:v>
                </c:pt>
                <c:pt idx="34" formatCode="#,##0">
                  <c:v>-10.444011137670373</c:v>
                </c:pt>
                <c:pt idx="35" formatCode="#,##0">
                  <c:v>-8.9611947408585593</c:v>
                </c:pt>
                <c:pt idx="36" formatCode="#,##0">
                  <c:v>-7.3174157267569626</c:v>
                </c:pt>
                <c:pt idx="37" formatCode="#,##0">
                  <c:v>-5.5308967821158603</c:v>
                </c:pt>
                <c:pt idx="38" formatCode="#,##0">
                  <c:v>-3.4713370690630541</c:v>
                </c:pt>
                <c:pt idx="39" formatCode="#,##0">
                  <c:v>-1.1030376404613094</c:v>
                </c:pt>
                <c:pt idx="40" formatCode="#,##0">
                  <c:v>1.4383493863097101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23D-4EC5-B799-491227E628DE}"/>
            </c:ext>
          </c:extLst>
        </c:ser>
        <c:ser>
          <c:idx val="4"/>
          <c:order val="4"/>
          <c:tx>
            <c:strRef>
              <c:f>'3'!$E$134</c:f>
              <c:strCache>
                <c:ptCount val="1"/>
                <c:pt idx="0">
                  <c:v>IEA (SPS and CPS)</c:v>
                </c:pt>
              </c:strCache>
            </c:strRef>
          </c:tx>
          <c:spPr>
            <a:solidFill>
              <a:srgbClr val="FFCC00">
                <a:alpha val="50000"/>
              </a:srgbClr>
            </a:solidFill>
            <a:ln w="12700">
              <a:noFill/>
            </a:ln>
          </c:spPr>
          <c:cat>
            <c:numRef>
              <c:f>'3'!$F$128:$AT$128</c:f>
              <c:numCache>
                <c:formatCode>General</c:formatCod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numCache>
            </c:numRef>
          </c:cat>
          <c:val>
            <c:numRef>
              <c:f>'3'!$F$134:$AT$134</c:f>
              <c:numCache>
                <c:formatCode>General</c:formatCode>
                <c:ptCount val="41"/>
                <c:pt idx="15" formatCode="#,##0">
                  <c:v>1.7272727272727479</c:v>
                </c:pt>
                <c:pt idx="16" formatCode="#,##0">
                  <c:v>3.4545454545454959</c:v>
                </c:pt>
                <c:pt idx="17" formatCode="#,##0">
                  <c:v>5.1818181818182438</c:v>
                </c:pt>
                <c:pt idx="18" formatCode="#,##0">
                  <c:v>6.9090909090909918</c:v>
                </c:pt>
                <c:pt idx="19" formatCode="#,##0">
                  <c:v>8.6363636363637397</c:v>
                </c:pt>
                <c:pt idx="20" formatCode="#,##0">
                  <c:v>10.363636363636488</c:v>
                </c:pt>
                <c:pt idx="21" formatCode="#,##0">
                  <c:v>12.090909090909236</c:v>
                </c:pt>
                <c:pt idx="22" formatCode="#,##0">
                  <c:v>13.818181818181984</c:v>
                </c:pt>
                <c:pt idx="23" formatCode="#,##0">
                  <c:v>15.545454545454731</c:v>
                </c:pt>
                <c:pt idx="24" formatCode="#,##0">
                  <c:v>17.272727272727479</c:v>
                </c:pt>
                <c:pt idx="25" formatCode="#,##0">
                  <c:v>19</c:v>
                </c:pt>
                <c:pt idx="26" formatCode="#,##0">
                  <c:v>22</c:v>
                </c:pt>
                <c:pt idx="27" formatCode="#,##0">
                  <c:v>25</c:v>
                </c:pt>
                <c:pt idx="28" formatCode="#,##0">
                  <c:v>28</c:v>
                </c:pt>
                <c:pt idx="29" formatCode="#,##0">
                  <c:v>31</c:v>
                </c:pt>
                <c:pt idx="30" formatCode="#,##0">
                  <c:v>34</c:v>
                </c:pt>
                <c:pt idx="31" formatCode="#,##0">
                  <c:v>36.800000000000011</c:v>
                </c:pt>
                <c:pt idx="32" formatCode="#,##0">
                  <c:v>39.600000000000023</c:v>
                </c:pt>
                <c:pt idx="33" formatCode="#,##0">
                  <c:v>42.400000000000034</c:v>
                </c:pt>
                <c:pt idx="34" formatCode="#,##0">
                  <c:v>45.200000000000045</c:v>
                </c:pt>
                <c:pt idx="35" formatCode="#,##0">
                  <c:v>48</c:v>
                </c:pt>
                <c:pt idx="36" formatCode="#,##0">
                  <c:v>51.199999999999989</c:v>
                </c:pt>
                <c:pt idx="37" formatCode="#,##0">
                  <c:v>54.399999999999977</c:v>
                </c:pt>
                <c:pt idx="38" formatCode="#,##0">
                  <c:v>57.599999999999966</c:v>
                </c:pt>
                <c:pt idx="39" formatCode="#,##0">
                  <c:v>60.799999999999955</c:v>
                </c:pt>
                <c:pt idx="40" formatCode="#,##0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23D-4EC5-B799-491227E628DE}"/>
            </c:ext>
          </c:extLst>
        </c:ser>
        <c:ser>
          <c:idx val="5"/>
          <c:order val="5"/>
          <c:tx>
            <c:strRef>
              <c:f>'3'!$E$135</c:f>
              <c:strCache>
                <c:ptCount val="1"/>
                <c:pt idx="0">
                  <c:v>Invisible Wedge</c:v>
                </c:pt>
              </c:strCache>
            </c:strRef>
          </c:tx>
          <c:spPr>
            <a:noFill/>
            <a:ln w="12700">
              <a:noFill/>
            </a:ln>
          </c:spPr>
          <c:cat>
            <c:numRef>
              <c:f>'3'!$F$128:$AT$128</c:f>
              <c:numCache>
                <c:formatCode>General</c:formatCod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numCache>
            </c:numRef>
          </c:cat>
          <c:val>
            <c:numRef>
              <c:f>'3'!$F$135:$AT$135</c:f>
              <c:numCache>
                <c:formatCode>General</c:formatCode>
                <c:ptCount val="41"/>
                <c:pt idx="15" formatCode="#,##0">
                  <c:v>-14.181818181818187</c:v>
                </c:pt>
                <c:pt idx="16" formatCode="#,##0">
                  <c:v>-28.363636363636374</c:v>
                </c:pt>
                <c:pt idx="17" formatCode="#,##0">
                  <c:v>-42.545454545454561</c:v>
                </c:pt>
                <c:pt idx="18" formatCode="#,##0">
                  <c:v>-56.727272727272748</c:v>
                </c:pt>
                <c:pt idx="19" formatCode="#,##0">
                  <c:v>-70.909090909090935</c:v>
                </c:pt>
                <c:pt idx="20" formatCode="#,##0">
                  <c:v>-85.090909090909122</c:v>
                </c:pt>
                <c:pt idx="21" formatCode="#,##0">
                  <c:v>-99.272727272727309</c:v>
                </c:pt>
                <c:pt idx="22" formatCode="#,##0">
                  <c:v>-113.4545454545455</c:v>
                </c:pt>
                <c:pt idx="23" formatCode="#,##0">
                  <c:v>-127.63636363636368</c:v>
                </c:pt>
                <c:pt idx="24" formatCode="#,##0">
                  <c:v>-141.81818181818187</c:v>
                </c:pt>
                <c:pt idx="25" formatCode="#,##0">
                  <c:v>-156</c:v>
                </c:pt>
                <c:pt idx="26" formatCode="#,##0">
                  <c:v>-171.2</c:v>
                </c:pt>
                <c:pt idx="27" formatCode="#,##0">
                  <c:v>-186.39999999999998</c:v>
                </c:pt>
                <c:pt idx="28" formatCode="#,##0">
                  <c:v>-201.59999999999997</c:v>
                </c:pt>
                <c:pt idx="29" formatCode="#,##0">
                  <c:v>-216.79999999999995</c:v>
                </c:pt>
                <c:pt idx="30" formatCode="#,##0">
                  <c:v>-232</c:v>
                </c:pt>
                <c:pt idx="31" formatCode="#,##0">
                  <c:v>-244</c:v>
                </c:pt>
                <c:pt idx="32" formatCode="#,##0">
                  <c:v>-256</c:v>
                </c:pt>
                <c:pt idx="33" formatCode="#,##0">
                  <c:v>-268</c:v>
                </c:pt>
                <c:pt idx="34" formatCode="#,##0">
                  <c:v>-280</c:v>
                </c:pt>
                <c:pt idx="35" formatCode="#,##0">
                  <c:v>-292</c:v>
                </c:pt>
                <c:pt idx="36" formatCode="#,##0">
                  <c:v>-300.39999999999998</c:v>
                </c:pt>
                <c:pt idx="37" formatCode="#,##0">
                  <c:v>-308.79999999999995</c:v>
                </c:pt>
                <c:pt idx="38" formatCode="#,##0">
                  <c:v>-317.19999999999993</c:v>
                </c:pt>
                <c:pt idx="39" formatCode="#,##0">
                  <c:v>-325.59999999999991</c:v>
                </c:pt>
                <c:pt idx="40" formatCode="#,##0">
                  <c:v>-334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23D-4EC5-B799-491227E628DE}"/>
            </c:ext>
          </c:extLst>
        </c:ser>
        <c:ser>
          <c:idx val="6"/>
          <c:order val="6"/>
          <c:tx>
            <c:strRef>
              <c:f>'3'!$E$136</c:f>
              <c:strCache>
                <c:ptCount val="1"/>
                <c:pt idx="0">
                  <c:v>IEA (APS and NZE50)</c:v>
                </c:pt>
              </c:strCache>
            </c:strRef>
          </c:tx>
          <c:spPr>
            <a:solidFill>
              <a:srgbClr val="73CD69">
                <a:alpha val="25000"/>
              </a:srgbClr>
            </a:solidFill>
            <a:ln>
              <a:noFill/>
            </a:ln>
          </c:spPr>
          <c:cat>
            <c:numRef>
              <c:f>'3'!$F$128:$AT$128</c:f>
              <c:numCache>
                <c:formatCode>General</c:formatCod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numCache>
            </c:numRef>
          </c:cat>
          <c:val>
            <c:numRef>
              <c:f>'3'!$F$136:$AT$136</c:f>
              <c:numCache>
                <c:formatCode>General</c:formatCode>
                <c:ptCount val="41"/>
                <c:pt idx="15" formatCode="#,##0">
                  <c:v>7</c:v>
                </c:pt>
                <c:pt idx="16" formatCode="#,##0">
                  <c:v>14</c:v>
                </c:pt>
                <c:pt idx="17" formatCode="#,##0">
                  <c:v>21</c:v>
                </c:pt>
                <c:pt idx="18" formatCode="#,##0">
                  <c:v>28</c:v>
                </c:pt>
                <c:pt idx="19" formatCode="#,##0">
                  <c:v>35</c:v>
                </c:pt>
                <c:pt idx="20" formatCode="#,##0">
                  <c:v>42</c:v>
                </c:pt>
                <c:pt idx="21" formatCode="#,##0">
                  <c:v>45</c:v>
                </c:pt>
                <c:pt idx="22" formatCode="#,##0">
                  <c:v>48</c:v>
                </c:pt>
                <c:pt idx="23" formatCode="#,##0">
                  <c:v>51</c:v>
                </c:pt>
                <c:pt idx="24" formatCode="#,##0">
                  <c:v>54</c:v>
                </c:pt>
                <c:pt idx="25" formatCode="#,##0">
                  <c:v>57</c:v>
                </c:pt>
                <c:pt idx="26" formatCode="#,##0">
                  <c:v>62.599999999999966</c:v>
                </c:pt>
                <c:pt idx="27" formatCode="#,##0">
                  <c:v>68.199999999999932</c:v>
                </c:pt>
                <c:pt idx="28" formatCode="#,##0">
                  <c:v>73.799999999999955</c:v>
                </c:pt>
                <c:pt idx="29" formatCode="#,##0">
                  <c:v>79.39999999999992</c:v>
                </c:pt>
                <c:pt idx="30" formatCode="#,##0">
                  <c:v>85</c:v>
                </c:pt>
                <c:pt idx="31" formatCode="#,##0">
                  <c:v>88.800000000000011</c:v>
                </c:pt>
                <c:pt idx="32" formatCode="#,##0">
                  <c:v>92.600000000000023</c:v>
                </c:pt>
                <c:pt idx="33" formatCode="#,##0">
                  <c:v>96.400000000000034</c:v>
                </c:pt>
                <c:pt idx="34" formatCode="#,##0">
                  <c:v>100.20000000000005</c:v>
                </c:pt>
                <c:pt idx="35" formatCode="#,##0">
                  <c:v>104</c:v>
                </c:pt>
                <c:pt idx="36" formatCode="#,##0">
                  <c:v>105.39999999999998</c:v>
                </c:pt>
                <c:pt idx="37" formatCode="#,##0">
                  <c:v>106.79999999999995</c:v>
                </c:pt>
                <c:pt idx="38" formatCode="#,##0">
                  <c:v>108.19999999999999</c:v>
                </c:pt>
                <c:pt idx="39" formatCode="#,##0">
                  <c:v>109.60000000000008</c:v>
                </c:pt>
                <c:pt idx="40" formatCode="#,##0">
                  <c:v>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23D-4EC5-B799-491227E628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33077103"/>
        <c:axId val="1133077583"/>
      </c:areaChart>
      <c:lineChart>
        <c:grouping val="standard"/>
        <c:varyColors val="0"/>
        <c:ser>
          <c:idx val="0"/>
          <c:order val="0"/>
          <c:tx>
            <c:strRef>
              <c:f>'3'!$E$129</c:f>
              <c:strCache>
                <c:ptCount val="1"/>
                <c:pt idx="0">
                  <c:v>History</c:v>
                </c:pt>
              </c:strCache>
            </c:strRef>
          </c:tx>
          <c:spPr>
            <a:ln w="19050">
              <a:solidFill>
                <a:srgbClr val="A6A6A6"/>
              </a:solidFill>
            </a:ln>
            <a:effectLst/>
          </c:spPr>
          <c:marker>
            <c:symbol val="none"/>
          </c:marker>
          <c:cat>
            <c:numRef>
              <c:f>'3'!$F$128:$AT$128</c:f>
              <c:numCache>
                <c:formatCode>General</c:formatCod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numCache>
            </c:numRef>
          </c:cat>
          <c:val>
            <c:numRef>
              <c:f>'3'!$F$129:$AT$129</c:f>
              <c:numCache>
                <c:formatCode>#,##0</c:formatCode>
                <c:ptCount val="41"/>
                <c:pt idx="0">
                  <c:v>288.64563745132438</c:v>
                </c:pt>
                <c:pt idx="1">
                  <c:v>291.1270407227376</c:v>
                </c:pt>
                <c:pt idx="2">
                  <c:v>294.97024902675912</c:v>
                </c:pt>
                <c:pt idx="3">
                  <c:v>298.21311756130285</c:v>
                </c:pt>
                <c:pt idx="4">
                  <c:v>301.12602971133714</c:v>
                </c:pt>
                <c:pt idx="5">
                  <c:v>304.76444308984742</c:v>
                </c:pt>
                <c:pt idx="6">
                  <c:v>312.10153698967207</c:v>
                </c:pt>
                <c:pt idx="7">
                  <c:v>319.00958091071351</c:v>
                </c:pt>
                <c:pt idx="8">
                  <c:v>325.41550643706108</c:v>
                </c:pt>
                <c:pt idx="9">
                  <c:v>329.58992700864735</c:v>
                </c:pt>
                <c:pt idx="10">
                  <c:v>310.96621531012039</c:v>
                </c:pt>
                <c:pt idx="11">
                  <c:v>329.08197227780397</c:v>
                </c:pt>
                <c:pt idx="12">
                  <c:v>332.16140436788322</c:v>
                </c:pt>
                <c:pt idx="13">
                  <c:v>336.92183548521575</c:v>
                </c:pt>
                <c:pt idx="14">
                  <c:v>342.08422116745709</c:v>
                </c:pt>
                <c:pt idx="15">
                  <c:v>345.89185697684968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623D-4EC5-B799-491227E628DE}"/>
            </c:ext>
          </c:extLst>
        </c:ser>
        <c:ser>
          <c:idx val="7"/>
          <c:order val="7"/>
          <c:tx>
            <c:strRef>
              <c:f>'3'!$E$137</c:f>
              <c:strCache>
                <c:ptCount val="1"/>
                <c:pt idx="0">
                  <c:v>Shell Horizon</c:v>
                </c:pt>
              </c:strCache>
            </c:strRef>
          </c:tx>
          <c:spPr>
            <a:ln w="19050">
              <a:solidFill>
                <a:srgbClr val="81BBF0"/>
              </a:solidFill>
              <a:prstDash val="solid"/>
            </a:ln>
          </c:spPr>
          <c:marker>
            <c:symbol val="none"/>
          </c:marker>
          <c:cat>
            <c:numRef>
              <c:f>'3'!$F$128:$AT$128</c:f>
              <c:numCache>
                <c:formatCode>General</c:formatCod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numCache>
            </c:numRef>
          </c:cat>
          <c:val>
            <c:numRef>
              <c:f>'3'!$F$137:$AT$137</c:f>
              <c:numCache>
                <c:formatCode>General</c:formatCode>
                <c:ptCount val="41"/>
                <c:pt idx="15" formatCode="#,##0">
                  <c:v>345.89185697684968</c:v>
                </c:pt>
                <c:pt idx="16" formatCode="#,##0">
                  <c:v>345.83535933995125</c:v>
                </c:pt>
                <c:pt idx="17" formatCode="#,##0">
                  <c:v>344.94195770157017</c:v>
                </c:pt>
                <c:pt idx="18" formatCode="#,##0">
                  <c:v>342.98092454655466</c:v>
                </c:pt>
                <c:pt idx="19" formatCode="#,##0">
                  <c:v>340.08829714985757</c:v>
                </c:pt>
                <c:pt idx="20" formatCode="#,##0">
                  <c:v>335.91738619507845</c:v>
                </c:pt>
                <c:pt idx="21" formatCode="#,##0">
                  <c:v>330.00254933070789</c:v>
                </c:pt>
                <c:pt idx="22" formatCode="#,##0">
                  <c:v>322.66435038417899</c:v>
                </c:pt>
                <c:pt idx="23" formatCode="#,##0">
                  <c:v>314.25001080031956</c:v>
                </c:pt>
                <c:pt idx="24" formatCode="#,##0">
                  <c:v>304.92214415078416</c:v>
                </c:pt>
                <c:pt idx="25" formatCode="#,##0">
                  <c:v>294.978448239579</c:v>
                </c:pt>
                <c:pt idx="26" formatCode="#,##0">
                  <c:v>284.70167900619185</c:v>
                </c:pt>
                <c:pt idx="27" formatCode="#,##0">
                  <c:v>274.56788138383041</c:v>
                </c:pt>
                <c:pt idx="28" formatCode="#,##0">
                  <c:v>264.33849903980979</c:v>
                </c:pt>
                <c:pt idx="29" formatCode="#,##0">
                  <c:v>254.10771492094537</c:v>
                </c:pt>
                <c:pt idx="30" formatCode="#,##0">
                  <c:v>243.28838646104114</c:v>
                </c:pt>
                <c:pt idx="31" formatCode="#,##0">
                  <c:v>233.07757848029786</c:v>
                </c:pt>
                <c:pt idx="32" formatCode="#,##0">
                  <c:v>223.23564131371703</c:v>
                </c:pt>
                <c:pt idx="33" formatCode="#,##0">
                  <c:v>213.60840216568576</c:v>
                </c:pt>
                <c:pt idx="34" formatCode="#,##0">
                  <c:v>204.27515704899761</c:v>
                </c:pt>
                <c:pt idx="35" formatCode="#,##0">
                  <c:v>195.21213458473713</c:v>
                </c:pt>
                <c:pt idx="36" formatCode="#,##0">
                  <c:v>186.4535295404778</c:v>
                </c:pt>
                <c:pt idx="37" formatCode="#,##0">
                  <c:v>178.14011069981856</c:v>
                </c:pt>
                <c:pt idx="38" formatCode="#,##0">
                  <c:v>170.28344865928244</c:v>
                </c:pt>
                <c:pt idx="39" formatCode="#,##0">
                  <c:v>163.23866455589021</c:v>
                </c:pt>
                <c:pt idx="40" formatCode="#,##0">
                  <c:v>156.57485545149797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623D-4EC5-B799-491227E628DE}"/>
            </c:ext>
          </c:extLst>
        </c:ser>
        <c:ser>
          <c:idx val="8"/>
          <c:order val="8"/>
          <c:tx>
            <c:strRef>
              <c:f>'3'!$E$130</c:f>
              <c:strCache>
                <c:ptCount val="1"/>
                <c:pt idx="0">
                  <c:v>Natural decline</c:v>
                </c:pt>
              </c:strCache>
            </c:strRef>
          </c:tx>
          <c:spPr>
            <a:ln>
              <a:solidFill>
                <a:schemeClr val="tx1">
                  <a:lumMod val="65000"/>
                  <a:lumOff val="35000"/>
                </a:schemeClr>
              </a:solidFill>
              <a:prstDash val="sysDot"/>
            </a:ln>
          </c:spPr>
          <c:marker>
            <c:symbol val="none"/>
          </c:marker>
          <c:val>
            <c:numRef>
              <c:f>'3'!$F$130:$AT$130</c:f>
              <c:numCache>
                <c:formatCode>General</c:formatCode>
                <c:ptCount val="41"/>
                <c:pt idx="15" formatCode="#,##0">
                  <c:v>345.89185697684968</c:v>
                </c:pt>
                <c:pt idx="16" formatCode="#,##0">
                  <c:v>316.72040797700834</c:v>
                </c:pt>
                <c:pt idx="17" formatCode="#,##0">
                  <c:v>290.01768393690668</c:v>
                </c:pt>
                <c:pt idx="18" formatCode="#,##0">
                  <c:v>265.57403604618781</c:v>
                </c:pt>
                <c:pt idx="19" formatCode="#,##0">
                  <c:v>243.19768097254544</c:v>
                </c:pt>
                <c:pt idx="20" formatCode="#,##0">
                  <c:v>222.71317320188976</c:v>
                </c:pt>
                <c:pt idx="21" formatCode="#,##0">
                  <c:v>203.96000844924319</c:v>
                </c:pt>
                <c:pt idx="22" formatCode="#,##0">
                  <c:v>186.7913468574929</c:v>
                </c:pt>
                <c:pt idx="23" formatCode="#,##0">
                  <c:v>171.07284567550565</c:v>
                </c:pt>
                <c:pt idx="24" formatCode="#,##0">
                  <c:v>156.68159199708225</c:v>
                </c:pt>
                <c:pt idx="25" formatCode="#,##0">
                  <c:v>143.50512695512725</c:v>
                </c:pt>
                <c:pt idx="26" formatCode="#,##0">
                  <c:v>131.44055350792553</c:v>
                </c:pt>
                <c:pt idx="27" formatCode="#,##0">
                  <c:v>120.39372063267122</c:v>
                </c:pt>
                <c:pt idx="28" formatCode="#,##0">
                  <c:v>110.27847736095309</c:v>
                </c:pt>
                <c:pt idx="29" formatCode="#,##0">
                  <c:v>101.01599065687179</c:v>
                </c:pt>
                <c:pt idx="30" formatCode="#,##0">
                  <c:v>92.53412165548545</c:v>
                </c:pt>
                <c:pt idx="31" formatCode="#,##0">
                  <c:v>84.766855251605335</c:v>
                </c:pt>
                <c:pt idx="32" formatCode="#,##0">
                  <c:v>77.653778460465318</c:v>
                </c:pt>
                <c:pt idx="33" formatCode="#,##0">
                  <c:v>71.139603366007549</c:v>
                </c:pt>
                <c:pt idx="34" formatCode="#,##0">
                  <c:v>65.173730832692257</c:v>
                </c:pt>
                <c:pt idx="35" formatCode="#,##0">
                  <c:v>59.709851485805316</c:v>
                </c:pt>
                <c:pt idx="36" formatCode="#,##0">
                  <c:v>54.705580765893757</c:v>
                </c:pt>
                <c:pt idx="37" formatCode="#,##0">
                  <c:v>50.122125137669371</c:v>
                </c:pt>
                <c:pt idx="38" formatCode="#,##0">
                  <c:v>45.923976784728694</c:v>
                </c:pt>
                <c:pt idx="39" formatCode="#,##0">
                  <c:v>42.078634350796712</c:v>
                </c:pt>
                <c:pt idx="40" formatCode="#,##0">
                  <c:v>38.556347497783122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623D-4EC5-B799-491227E628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33077103"/>
        <c:axId val="1133077583"/>
      </c:lineChart>
      <c:dateAx>
        <c:axId val="1133077103"/>
        <c:scaling>
          <c:orientation val="minMax"/>
          <c:min val="2020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25400">
            <a:solidFill>
              <a:srgbClr val="A6A6A6"/>
            </a:solidFill>
            <a:prstDash val="solid"/>
          </a:ln>
        </c:spPr>
        <c:txPr>
          <a:bodyPr rot="0" vert="horz"/>
          <a:lstStyle/>
          <a:p>
            <a:pPr>
              <a:defRPr sz="2400"/>
            </a:pPr>
            <a:endParaRPr lang="en-US"/>
          </a:p>
        </c:txPr>
        <c:crossAx val="1133077583"/>
        <c:crosses val="autoZero"/>
        <c:auto val="0"/>
        <c:lblOffset val="100"/>
        <c:baseTimeUnit val="days"/>
        <c:majorUnit val="10"/>
        <c:majorTimeUnit val="days"/>
        <c:minorUnit val="5"/>
      </c:dateAx>
      <c:valAx>
        <c:axId val="1133077583"/>
        <c:scaling>
          <c:orientation val="minMax"/>
          <c:max val="400"/>
          <c:min val="0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2400"/>
                </a:pPr>
                <a:r>
                  <a:rPr lang="en-GB" sz="2400" dirty="0"/>
                  <a:t>O&amp;G demand (EJ/y)</a:t>
                </a:r>
              </a:p>
            </c:rich>
          </c:tx>
          <c:layout>
            <c:manualLayout>
              <c:xMode val="edge"/>
              <c:yMode val="edge"/>
              <c:x val="2.1122946859903381E-2"/>
              <c:y val="5.9215328467153286E-2"/>
            </c:manualLayout>
          </c:layout>
          <c:overlay val="0"/>
          <c:spPr>
            <a:noFill/>
          </c:spPr>
        </c:title>
        <c:numFmt formatCode="0" sourceLinked="0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sz="2400"/>
            </a:pPr>
            <a:endParaRPr lang="en-NL"/>
          </a:p>
        </c:txPr>
        <c:crossAx val="1133077103"/>
        <c:crosses val="autoZero"/>
        <c:crossBetween val="between"/>
        <c:majorUnit val="100"/>
      </c:valAx>
      <c:spPr>
        <a:noFill/>
        <a:ln w="25400">
          <a:noFill/>
        </a:ln>
        <a:extLst>
          <a:ext uri="{909E8E84-426E-40DD-AFC4-6F175D3DCCD1}">
            <a14:hiddenFill xmlns:a14="http://schemas.microsoft.com/office/drawing/2010/main">
              <a:solidFill>
                <a:sysClr val="window" lastClr="FFFFFF"/>
              </a:solidFill>
            </a14:hiddenFill>
          </a:ext>
        </a:extLst>
      </c:spPr>
    </c:plotArea>
    <c:legend>
      <c:legendPos val="b"/>
      <c:legendEntry>
        <c:idx val="0"/>
        <c:delete val="1"/>
      </c:legendEntry>
      <c:legendEntry>
        <c:idx val="3"/>
        <c:delete val="1"/>
      </c:legendEntry>
      <c:legendEntry>
        <c:idx val="5"/>
        <c:delete val="1"/>
      </c:legendEntry>
      <c:layout>
        <c:manualLayout>
          <c:xMode val="edge"/>
          <c:yMode val="edge"/>
          <c:x val="6.0611111111111102E-2"/>
          <c:y val="0.72776905920519053"/>
          <c:w val="0.8844615942028986"/>
          <c:h val="0.27107238442822379"/>
        </c:manualLayout>
      </c:layout>
      <c:overlay val="0"/>
      <c:spPr>
        <a:solidFill>
          <a:schemeClr val="bg1"/>
        </a:solidFill>
        <a:ln w="25400">
          <a:noFill/>
        </a:ln>
        <a:effectLst/>
      </c:spPr>
      <c:txPr>
        <a:bodyPr/>
        <a:lstStyle/>
        <a:p>
          <a:pPr>
            <a:defRPr sz="2400"/>
          </a:pPr>
          <a:endParaRPr lang="en-US"/>
        </a:p>
      </c:txPr>
    </c:legend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>
      <a:noFill/>
    </a:ln>
    <a:extLst>
      <a:ext uri="{909E8E84-426E-40DD-AFC4-6F175D3DCCD1}">
        <a14:hiddenFill xmlns:a14="http://schemas.microsoft.com/office/drawing/2010/main">
          <a:solidFill>
            <a:sysClr val="window" lastClr="FFFFFF"/>
          </a:solidFill>
        </a14:hiddenFill>
      </a:ext>
    </a:extLst>
  </c:spPr>
  <c:txPr>
    <a:bodyPr/>
    <a:lstStyle/>
    <a:p>
      <a:pPr>
        <a:defRPr sz="3200" b="0" i="0">
          <a:solidFill>
            <a:srgbClr val="404040"/>
          </a:solidFill>
          <a:latin typeface="ShellBook" panose="00000500000000000000" pitchFamily="2" charset="0"/>
          <a:ea typeface="ShellMedium"/>
          <a:cs typeface="ShellMedium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44195652173913"/>
          <c:y val="0.18490830180056683"/>
          <c:w val="0.69561533816425125"/>
          <c:h val="0.6390472424979724"/>
        </c:manualLayout>
      </c:layout>
      <c:areaChart>
        <c:grouping val="stacked"/>
        <c:varyColors val="0"/>
        <c:ser>
          <c:idx val="0"/>
          <c:order val="0"/>
          <c:tx>
            <c:strRef>
              <c:f>'5'!$E$117</c:f>
              <c:strCache>
                <c:ptCount val="1"/>
                <c:pt idx="0">
                  <c:v>Invisible wedge</c:v>
                </c:pt>
              </c:strCache>
            </c:strRef>
          </c:tx>
          <c:spPr>
            <a:noFill/>
          </c:spPr>
          <c:cat>
            <c:numRef>
              <c:f>'5'!$F$116:$AT$116</c:f>
              <c:numCache>
                <c:formatCode>General</c:formatCod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numCache>
            </c:numRef>
          </c:cat>
          <c:val>
            <c:numRef>
              <c:f>'5'!$F$117:$AT$117</c:f>
              <c:numCache>
                <c:formatCode>#,##0</c:formatCode>
                <c:ptCount val="41"/>
                <c:pt idx="0">
                  <c:v>248.97238936874513</c:v>
                </c:pt>
                <c:pt idx="1">
                  <c:v>251.2942876443995</c:v>
                </c:pt>
                <c:pt idx="2">
                  <c:v>252.91599981289374</c:v>
                </c:pt>
                <c:pt idx="3">
                  <c:v>256.99830285608681</c:v>
                </c:pt>
                <c:pt idx="4">
                  <c:v>260.68432830393209</c:v>
                </c:pt>
                <c:pt idx="5">
                  <c:v>263.03372651128461</c:v>
                </c:pt>
                <c:pt idx="6">
                  <c:v>265.11490638757863</c:v>
                </c:pt>
                <c:pt idx="7">
                  <c:v>269.70081766813047</c:v>
                </c:pt>
                <c:pt idx="8">
                  <c:v>274.16651878947823</c:v>
                </c:pt>
                <c:pt idx="9">
                  <c:v>275.06211951337889</c:v>
                </c:pt>
                <c:pt idx="10">
                  <c:v>257.58153776725317</c:v>
                </c:pt>
                <c:pt idx="11">
                  <c:v>270.03710064568207</c:v>
                </c:pt>
                <c:pt idx="12">
                  <c:v>272.4587304280418</c:v>
                </c:pt>
                <c:pt idx="13">
                  <c:v>276.7401879789968</c:v>
                </c:pt>
                <c:pt idx="14">
                  <c:v>279.36806340115214</c:v>
                </c:pt>
                <c:pt idx="15">
                  <c:v>283.0211422795943</c:v>
                </c:pt>
                <c:pt idx="16">
                  <c:v>282.1654548819489</c:v>
                </c:pt>
                <c:pt idx="17">
                  <c:v>280.64439333994267</c:v>
                </c:pt>
                <c:pt idx="18">
                  <c:v>278.36851717551929</c:v>
                </c:pt>
                <c:pt idx="19">
                  <c:v>275.36112359804719</c:v>
                </c:pt>
                <c:pt idx="20">
                  <c:v>271.27622838693168</c:v>
                </c:pt>
                <c:pt idx="21">
                  <c:v>265.87647066019088</c:v>
                </c:pt>
                <c:pt idx="22">
                  <c:v>259.41413632910661</c:v>
                </c:pt>
                <c:pt idx="23">
                  <c:v>252.17601858658253</c:v>
                </c:pt>
                <c:pt idx="24">
                  <c:v>244.28723637056666</c:v>
                </c:pt>
                <c:pt idx="25">
                  <c:v>235.9503103595674</c:v>
                </c:pt>
                <c:pt idx="26">
                  <c:v>227.39889796384293</c:v>
                </c:pt>
                <c:pt idx="27">
                  <c:v>219.0370384440576</c:v>
                </c:pt>
                <c:pt idx="28">
                  <c:v>210.61046408055236</c:v>
                </c:pt>
                <c:pt idx="29">
                  <c:v>202.18607465911415</c:v>
                </c:pt>
                <c:pt idx="30">
                  <c:v>193.19955557246834</c:v>
                </c:pt>
                <c:pt idx="31">
                  <c:v>184.54471091364769</c:v>
                </c:pt>
                <c:pt idx="32">
                  <c:v>176.09777508149014</c:v>
                </c:pt>
                <c:pt idx="33">
                  <c:v>167.88765239990497</c:v>
                </c:pt>
                <c:pt idx="34">
                  <c:v>159.97039281990752</c:v>
                </c:pt>
                <c:pt idx="35">
                  <c:v>152.30310106049367</c:v>
                </c:pt>
                <c:pt idx="36">
                  <c:v>144.94310279299208</c:v>
                </c:pt>
                <c:pt idx="37">
                  <c:v>137.91070749089639</c:v>
                </c:pt>
                <c:pt idx="38">
                  <c:v>131.24155145218808</c:v>
                </c:pt>
                <c:pt idx="39">
                  <c:v>125.17935478308829</c:v>
                </c:pt>
                <c:pt idx="40">
                  <c:v>119.47789428642791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88-4D39-AB68-0D51BEA91819}"/>
            </c:ext>
          </c:extLst>
        </c:ser>
        <c:ser>
          <c:idx val="1"/>
          <c:order val="1"/>
          <c:tx>
            <c:strRef>
              <c:f>'5'!$E$118</c:f>
              <c:strCache>
                <c:ptCount val="1"/>
                <c:pt idx="0">
                  <c:v>Fossil</c:v>
                </c:pt>
              </c:strCache>
            </c:strRef>
          </c:tx>
          <c:spPr>
            <a:solidFill>
              <a:srgbClr val="CC0000">
                <a:alpha val="50000"/>
              </a:srgbClr>
            </a:solidFill>
            <a:ln>
              <a:solidFill>
                <a:srgbClr val="CC0000">
                  <a:alpha val="50000"/>
                </a:srgbClr>
              </a:solidFill>
            </a:ln>
          </c:spPr>
          <c:cat>
            <c:numRef>
              <c:f>'5'!$F$116:$AT$116</c:f>
              <c:numCache>
                <c:formatCode>General</c:formatCod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numCache>
            </c:numRef>
          </c:cat>
          <c:val>
            <c:numRef>
              <c:f>'5'!$F$118:$AT$118</c:f>
              <c:numCache>
                <c:formatCode>#,##0</c:formatCode>
                <c:ptCount val="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4.6536322575380495</c:v>
                </c:pt>
                <c:pt idx="17">
                  <c:v>9.1646267526996894</c:v>
                </c:pt>
                <c:pt idx="18">
                  <c:v>14.130256160659769</c:v>
                </c:pt>
                <c:pt idx="19">
                  <c:v>19.052837192510879</c:v>
                </c:pt>
                <c:pt idx="20">
                  <c:v>24.198421922728812</c:v>
                </c:pt>
                <c:pt idx="21">
                  <c:v>30.448719493010174</c:v>
                </c:pt>
                <c:pt idx="22">
                  <c:v>38.855647061098807</c:v>
                </c:pt>
                <c:pt idx="23">
                  <c:v>47.741514236842647</c:v>
                </c:pt>
                <c:pt idx="24">
                  <c:v>56.943518277160052</c:v>
                </c:pt>
                <c:pt idx="25">
                  <c:v>66.222196608265762</c:v>
                </c:pt>
                <c:pt idx="26">
                  <c:v>75.480394063416696</c:v>
                </c:pt>
                <c:pt idx="27">
                  <c:v>84.34424399955742</c:v>
                </c:pt>
                <c:pt idx="28">
                  <c:v>93.25970186211012</c:v>
                </c:pt>
                <c:pt idx="29">
                  <c:v>101.95402071578152</c:v>
                </c:pt>
                <c:pt idx="30">
                  <c:v>111.14942774102434</c:v>
                </c:pt>
                <c:pt idx="31">
                  <c:v>119.92049842265766</c:v>
                </c:pt>
                <c:pt idx="32">
                  <c:v>127.94628599081946</c:v>
                </c:pt>
                <c:pt idx="33">
                  <c:v>135.37905457120414</c:v>
                </c:pt>
                <c:pt idx="34">
                  <c:v>142.14483749292171</c:v>
                </c:pt>
                <c:pt idx="35">
                  <c:v>148.28078542922523</c:v>
                </c:pt>
                <c:pt idx="36">
                  <c:v>153.76780180450049</c:v>
                </c:pt>
                <c:pt idx="37">
                  <c:v>158.57575136609009</c:v>
                </c:pt>
                <c:pt idx="38">
                  <c:v>162.69807213470139</c:v>
                </c:pt>
                <c:pt idx="39">
                  <c:v>165.97592282571782</c:v>
                </c:pt>
                <c:pt idx="40">
                  <c:v>168.64025779794741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88-4D39-AB68-0D51BEA91819}"/>
            </c:ext>
          </c:extLst>
        </c:ser>
        <c:ser>
          <c:idx val="2"/>
          <c:order val="2"/>
          <c:tx>
            <c:strRef>
              <c:f>'5'!$E$119</c:f>
              <c:strCache>
                <c:ptCount val="1"/>
                <c:pt idx="0">
                  <c:v>Invisible wedge</c:v>
                </c:pt>
              </c:strCache>
            </c:strRef>
          </c:tx>
          <c:spPr>
            <a:noFill/>
          </c:spPr>
          <c:cat>
            <c:numRef>
              <c:f>'5'!$F$116:$AT$116</c:f>
              <c:numCache>
                <c:formatCode>General</c:formatCod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numCache>
            </c:numRef>
          </c:cat>
          <c:val>
            <c:numRef>
              <c:f>'5'!$F$119:$AT$119</c:f>
              <c:numCache>
                <c:formatCode>#,##0</c:formatCode>
                <c:ptCount val="41"/>
                <c:pt idx="0">
                  <c:v>-172.49631850891996</c:v>
                </c:pt>
                <c:pt idx="1">
                  <c:v>-172.28422907184444</c:v>
                </c:pt>
                <c:pt idx="2">
                  <c:v>-171.72246559173988</c:v>
                </c:pt>
                <c:pt idx="3">
                  <c:v>-173.85963789086941</c:v>
                </c:pt>
                <c:pt idx="4">
                  <c:v>-175.74151288891579</c:v>
                </c:pt>
                <c:pt idx="5">
                  <c:v>-177.37940130879542</c:v>
                </c:pt>
                <c:pt idx="6">
                  <c:v>-176.55777589852295</c:v>
                </c:pt>
                <c:pt idx="7">
                  <c:v>-178.26879830498274</c:v>
                </c:pt>
                <c:pt idx="8">
                  <c:v>-179.14362580600925</c:v>
                </c:pt>
                <c:pt idx="9">
                  <c:v>-178.96446339335029</c:v>
                </c:pt>
                <c:pt idx="10">
                  <c:v>-161.23606108295445</c:v>
                </c:pt>
                <c:pt idx="11">
                  <c:v>-167.17978199976471</c:v>
                </c:pt>
                <c:pt idx="12">
                  <c:v>-166.55199423523558</c:v>
                </c:pt>
                <c:pt idx="13">
                  <c:v>-165.8883494573322</c:v>
                </c:pt>
                <c:pt idx="14">
                  <c:v>-162.94182338904034</c:v>
                </c:pt>
                <c:pt idx="15">
                  <c:v>-163.09319936078555</c:v>
                </c:pt>
                <c:pt idx="16">
                  <c:v>-162.94685243934231</c:v>
                </c:pt>
                <c:pt idx="17">
                  <c:v>-162.53898403619752</c:v>
                </c:pt>
                <c:pt idx="18">
                  <c:v>-162.38165888476902</c:v>
                </c:pt>
                <c:pt idx="19">
                  <c:v>-161.19794165812448</c:v>
                </c:pt>
                <c:pt idx="20">
                  <c:v>-158.83138037982283</c:v>
                </c:pt>
                <c:pt idx="21">
                  <c:v>-155.9210630672986</c:v>
                </c:pt>
                <c:pt idx="22">
                  <c:v>-153.99639199778406</c:v>
                </c:pt>
                <c:pt idx="23">
                  <c:v>-151.77005509174037</c:v>
                </c:pt>
                <c:pt idx="24">
                  <c:v>-149.22444139683981</c:v>
                </c:pt>
                <c:pt idx="25">
                  <c:v>-146.43907887628419</c:v>
                </c:pt>
                <c:pt idx="26">
                  <c:v>-143.45119221434001</c:v>
                </c:pt>
                <c:pt idx="27">
                  <c:v>-140.26196331847629</c:v>
                </c:pt>
                <c:pt idx="28">
                  <c:v>-136.98222127397236</c:v>
                </c:pt>
                <c:pt idx="29">
                  <c:v>-133.41789462451473</c:v>
                </c:pt>
                <c:pt idx="30">
                  <c:v>-129.67613901650734</c:v>
                </c:pt>
                <c:pt idx="31">
                  <c:v>-125.43242714284582</c:v>
                </c:pt>
                <c:pt idx="32">
                  <c:v>-120.4040860230042</c:v>
                </c:pt>
                <c:pt idx="33">
                  <c:v>-114.61449281711728</c:v>
                </c:pt>
                <c:pt idx="34">
                  <c:v>-108.14118774656291</c:v>
                </c:pt>
                <c:pt idx="35">
                  <c:v>-100.96547577183452</c:v>
                </c:pt>
                <c:pt idx="36">
                  <c:v>-93.227230465172539</c:v>
                </c:pt>
                <c:pt idx="37">
                  <c:v>-85.007083570005904</c:v>
                </c:pt>
                <c:pt idx="38">
                  <c:v>-76.40486402315085</c:v>
                </c:pt>
                <c:pt idx="39">
                  <c:v>-67.594913857589262</c:v>
                </c:pt>
                <c:pt idx="40">
                  <c:v>-58.483021735687785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288-4D39-AB68-0D51BEA91819}"/>
            </c:ext>
          </c:extLst>
        </c:ser>
        <c:ser>
          <c:idx val="3"/>
          <c:order val="3"/>
          <c:tx>
            <c:strRef>
              <c:f>'5'!$E$120</c:f>
              <c:strCache>
                <c:ptCount val="1"/>
                <c:pt idx="0">
                  <c:v>Electricity</c:v>
                </c:pt>
              </c:strCache>
            </c:strRef>
          </c:tx>
          <c:spPr>
            <a:solidFill>
              <a:srgbClr val="0033CC">
                <a:alpha val="50000"/>
              </a:srgbClr>
            </a:solidFill>
            <a:ln>
              <a:solidFill>
                <a:srgbClr val="0033CC">
                  <a:alpha val="50000"/>
                </a:srgbClr>
              </a:solidFill>
            </a:ln>
          </c:spPr>
          <c:cat>
            <c:numRef>
              <c:f>'5'!$F$116:$AT$116</c:f>
              <c:numCache>
                <c:formatCode>General</c:formatCod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numCache>
            </c:numRef>
          </c:cat>
          <c:val>
            <c:numRef>
              <c:f>'5'!$F$120:$AT$120</c:f>
              <c:numCache>
                <c:formatCode>#,##0</c:formatCode>
                <c:ptCount val="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0.8786008888933452</c:v>
                </c:pt>
                <c:pt idx="17">
                  <c:v>2.4519286247675609</c:v>
                </c:pt>
                <c:pt idx="18">
                  <c:v>4.7509636237615496</c:v>
                </c:pt>
                <c:pt idx="19">
                  <c:v>6.9825478246050352</c:v>
                </c:pt>
                <c:pt idx="20">
                  <c:v>8.9054290886849117</c:v>
                </c:pt>
                <c:pt idx="21">
                  <c:v>10.57263655857696</c:v>
                </c:pt>
                <c:pt idx="22">
                  <c:v>12.295126106887267</c:v>
                </c:pt>
                <c:pt idx="23">
                  <c:v>14.293878366805757</c:v>
                </c:pt>
                <c:pt idx="24">
                  <c:v>16.685947681424437</c:v>
                </c:pt>
                <c:pt idx="25">
                  <c:v>19.727186022795593</c:v>
                </c:pt>
                <c:pt idx="26">
                  <c:v>22.842763352229269</c:v>
                </c:pt>
                <c:pt idx="27">
                  <c:v>25.852027022008542</c:v>
                </c:pt>
                <c:pt idx="28">
                  <c:v>28.673407645524378</c:v>
                </c:pt>
                <c:pt idx="29">
                  <c:v>31.295922379942851</c:v>
                </c:pt>
                <c:pt idx="30">
                  <c:v>33.790940948552645</c:v>
                </c:pt>
                <c:pt idx="31">
                  <c:v>35.907833504257553</c:v>
                </c:pt>
                <c:pt idx="32">
                  <c:v>37.777038865815655</c:v>
                </c:pt>
                <c:pt idx="33">
                  <c:v>39.199130251056772</c:v>
                </c:pt>
                <c:pt idx="34">
                  <c:v>40.127324447843648</c:v>
                </c:pt>
                <c:pt idx="35">
                  <c:v>40.553874583682386</c:v>
                </c:pt>
                <c:pt idx="36">
                  <c:v>40.520556188813089</c:v>
                </c:pt>
                <c:pt idx="37">
                  <c:v>40.23094489192016</c:v>
                </c:pt>
                <c:pt idx="38">
                  <c:v>39.893159264691405</c:v>
                </c:pt>
                <c:pt idx="39">
                  <c:v>39.665572775276985</c:v>
                </c:pt>
                <c:pt idx="40">
                  <c:v>39.438954163557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288-4D39-AB68-0D51BEA91819}"/>
            </c:ext>
          </c:extLst>
        </c:ser>
        <c:ser>
          <c:idx val="4"/>
          <c:order val="4"/>
          <c:tx>
            <c:strRef>
              <c:f>'5'!$E$121</c:f>
              <c:strCache>
                <c:ptCount val="1"/>
                <c:pt idx="0">
                  <c:v>Invisible wedge</c:v>
                </c:pt>
              </c:strCache>
            </c:strRef>
          </c:tx>
          <c:spPr>
            <a:noFill/>
          </c:spPr>
          <c:cat>
            <c:numRef>
              <c:f>'5'!$F$116:$AT$116</c:f>
              <c:numCache>
                <c:formatCode>General</c:formatCod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numCache>
            </c:numRef>
          </c:cat>
          <c:val>
            <c:numRef>
              <c:f>'5'!$F$121:$AT$121</c:f>
              <c:numCache>
                <c:formatCode>#,##0</c:formatCode>
                <c:ptCount val="41"/>
                <c:pt idx="0">
                  <c:v>-36.45239480258266</c:v>
                </c:pt>
                <c:pt idx="1">
                  <c:v>-39.147149579093536</c:v>
                </c:pt>
                <c:pt idx="2">
                  <c:v>-41.210161768182161</c:v>
                </c:pt>
                <c:pt idx="3">
                  <c:v>-42.470315950277154</c:v>
                </c:pt>
                <c:pt idx="4">
                  <c:v>-44.213973165826133</c:v>
                </c:pt>
                <c:pt idx="5">
                  <c:v>-45.055389188875438</c:v>
                </c:pt>
                <c:pt idx="6">
                  <c:v>-47.912441833335606</c:v>
                </c:pt>
                <c:pt idx="7">
                  <c:v>-50.379474671876437</c:v>
                </c:pt>
                <c:pt idx="8">
                  <c:v>-53.326890393801591</c:v>
                </c:pt>
                <c:pt idx="9">
                  <c:v>-53.804906580098645</c:v>
                </c:pt>
                <c:pt idx="10">
                  <c:v>-54.107552407338289</c:v>
                </c:pt>
                <c:pt idx="11">
                  <c:v>-59.905325548151836</c:v>
                </c:pt>
                <c:pt idx="12">
                  <c:v>-62.308841886917236</c:v>
                </c:pt>
                <c:pt idx="13">
                  <c:v>-66.268943959689068</c:v>
                </c:pt>
                <c:pt idx="14">
                  <c:v>-70.828163315194502</c:v>
                </c:pt>
                <c:pt idx="15">
                  <c:v>-73.94973119510064</c:v>
                </c:pt>
                <c:pt idx="16">
                  <c:v>-78.327037737291505</c:v>
                </c:pt>
                <c:pt idx="17">
                  <c:v>-82.929206624417304</c:v>
                </c:pt>
                <c:pt idx="18">
                  <c:v>-87.769387254257708</c:v>
                </c:pt>
                <c:pt idx="19">
                  <c:v>-92.710195993183959</c:v>
                </c:pt>
                <c:pt idx="20">
                  <c:v>-97.569075292540816</c:v>
                </c:pt>
                <c:pt idx="21">
                  <c:v>-102.44428363041723</c:v>
                </c:pt>
                <c:pt idx="22">
                  <c:v>-107.41555858879227</c:v>
                </c:pt>
                <c:pt idx="23">
                  <c:v>-112.67206292269199</c:v>
                </c:pt>
                <c:pt idx="24">
                  <c:v>-118.74674228187672</c:v>
                </c:pt>
                <c:pt idx="25">
                  <c:v>-125.30574613258543</c:v>
                </c:pt>
                <c:pt idx="26">
                  <c:v>-131.90147632473682</c:v>
                </c:pt>
                <c:pt idx="27">
                  <c:v>-138.34680052135653</c:v>
                </c:pt>
                <c:pt idx="28">
                  <c:v>-144.63183956401423</c:v>
                </c:pt>
                <c:pt idx="29">
                  <c:v>-150.7137901648413</c:v>
                </c:pt>
                <c:pt idx="30">
                  <c:v>-156.60868789100337</c:v>
                </c:pt>
                <c:pt idx="31">
                  <c:v>-162.56948177411067</c:v>
                </c:pt>
                <c:pt idx="32">
                  <c:v>-168.54761487146055</c:v>
                </c:pt>
                <c:pt idx="33">
                  <c:v>-174.5001475109066</c:v>
                </c:pt>
                <c:pt idx="34">
                  <c:v>-180.28131023908892</c:v>
                </c:pt>
                <c:pt idx="35">
                  <c:v>-185.89137117764704</c:v>
                </c:pt>
                <c:pt idx="36">
                  <c:v>-191.26770047721928</c:v>
                </c:pt>
                <c:pt idx="37">
                  <c:v>-196.503669599424</c:v>
                </c:pt>
                <c:pt idx="38">
                  <c:v>-201.71455712330507</c:v>
                </c:pt>
                <c:pt idx="39">
                  <c:v>-206.97756865376775</c:v>
                </c:pt>
                <c:pt idx="40">
                  <c:v>-212.22384000552876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288-4D39-AB68-0D51BEA91819}"/>
            </c:ext>
          </c:extLst>
        </c:ser>
        <c:ser>
          <c:idx val="5"/>
          <c:order val="5"/>
          <c:tx>
            <c:strRef>
              <c:f>'5'!$E$122</c:f>
              <c:strCache>
                <c:ptCount val="1"/>
                <c:pt idx="0">
                  <c:v>LCM</c:v>
                </c:pt>
              </c:strCache>
            </c:strRef>
          </c:tx>
          <c:spPr>
            <a:solidFill>
              <a:srgbClr val="B99678">
                <a:alpha val="50000"/>
              </a:srgbClr>
            </a:solidFill>
            <a:ln>
              <a:solidFill>
                <a:srgbClr val="B99678">
                  <a:alpha val="50000"/>
                </a:srgbClr>
              </a:solidFill>
            </a:ln>
          </c:spPr>
          <c:cat>
            <c:numRef>
              <c:f>'5'!$F$116:$AT$116</c:f>
              <c:numCache>
                <c:formatCode>General</c:formatCode>
                <c:ptCount val="4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2026</c:v>
                </c:pt>
                <c:pt idx="17">
                  <c:v>2027</c:v>
                </c:pt>
                <c:pt idx="18">
                  <c:v>2028</c:v>
                </c:pt>
                <c:pt idx="19">
                  <c:v>2029</c:v>
                </c:pt>
                <c:pt idx="20">
                  <c:v>2030</c:v>
                </c:pt>
                <c:pt idx="21">
                  <c:v>2031</c:v>
                </c:pt>
                <c:pt idx="22">
                  <c:v>2032</c:v>
                </c:pt>
                <c:pt idx="23">
                  <c:v>2033</c:v>
                </c:pt>
                <c:pt idx="24">
                  <c:v>2034</c:v>
                </c:pt>
                <c:pt idx="25">
                  <c:v>2035</c:v>
                </c:pt>
                <c:pt idx="26">
                  <c:v>2036</c:v>
                </c:pt>
                <c:pt idx="27">
                  <c:v>2037</c:v>
                </c:pt>
                <c:pt idx="28">
                  <c:v>2038</c:v>
                </c:pt>
                <c:pt idx="29">
                  <c:v>2039</c:v>
                </c:pt>
                <c:pt idx="30">
                  <c:v>2040</c:v>
                </c:pt>
                <c:pt idx="31">
                  <c:v>2041</c:v>
                </c:pt>
                <c:pt idx="32">
                  <c:v>2042</c:v>
                </c:pt>
                <c:pt idx="33">
                  <c:v>2043</c:v>
                </c:pt>
                <c:pt idx="34">
                  <c:v>2044</c:v>
                </c:pt>
                <c:pt idx="35">
                  <c:v>2045</c:v>
                </c:pt>
                <c:pt idx="36">
                  <c:v>2046</c:v>
                </c:pt>
                <c:pt idx="37">
                  <c:v>2047</c:v>
                </c:pt>
                <c:pt idx="38">
                  <c:v>2048</c:v>
                </c:pt>
                <c:pt idx="39">
                  <c:v>2049</c:v>
                </c:pt>
                <c:pt idx="40">
                  <c:v>2050</c:v>
                </c:pt>
              </c:numCache>
            </c:numRef>
          </c:cat>
          <c:val>
            <c:numRef>
              <c:f>'5'!$F$122:$AT$122</c:f>
              <c:numCache>
                <c:formatCode>#,##0</c:formatCode>
                <c:ptCount val="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0.44372883630910565</c:v>
                </c:pt>
                <c:pt idx="17">
                  <c:v>0.79281393951401924</c:v>
                </c:pt>
                <c:pt idx="18">
                  <c:v>1.0396006282932717</c:v>
                </c:pt>
                <c:pt idx="19">
                  <c:v>1.3280056661973845</c:v>
                </c:pt>
                <c:pt idx="20">
                  <c:v>1.7629467168789006</c:v>
                </c:pt>
                <c:pt idx="21">
                  <c:v>2.1359147875436406</c:v>
                </c:pt>
                <c:pt idx="22">
                  <c:v>2.4663501961251768</c:v>
                </c:pt>
                <c:pt idx="23">
                  <c:v>2.8359858516784016</c:v>
                </c:pt>
                <c:pt idx="24">
                  <c:v>3.7062638128179515</c:v>
                </c:pt>
                <c:pt idx="25">
                  <c:v>4.6419902527443924</c:v>
                </c:pt>
                <c:pt idx="26">
                  <c:v>5.6927201720442895</c:v>
                </c:pt>
                <c:pt idx="27">
                  <c:v>6.8056887076087378</c:v>
                </c:pt>
                <c:pt idx="28">
                  <c:v>7.9670384826995928</c:v>
                </c:pt>
                <c:pt idx="29">
                  <c:v>9.1885825065543827</c:v>
                </c:pt>
                <c:pt idx="30">
                  <c:v>10.672103550489112</c:v>
                </c:pt>
                <c:pt idx="31">
                  <c:v>12.10191178750739</c:v>
                </c:pt>
                <c:pt idx="32">
                  <c:v>13.498498948647068</c:v>
                </c:pt>
                <c:pt idx="33">
                  <c:v>14.861369028212152</c:v>
                </c:pt>
                <c:pt idx="34">
                  <c:v>16.158279688298933</c:v>
                </c:pt>
                <c:pt idx="35">
                  <c:v>17.406827416924273</c:v>
                </c:pt>
                <c:pt idx="36">
                  <c:v>18.609500201327137</c:v>
                </c:pt>
                <c:pt idx="37">
                  <c:v>19.735343462975266</c:v>
                </c:pt>
                <c:pt idx="38">
                  <c:v>20.772111517567112</c:v>
                </c:pt>
                <c:pt idx="39">
                  <c:v>21.766228947366528</c:v>
                </c:pt>
                <c:pt idx="40">
                  <c:v>22.640383483187847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288-4D39-AB68-0D51BEA918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89833151"/>
        <c:axId val="389837471"/>
      </c:areaChart>
      <c:dateAx>
        <c:axId val="389833151"/>
        <c:scaling>
          <c:orientation val="minMax"/>
          <c:min val="2020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25400">
            <a:solidFill>
              <a:srgbClr val="A6A6A6"/>
            </a:solidFill>
            <a:prstDash val="solid"/>
          </a:ln>
        </c:spPr>
        <c:txPr>
          <a:bodyPr rot="0" vert="horz"/>
          <a:lstStyle/>
          <a:p>
            <a:pPr>
              <a:defRPr sz="2400"/>
            </a:pPr>
            <a:endParaRPr lang="en-US"/>
          </a:p>
        </c:txPr>
        <c:crossAx val="389837471"/>
        <c:crosses val="autoZero"/>
        <c:auto val="0"/>
        <c:lblOffset val="100"/>
        <c:baseTimeUnit val="days"/>
        <c:majorUnit val="10"/>
        <c:majorTimeUnit val="days"/>
        <c:minorUnit val="5"/>
      </c:dateAx>
      <c:valAx>
        <c:axId val="389837471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lnSpc>
                    <a:spcPct val="60000"/>
                  </a:lnSpc>
                  <a:defRPr sz="2400"/>
                </a:pPr>
                <a:r>
                  <a:rPr lang="en-GB" sz="2400" dirty="0"/>
                  <a:t>EJ/year</a:t>
                </a:r>
                <a:r>
                  <a:rPr lang="en-GB" sz="2400" baseline="0" dirty="0"/>
                  <a:t> scenario ranges</a:t>
                </a:r>
                <a:endParaRPr lang="en-GB" sz="2400" dirty="0"/>
              </a:p>
            </c:rich>
          </c:tx>
          <c:layout>
            <c:manualLayout>
              <c:xMode val="edge"/>
              <c:yMode val="edge"/>
              <c:x val="2.6074879227053139E-2"/>
              <c:y val="0.16233252230332523"/>
            </c:manualLayout>
          </c:layout>
          <c:overlay val="0"/>
          <c:spPr>
            <a:noFill/>
          </c:spPr>
        </c:title>
        <c:numFmt formatCode="0" sourceLinked="0"/>
        <c:majorTickMark val="out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sz="2400"/>
            </a:pPr>
            <a:endParaRPr lang="en-NL"/>
          </a:p>
        </c:txPr>
        <c:crossAx val="389833151"/>
        <c:crosses val="autoZero"/>
        <c:crossBetween val="midCat"/>
      </c:valAx>
      <c:spPr>
        <a:noFill/>
        <a:extLst>
          <a:ext uri="{909E8E84-426E-40DD-AFC4-6F175D3DCCD1}">
            <a14:hiddenFill xmlns:a14="http://schemas.microsoft.com/office/drawing/2010/main">
              <a:solidFill>
                <a:sysClr val="window" lastClr="FFFFFF"/>
              </a:solidFill>
            </a14:hiddenFill>
          </a:ext>
        </a:extLst>
      </c:spPr>
    </c:plotArea>
    <c:plotVisOnly val="0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>
      <a:noFill/>
    </a:ln>
    <a:extLst>
      <a:ext uri="{909E8E84-426E-40DD-AFC4-6F175D3DCCD1}">
        <a14:hiddenFill xmlns:a14="http://schemas.microsoft.com/office/drawing/2010/main">
          <a:solidFill>
            <a:sysClr val="window" lastClr="FFFFFF"/>
          </a:solidFill>
        </a14:hiddenFill>
      </a:ext>
    </a:extLst>
  </c:spPr>
  <c:txPr>
    <a:bodyPr/>
    <a:lstStyle/>
    <a:p>
      <a:pPr>
        <a:defRPr sz="3200" b="0" i="0">
          <a:solidFill>
            <a:srgbClr val="404040"/>
          </a:solidFill>
          <a:latin typeface="ShellBook" panose="00000500000000000000" pitchFamily="2" charset="0"/>
          <a:ea typeface="ShellMedium"/>
          <a:cs typeface="ShellMedium"/>
        </a:defRPr>
      </a:pPr>
      <a:endParaRPr lang="en-US"/>
    </a:p>
  </c:tx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0.46001</cdr:x>
      <cdr:y>0.71628</cdr:y>
    </cdr:from>
    <cdr:to>
      <cdr:x>0.8141</cdr:x>
      <cdr:y>0.80961</cdr:y>
    </cdr:to>
    <cdr:sp macro="" textlink="">
      <cdr:nvSpPr>
        <cdr:cNvPr id="2" name="TextBox 2">
          <a:extLst xmlns:a="http://schemas.openxmlformats.org/drawingml/2006/main">
            <a:ext uri="{FF2B5EF4-FFF2-40B4-BE49-F238E27FC236}">
              <a16:creationId xmlns:a16="http://schemas.microsoft.com/office/drawing/2014/main" id="{13DB2E35-1BD3-1008-E462-F87267419F3E}"/>
            </a:ext>
          </a:extLst>
        </cdr:cNvPr>
        <cdr:cNvSpPr txBox="1"/>
      </cdr:nvSpPr>
      <cdr:spPr bwMode="auto">
        <a:xfrm xmlns:a="http://schemas.openxmlformats.org/drawingml/2006/main">
          <a:off x="3808883" y="3532693"/>
          <a:ext cx="2931893" cy="46031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 algn="ctr">
          <a:noFill/>
          <a:miter lim="800000"/>
          <a:headEnd/>
          <a:tailEnd/>
        </a:ln>
      </cdr:spPr>
      <cdr:txBody>
        <a:bodyPr xmlns:a="http://schemas.openxmlformats.org/drawingml/2006/main" vert="horz" wrap="none" lIns="0" tIns="0" rIns="0" bIns="0" numCol="1" rtlCol="0" anchor="t" anchorCtr="0" compatLnSpc="1">
          <a:prstTxWarp prst="textNoShape">
            <a:avLst/>
          </a:prstTxWarp>
          <a:sp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defTabSz="357708">
            <a:lnSpc>
              <a:spcPct val="140000"/>
            </a:lnSpc>
            <a:buClr>
              <a:schemeClr val="accent2"/>
            </a:buClr>
            <a:buSzPct val="75000"/>
          </a:pPr>
          <a:r>
            <a:rPr lang="en-GB" sz="2400" dirty="0">
              <a:latin typeface="ShellBook" panose="00000500000000000000" pitchFamily="2" charset="0"/>
            </a:rPr>
            <a:t>Low carbon molecules</a:t>
          </a:r>
        </a:p>
      </cdr:txBody>
    </cdr:sp>
  </cdr:relSizeAnchor>
  <cdr:relSizeAnchor xmlns:cdr="http://schemas.openxmlformats.org/drawingml/2006/chartDrawing">
    <cdr:from>
      <cdr:x>0.53858</cdr:x>
      <cdr:y>0.55456</cdr:y>
    </cdr:from>
    <cdr:to>
      <cdr:x>0.69114</cdr:x>
      <cdr:y>0.64789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1FB31082-81D2-7D7A-66A2-4E719131016B}"/>
            </a:ext>
          </a:extLst>
        </cdr:cNvPr>
        <cdr:cNvSpPr txBox="1"/>
      </cdr:nvSpPr>
      <cdr:spPr bwMode="auto">
        <a:xfrm xmlns:a="http://schemas.openxmlformats.org/drawingml/2006/main">
          <a:off x="4459442" y="2735090"/>
          <a:ext cx="1263166" cy="46031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 algn="ctr">
          <a:noFill/>
          <a:miter lim="800000"/>
          <a:headEnd/>
          <a:tailEnd/>
        </a:ln>
      </cdr:spPr>
      <cdr:txBody>
        <a:bodyPr xmlns:a="http://schemas.openxmlformats.org/drawingml/2006/main" vert="horz" wrap="none" lIns="0" tIns="0" rIns="0" bIns="0" numCol="1" rtlCol="0" anchor="t" anchorCtr="0" compatLnSpc="1">
          <a:prstTxWarp prst="textNoShape">
            <a:avLst/>
          </a:prstTxWarp>
          <a:spAutoFit/>
        </a:bodyPr>
        <a:lstStyle xmlns:a="http://schemas.openxmlformats.org/drawingml/2006/main">
          <a:defPPr>
            <a:defRPr lang="en-US"/>
          </a:defPPr>
          <a:lvl1pPr marL="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defTabSz="357708">
            <a:lnSpc>
              <a:spcPct val="140000"/>
            </a:lnSpc>
            <a:buClr>
              <a:schemeClr val="accent2"/>
            </a:buClr>
            <a:buSzPct val="75000"/>
          </a:pPr>
          <a:r>
            <a:rPr lang="en-GB" sz="2400" dirty="0">
              <a:latin typeface="ShellBook" panose="00000500000000000000" pitchFamily="2" charset="0"/>
            </a:rPr>
            <a:t>Electricity</a:t>
          </a:r>
        </a:p>
      </cdr:txBody>
    </cdr:sp>
  </cdr:relSizeAnchor>
  <cdr:relSizeAnchor xmlns:cdr="http://schemas.openxmlformats.org/drawingml/2006/chartDrawing">
    <cdr:from>
      <cdr:x>0.74186</cdr:x>
      <cdr:y>0.1572</cdr:y>
    </cdr:from>
    <cdr:to>
      <cdr:x>0.82685</cdr:x>
      <cdr:y>0.25053</cdr:y>
    </cdr:to>
    <cdr:sp macro="" textlink="">
      <cdr:nvSpPr>
        <cdr:cNvPr id="4" name="TextBox 1">
          <a:extLst xmlns:a="http://schemas.openxmlformats.org/drawingml/2006/main">
            <a:ext uri="{FF2B5EF4-FFF2-40B4-BE49-F238E27FC236}">
              <a16:creationId xmlns:a16="http://schemas.microsoft.com/office/drawing/2014/main" id="{60B0BA71-ABA2-2CAE-F24E-6E47408A3212}"/>
            </a:ext>
          </a:extLst>
        </cdr:cNvPr>
        <cdr:cNvSpPr txBox="1"/>
      </cdr:nvSpPr>
      <cdr:spPr bwMode="auto">
        <a:xfrm xmlns:a="http://schemas.openxmlformats.org/drawingml/2006/main">
          <a:off x="6142601" y="775310"/>
          <a:ext cx="703719" cy="46031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 algn="ctr">
          <a:noFill/>
          <a:miter lim="800000"/>
          <a:headEnd/>
          <a:tailEnd/>
        </a:ln>
      </cdr:spPr>
      <cdr:txBody>
        <a:bodyPr xmlns:a="http://schemas.openxmlformats.org/drawingml/2006/main" vert="horz" wrap="none" lIns="0" tIns="0" rIns="0" bIns="0" numCol="1" rtlCol="0" anchor="t" anchorCtr="0" compatLnSpc="1">
          <a:prstTxWarp prst="textNoShape">
            <a:avLst/>
          </a:prstTxWarp>
          <a:spAutoFit/>
        </a:bodyPr>
        <a:lstStyle xmlns:a="http://schemas.openxmlformats.org/drawingml/2006/main">
          <a:defPPr>
            <a:defRPr lang="en-US"/>
          </a:defPPr>
          <a:lvl1pPr marL="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defTabSz="357708">
            <a:lnSpc>
              <a:spcPct val="140000"/>
            </a:lnSpc>
            <a:buClr>
              <a:schemeClr val="accent2"/>
            </a:buClr>
            <a:buSzPct val="75000"/>
          </a:pPr>
          <a:r>
            <a:rPr lang="en-GB" sz="2400" dirty="0">
              <a:latin typeface="ShellBook" panose="00000500000000000000" pitchFamily="2" charset="0"/>
            </a:rPr>
            <a:t>Fossil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/>
            </a:lvl1pPr>
          </a:lstStyle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/>
            </a:lvl1pPr>
          </a:lstStyle>
          <a:p>
            <a:fld id="{78688C09-A274-4C07-9395-CBE67C0DE912}" type="datetimeFigureOut">
              <a:rPr lang="en-GB" smtClean="0">
                <a:latin typeface="Futura Medium" pitchFamily="2" charset="0"/>
              </a:rPr>
              <a:pPr/>
              <a:t>31/08/2026</a:t>
            </a:fld>
            <a:endParaRPr lang="en-GB" dirty="0">
              <a:latin typeface="Futura Medium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/>
            </a:lvl1pPr>
          </a:lstStyle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/>
            </a:lvl1pPr>
          </a:lstStyle>
          <a:p>
            <a:fld id="{18B005D9-1AAC-4E6D-B9B3-BB8CB4FD9D30}" type="slidenum">
              <a:rPr lang="en-GB" smtClean="0">
                <a:latin typeface="Futura Medium" pitchFamily="2" charset="0"/>
              </a:rPr>
              <a:pPr/>
              <a:t>‹#›</a:t>
            </a:fld>
            <a:endParaRPr lang="en-GB" dirty="0">
              <a:latin typeface="Futu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973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>
                <a:latin typeface="Futura Medium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>
                <a:latin typeface="Futura Medium" pitchFamily="2" charset="0"/>
              </a:defRPr>
            </a:lvl1pPr>
          </a:lstStyle>
          <a:p>
            <a:fld id="{E8910CE4-810D-4C84-B7AD-48C304FEA169}" type="datetimeFigureOut">
              <a:rPr lang="en-GB" smtClean="0"/>
              <a:pPr/>
              <a:t>31/08/2026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59113" y="1074738"/>
            <a:ext cx="3808412" cy="5386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4275" tIns="67137" rIns="134275" bIns="67137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6818990"/>
            <a:ext cx="7941310" cy="6460093"/>
          </a:xfrm>
          <a:prstGeom prst="rect">
            <a:avLst/>
          </a:prstGeom>
        </p:spPr>
        <p:txBody>
          <a:bodyPr vert="horz" lIns="134275" tIns="67137" rIns="134275" bIns="67137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>
                <a:latin typeface="Futura Medium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>
                <a:latin typeface="Futura Medium" pitchFamily="2" charset="0"/>
              </a:defRPr>
            </a:lvl1pPr>
          </a:lstStyle>
          <a:p>
            <a:fld id="{DE799493-6412-4470-9830-D005B358D66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2893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676973" rtl="0" eaLnBrk="1" latinLnBrk="0" hangingPunct="1">
      <a:defRPr sz="6138" kern="1200">
        <a:solidFill>
          <a:schemeClr val="tx1"/>
        </a:solidFill>
        <a:latin typeface="Futura Medium" pitchFamily="2" charset="0"/>
        <a:ea typeface="+mn-ea"/>
        <a:cs typeface="+mn-cs"/>
      </a:defRPr>
    </a:lvl1pPr>
    <a:lvl2pPr marL="2338487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2pPr>
    <a:lvl3pPr marL="4676973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3pPr>
    <a:lvl4pPr marL="7015460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4pPr>
    <a:lvl5pPr marL="9353946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5pPr>
    <a:lvl6pPr marL="11692433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9509D-E4E7-EEE0-C1AF-4F718CAD9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9F0FA6-DF0E-EC0B-B3A1-9B91EA9D0A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21613-B6CC-AC13-2A85-F856B66BC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4711D-EB69-A69A-406E-0D759B966A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06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5505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>
              <a:defRPr/>
            </a:pPr>
            <a:r>
              <a:rPr lang="en-GB" sz="2800" dirty="0">
                <a:solidFill>
                  <a:schemeClr val="tx1"/>
                </a:solidFill>
                <a:latin typeface="+mn-lt"/>
                <a:cs typeface="Arial" pitchFamily="34" charset="0"/>
              </a:rPr>
              <a:t>Shape. Connect. Accelerate </a:t>
            </a:r>
          </a:p>
        </p:txBody>
      </p:sp>
      <p:sp>
        <p:nvSpPr>
          <p:cNvPr id="20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97623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 algn="r"/>
            <a:r>
              <a:rPr lang="en-GB" sz="2800" dirty="0"/>
              <a:t>September 7-8,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D0CE2F-1DFA-1F89-3C04-6693D0E978E9}"/>
              </a:ext>
            </a:extLst>
          </p:cNvPr>
          <p:cNvSpPr/>
          <p:nvPr userDrawn="1"/>
        </p:nvSpPr>
        <p:spPr>
          <a:xfrm>
            <a:off x="-1" y="1"/>
            <a:ext cx="30275213" cy="6827520"/>
          </a:xfrm>
          <a:prstGeom prst="rect">
            <a:avLst/>
          </a:prstGeom>
          <a:solidFill>
            <a:srgbClr val="F7D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032B41E-CA7B-293B-0827-739C4AA7C3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120" r="-991"/>
          <a:stretch/>
        </p:blipFill>
        <p:spPr>
          <a:xfrm>
            <a:off x="24260896" y="1321092"/>
            <a:ext cx="3359440" cy="3255921"/>
          </a:xfrm>
          <a:prstGeom prst="rect">
            <a:avLst/>
          </a:prstGeom>
        </p:spPr>
      </p:pic>
    </p:spTree>
  </p:cSld>
  <p:clrMapOvr>
    <a:masterClrMapping/>
  </p:clrMapOvr>
  <p:transition/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86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1CD8318-F598-F22A-F46C-E91BE846BE7B}"/>
              </a:ext>
            </a:extLst>
          </p:cNvPr>
          <p:cNvGraphicFramePr>
            <a:graphicFrameLocks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0009390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CD8318-F598-F22A-F46C-E91BE846BE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ransition>
    <p:fade/>
  </p:transition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 cap="none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Char char="n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4025" indent="-18415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31825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11213" indent="-173038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89013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tif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chart" Target="../charts/chart2.xml"/><Relationship Id="rId5" Type="http://schemas.openxmlformats.org/officeDocument/2006/relationships/image" Target="../media/image3.emf"/><Relationship Id="rId10" Type="http://schemas.openxmlformats.org/officeDocument/2006/relationships/chart" Target="../charts/chart1.xml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AB8D5-7895-56A5-5298-2ACE167FD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think-cell data - do not delete" hidden="1">
            <a:extLst>
              <a:ext uri="{FF2B5EF4-FFF2-40B4-BE49-F238E27FC236}">
                <a16:creationId xmlns:a16="http://schemas.microsoft.com/office/drawing/2014/main" id="{2127E170-1446-49AE-A6C6-A3B996F6ACE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7135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7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27E170-1446-49AE-A6C6-A3B996F6AC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Shape 4">
            <a:extLst>
              <a:ext uri="{FF2B5EF4-FFF2-40B4-BE49-F238E27FC236}">
                <a16:creationId xmlns:a16="http://schemas.microsoft.com/office/drawing/2014/main" id="{2A1AB082-FD84-E38F-FCDE-65795A56834C}"/>
              </a:ext>
            </a:extLst>
          </p:cNvPr>
          <p:cNvSpPr/>
          <p:nvPr/>
        </p:nvSpPr>
        <p:spPr>
          <a:xfrm>
            <a:off x="20436128" y="17556529"/>
            <a:ext cx="8788267" cy="1194063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4A4A4A"/>
              </a:solidFill>
              <a:effectLst/>
              <a:uLnTx/>
              <a:uFillTx/>
              <a:latin typeface="ShellMedium"/>
              <a:ea typeface="+mn-ea"/>
              <a:cs typeface="+mn-cs"/>
            </a:endParaRPr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6E228850-9CDF-DC3F-C1E9-21E45701F50E}"/>
              </a:ext>
            </a:extLst>
          </p:cNvPr>
          <p:cNvSpPr/>
          <p:nvPr/>
        </p:nvSpPr>
        <p:spPr>
          <a:xfrm>
            <a:off x="1125223" y="17501566"/>
            <a:ext cx="8450040" cy="1194063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4A4A4A"/>
              </a:solidFill>
              <a:effectLst/>
              <a:uLnTx/>
              <a:uFillTx/>
              <a:latin typeface="ShellMedium"/>
              <a:ea typeface="+mn-ea"/>
              <a:cs typeface="+mn-cs"/>
            </a:endParaRPr>
          </a:p>
        </p:txBody>
      </p:sp>
      <p:cxnSp>
        <p:nvCxnSpPr>
          <p:cNvPr id="88" name="ETS Funnel Lines - Team 1 convergence strand">
            <a:extLst>
              <a:ext uri="{FF2B5EF4-FFF2-40B4-BE49-F238E27FC236}">
                <a16:creationId xmlns:a16="http://schemas.microsoft.com/office/drawing/2014/main" id="{BDAAFA17-C6D5-0BB4-C2C9-DC883E2A0C37}"/>
              </a:ext>
            </a:extLst>
          </p:cNvPr>
          <p:cNvCxnSpPr>
            <a:cxnSpLocks/>
          </p:cNvCxnSpPr>
          <p:nvPr/>
        </p:nvCxnSpPr>
        <p:spPr>
          <a:xfrm>
            <a:off x="14017937" y="26680926"/>
            <a:ext cx="886083" cy="3307059"/>
          </a:xfrm>
          <a:prstGeom prst="line">
            <a:avLst/>
          </a:prstGeom>
          <a:ln w="152400" cap="rnd">
            <a:solidFill>
              <a:srgbClr val="1984B7"/>
            </a:solidFill>
          </a:ln>
        </p:spPr>
      </p:cxnSp>
      <p:cxnSp>
        <p:nvCxnSpPr>
          <p:cNvPr id="91" name="ETS Funnel Lines - Team 4 convergence strand">
            <a:extLst>
              <a:ext uri="{FF2B5EF4-FFF2-40B4-BE49-F238E27FC236}">
                <a16:creationId xmlns:a16="http://schemas.microsoft.com/office/drawing/2014/main" id="{C62BA28B-82D5-5065-94AE-12E78A7B3F9C}"/>
              </a:ext>
            </a:extLst>
          </p:cNvPr>
          <p:cNvCxnSpPr>
            <a:cxnSpLocks/>
          </p:cNvCxnSpPr>
          <p:nvPr/>
        </p:nvCxnSpPr>
        <p:spPr>
          <a:xfrm flipH="1">
            <a:off x="14978640" y="26680926"/>
            <a:ext cx="851910" cy="3307059"/>
          </a:xfrm>
          <a:prstGeom prst="line">
            <a:avLst/>
          </a:prstGeom>
          <a:ln w="152400" cap="rnd">
            <a:solidFill>
              <a:srgbClr val="4DB9E8"/>
            </a:solidFill>
          </a:ln>
        </p:spPr>
      </p:cxnSp>
      <p:sp>
        <p:nvSpPr>
          <p:cNvPr id="13" name="Shape 4">
            <a:extLst>
              <a:ext uri="{FF2B5EF4-FFF2-40B4-BE49-F238E27FC236}">
                <a16:creationId xmlns:a16="http://schemas.microsoft.com/office/drawing/2014/main" id="{B91DD440-4701-A4CB-FF52-B92DD006F1AD}"/>
              </a:ext>
            </a:extLst>
          </p:cNvPr>
          <p:cNvSpPr/>
          <p:nvPr/>
        </p:nvSpPr>
        <p:spPr>
          <a:xfrm>
            <a:off x="11522673" y="12996409"/>
            <a:ext cx="6700835" cy="350967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4A4A4A"/>
              </a:solidFill>
              <a:effectLst/>
              <a:uLnTx/>
              <a:uFillTx/>
              <a:latin typeface="ShellMedium"/>
              <a:ea typeface="+mn-ea"/>
              <a:cs typeface="+mn-cs"/>
            </a:endParaRPr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67212830-E7E3-1A18-B71B-7F9BCEA02CD6}"/>
              </a:ext>
            </a:extLst>
          </p:cNvPr>
          <p:cNvSpPr/>
          <p:nvPr/>
        </p:nvSpPr>
        <p:spPr>
          <a:xfrm>
            <a:off x="800100" y="10772949"/>
            <a:ext cx="28803600" cy="24651223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 sz="38310" dirty="0"/>
          </a:p>
        </p:txBody>
      </p:sp>
      <p:sp>
        <p:nvSpPr>
          <p:cNvPr id="123" name="Shape 4">
            <a:extLst>
              <a:ext uri="{FF2B5EF4-FFF2-40B4-BE49-F238E27FC236}">
                <a16:creationId xmlns:a16="http://schemas.microsoft.com/office/drawing/2014/main" id="{4B88A0A8-4F10-CF0E-2B56-BBA54A788482}"/>
              </a:ext>
            </a:extLst>
          </p:cNvPr>
          <p:cNvSpPr/>
          <p:nvPr/>
        </p:nvSpPr>
        <p:spPr>
          <a:xfrm>
            <a:off x="1156561" y="12953502"/>
            <a:ext cx="8450040" cy="415047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4A4A4A"/>
              </a:solidFill>
              <a:effectLst/>
              <a:uLnTx/>
              <a:uFillTx/>
              <a:latin typeface="ShellMedium"/>
              <a:ea typeface="+mn-ea"/>
              <a:cs typeface="+mn-cs"/>
            </a:endParaRPr>
          </a:p>
        </p:txBody>
      </p:sp>
      <p:sp>
        <p:nvSpPr>
          <p:cNvPr id="121" name="Shape 4">
            <a:extLst>
              <a:ext uri="{FF2B5EF4-FFF2-40B4-BE49-F238E27FC236}">
                <a16:creationId xmlns:a16="http://schemas.microsoft.com/office/drawing/2014/main" id="{120DEE5C-ABF7-699D-C03E-47FCB93AE36C}"/>
              </a:ext>
            </a:extLst>
          </p:cNvPr>
          <p:cNvSpPr/>
          <p:nvPr/>
        </p:nvSpPr>
        <p:spPr>
          <a:xfrm>
            <a:off x="20427137" y="12956729"/>
            <a:ext cx="8859396" cy="4221559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4A4A4A"/>
              </a:solidFill>
              <a:effectLst/>
              <a:uLnTx/>
              <a:uFillTx/>
              <a:latin typeface="ShellMedium"/>
              <a:ea typeface="+mn-ea"/>
              <a:cs typeface="+mn-cs"/>
            </a:endParaRPr>
          </a:p>
        </p:txBody>
      </p:sp>
      <p:cxnSp>
        <p:nvCxnSpPr>
          <p:cNvPr id="92" name="ETS Funnel Lines - Aligned-principles output arrow">
            <a:extLst>
              <a:ext uri="{FF2B5EF4-FFF2-40B4-BE49-F238E27FC236}">
                <a16:creationId xmlns:a16="http://schemas.microsoft.com/office/drawing/2014/main" id="{D6B48A64-F227-A91C-6B87-071E617A7FA1}"/>
              </a:ext>
            </a:extLst>
          </p:cNvPr>
          <p:cNvCxnSpPr>
            <a:cxnSpLocks/>
          </p:cNvCxnSpPr>
          <p:nvPr/>
        </p:nvCxnSpPr>
        <p:spPr>
          <a:xfrm>
            <a:off x="14942120" y="30133028"/>
            <a:ext cx="0" cy="1474798"/>
          </a:xfrm>
          <a:prstGeom prst="line">
            <a:avLst/>
          </a:prstGeom>
          <a:ln w="533400" cap="flat">
            <a:solidFill>
              <a:schemeClr val="tx1"/>
            </a:solidFill>
            <a:tailEnd type="triangle" w="sm" len="sm"/>
          </a:ln>
        </p:spPr>
      </p:cxnSp>
      <p:cxnSp>
        <p:nvCxnSpPr>
          <p:cNvPr id="90" name="ETS Funnel Lines - Team 3 convergence strand">
            <a:extLst>
              <a:ext uri="{FF2B5EF4-FFF2-40B4-BE49-F238E27FC236}">
                <a16:creationId xmlns:a16="http://schemas.microsoft.com/office/drawing/2014/main" id="{9AA9DD0B-ACC8-8BBB-6DFA-E779EFD3B576}"/>
              </a:ext>
            </a:extLst>
          </p:cNvPr>
          <p:cNvCxnSpPr>
            <a:cxnSpLocks/>
          </p:cNvCxnSpPr>
          <p:nvPr/>
        </p:nvCxnSpPr>
        <p:spPr>
          <a:xfrm>
            <a:off x="14875445" y="26680926"/>
            <a:ext cx="74620" cy="3307059"/>
          </a:xfrm>
          <a:prstGeom prst="line">
            <a:avLst/>
          </a:prstGeom>
          <a:ln w="152400" cap="rnd">
            <a:solidFill>
              <a:srgbClr val="F7B500"/>
            </a:solidFill>
          </a:ln>
        </p:spPr>
      </p:cxnSp>
      <p:pic>
        <p:nvPicPr>
          <p:cNvPr id="2" name="Image 0" descr="/mnt/data/48c52803bb.png">
            <a:extLst>
              <a:ext uri="{FF2B5EF4-FFF2-40B4-BE49-F238E27FC236}">
                <a16:creationId xmlns:a16="http://schemas.microsoft.com/office/drawing/2014/main" id="{D3266758-2B03-B1EF-129D-8C07E17615F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2800" b="22800"/>
          <a:stretch/>
        </p:blipFill>
        <p:spPr>
          <a:xfrm>
            <a:off x="0" y="0"/>
            <a:ext cx="30275213" cy="10348999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AC1E0B0D-8168-B45E-D826-E1DBF0A5E37C}"/>
              </a:ext>
            </a:extLst>
          </p:cNvPr>
          <p:cNvSpPr/>
          <p:nvPr/>
        </p:nvSpPr>
        <p:spPr>
          <a:xfrm>
            <a:off x="2087215" y="1065338"/>
            <a:ext cx="9457608" cy="1141434"/>
          </a:xfrm>
          <a:prstGeom prst="roundRect">
            <a:avLst>
              <a:gd name="adj" fmla="val 3333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97ACAB7-C03F-E28D-57EE-16453EC7BD2C}"/>
              </a:ext>
            </a:extLst>
          </p:cNvPr>
          <p:cNvSpPr/>
          <p:nvPr/>
        </p:nvSpPr>
        <p:spPr>
          <a:xfrm>
            <a:off x="2467692" y="1369720"/>
            <a:ext cx="9457607" cy="6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rPr lang="en-US" sz="5617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SHAPING GROUP DIRECTION</a:t>
            </a:r>
            <a:endParaRPr lang="en-US" sz="5617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621787E-37A1-FFCD-688F-CD3215E5F30B}"/>
              </a:ext>
            </a:extLst>
          </p:cNvPr>
          <p:cNvSpPr/>
          <p:nvPr/>
        </p:nvSpPr>
        <p:spPr>
          <a:xfrm>
            <a:off x="2087215" y="3157966"/>
            <a:ext cx="19404372" cy="1788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rPr lang="en-US" sz="14147" b="1">
                <a:solidFill>
                  <a:srgbClr val="2F3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Orion (ETS 2027)</a:t>
            </a:r>
            <a:endParaRPr lang="en-US" sz="14147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F99B2B8-C69A-8497-5CB1-E7B71836E310}"/>
              </a:ext>
            </a:extLst>
          </p:cNvPr>
          <p:cNvSpPr/>
          <p:nvPr/>
        </p:nvSpPr>
        <p:spPr>
          <a:xfrm>
            <a:off x="2087215" y="5098404"/>
            <a:ext cx="19214133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6000" dirty="0">
                <a:solidFill>
                  <a:srgbClr val="2F3033"/>
                </a:solidFill>
                <a:latin typeface="Aptos Display" pitchFamily="34" charset="0"/>
              </a:rPr>
              <a:t>Delivering growth in a changing energy system</a:t>
            </a:r>
            <a:endParaRPr lang="en-US" sz="5617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683999EC-ABCB-3267-AA7D-F371DA22F776}"/>
              </a:ext>
            </a:extLst>
          </p:cNvPr>
          <p:cNvSpPr/>
          <p:nvPr/>
        </p:nvSpPr>
        <p:spPr>
          <a:xfrm>
            <a:off x="2087214" y="6772506"/>
            <a:ext cx="19138038" cy="0"/>
          </a:xfrm>
          <a:prstGeom prst="line">
            <a:avLst/>
          </a:prstGeom>
          <a:noFill/>
          <a:ln w="12700">
            <a:solidFill>
              <a:srgbClr val="E9571F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DB9F0F6C-11A7-27A1-C34E-FE9018213A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87214" y="7533462"/>
            <a:ext cx="1255577" cy="83705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5A17EEDB-7FD6-7644-F800-DDB51D1F2ABD}"/>
              </a:ext>
            </a:extLst>
          </p:cNvPr>
          <p:cNvSpPr/>
          <p:nvPr/>
        </p:nvSpPr>
        <p:spPr>
          <a:xfrm>
            <a:off x="3456935" y="7571510"/>
            <a:ext cx="18262939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617" b="1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Thomas van der Meer &amp; Thomas Akkerhuis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D6C5B21-733F-B505-DA66-A2BDD3E898B3}"/>
              </a:ext>
            </a:extLst>
          </p:cNvPr>
          <p:cNvSpPr/>
          <p:nvPr/>
        </p:nvSpPr>
        <p:spPr>
          <a:xfrm>
            <a:off x="2087215" y="8941230"/>
            <a:ext cx="19214133" cy="951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326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 Global Team F2F 2026   |   7–8 September</a:t>
            </a:r>
            <a:endParaRPr lang="en-US" sz="5326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AB29031A-A3A6-487A-06FC-CF35318E6189}"/>
              </a:ext>
            </a:extLst>
          </p:cNvPr>
          <p:cNvSpPr/>
          <p:nvPr/>
        </p:nvSpPr>
        <p:spPr>
          <a:xfrm>
            <a:off x="23850549" y="5402786"/>
            <a:ext cx="4565735" cy="2435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SHAPE</a:t>
            </a:r>
            <a:endParaRPr lang="en-US" sz="5409"/>
          </a:p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</a:t>
            </a:r>
            <a:endParaRPr lang="en-US" sz="5409"/>
          </a:p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ACCELERATE</a:t>
            </a:r>
            <a:endParaRPr lang="en-US" sz="5409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00713EBA-312E-A342-17A0-C4B74A006878}"/>
              </a:ext>
            </a:extLst>
          </p:cNvPr>
          <p:cNvSpPr/>
          <p:nvPr/>
        </p:nvSpPr>
        <p:spPr>
          <a:xfrm>
            <a:off x="800100" y="10805572"/>
            <a:ext cx="28803600" cy="178824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B30CC5C8-D9E7-5C3C-FC8E-7E95D9DD522F}"/>
              </a:ext>
            </a:extLst>
          </p:cNvPr>
          <p:cNvSpPr/>
          <p:nvPr/>
        </p:nvSpPr>
        <p:spPr>
          <a:xfrm>
            <a:off x="1250163" y="11109954"/>
            <a:ext cx="27774886" cy="114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9154" b="1" dirty="0">
                <a:solidFill>
                  <a:srgbClr val="2F3033"/>
                </a:solidFill>
                <a:latin typeface="Aptos Display" pitchFamily="34" charset="0"/>
              </a:rPr>
              <a:t>Three ingredients leading to aligned ETS principles</a:t>
            </a:r>
            <a:endParaRPr lang="en-US" sz="9154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AFA2A9CA-6CEC-C6D2-8247-74F93B7FD7E4}"/>
              </a:ext>
            </a:extLst>
          </p:cNvPr>
          <p:cNvSpPr/>
          <p:nvPr/>
        </p:nvSpPr>
        <p:spPr>
          <a:xfrm>
            <a:off x="1706736" y="41776472"/>
            <a:ext cx="7609558" cy="6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537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Shape. Connect. Accelerate.</a:t>
            </a:r>
            <a:endParaRPr lang="en-US" sz="3537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3BD51010-3DBD-BDC3-FED7-18BE420FFC77}"/>
              </a:ext>
            </a:extLst>
          </p:cNvPr>
          <p:cNvSpPr/>
          <p:nvPr/>
        </p:nvSpPr>
        <p:spPr>
          <a:xfrm>
            <a:off x="22747164" y="41776472"/>
            <a:ext cx="5897407" cy="6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3537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September 7–8, 2026</a:t>
            </a:r>
            <a:endParaRPr lang="en-US" sz="3537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2EAFC72-C36E-8C23-C054-B43F1ADF46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0549" y="1385284"/>
            <a:ext cx="4306322" cy="4306322"/>
          </a:xfrm>
          <a:prstGeom prst="rect">
            <a:avLst/>
          </a:prstGeom>
          <a:ln>
            <a:noFill/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3C2F43B-0D2C-8E08-2145-64BE276DAC34}"/>
              </a:ext>
            </a:extLst>
          </p:cNvPr>
          <p:cNvGrpSpPr/>
          <p:nvPr/>
        </p:nvGrpSpPr>
        <p:grpSpPr>
          <a:xfrm>
            <a:off x="9903245" y="19226617"/>
            <a:ext cx="9998881" cy="10761368"/>
            <a:chOff x="6949440" y="15794455"/>
            <a:chExt cx="16367759" cy="20496659"/>
          </a:xfrm>
        </p:grpSpPr>
        <p:sp>
          <p:nvSpPr>
            <p:cNvPr id="77" name="ETS Funnel Lines - Funnel rim">
              <a:extLst>
                <a:ext uri="{FF2B5EF4-FFF2-40B4-BE49-F238E27FC236}">
                  <a16:creationId xmlns:a16="http://schemas.microsoft.com/office/drawing/2014/main" id="{530B84E6-FC48-104F-D206-5D5E600445B3}"/>
                </a:ext>
              </a:extLst>
            </p:cNvPr>
            <p:cNvSpPr/>
            <p:nvPr/>
          </p:nvSpPr>
          <p:spPr>
            <a:xfrm>
              <a:off x="6949440" y="15794455"/>
              <a:ext cx="16367759" cy="342420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76200" cap="rnd">
              <a:solidFill>
                <a:srgbClr val="464646"/>
              </a:solidFill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cxnSp>
          <p:nvCxnSpPr>
            <p:cNvPr id="78" name="ETS Funnel Lines - Left upper wall">
              <a:extLst>
                <a:ext uri="{FF2B5EF4-FFF2-40B4-BE49-F238E27FC236}">
                  <a16:creationId xmlns:a16="http://schemas.microsoft.com/office/drawing/2014/main" id="{1690C394-184A-CB2A-0770-8286D5847A72}"/>
                </a:ext>
              </a:extLst>
            </p:cNvPr>
            <p:cNvCxnSpPr>
              <a:cxnSpLocks/>
            </p:cNvCxnSpPr>
            <p:nvPr/>
          </p:nvCxnSpPr>
          <p:spPr>
            <a:xfrm>
              <a:off x="7063094" y="17780213"/>
              <a:ext cx="6241427" cy="12212106"/>
            </a:xfrm>
            <a:prstGeom prst="line">
              <a:avLst/>
            </a:prstGeom>
            <a:ln w="76200" cap="rnd">
              <a:solidFill>
                <a:srgbClr val="464646"/>
              </a:solidFill>
            </a:ln>
          </p:spPr>
        </p:cxnSp>
        <p:cxnSp>
          <p:nvCxnSpPr>
            <p:cNvPr id="79" name="ETS Funnel Lines - Left neck transition">
              <a:extLst>
                <a:ext uri="{FF2B5EF4-FFF2-40B4-BE49-F238E27FC236}">
                  <a16:creationId xmlns:a16="http://schemas.microsoft.com/office/drawing/2014/main" id="{F234C08D-33B4-66CB-AE30-D00F4BD86BC3}"/>
                </a:ext>
              </a:extLst>
            </p:cNvPr>
            <p:cNvCxnSpPr>
              <a:cxnSpLocks/>
            </p:cNvCxnSpPr>
            <p:nvPr/>
          </p:nvCxnSpPr>
          <p:spPr>
            <a:xfrm>
              <a:off x="13304521" y="29992318"/>
              <a:ext cx="1476630" cy="6298796"/>
            </a:xfrm>
            <a:prstGeom prst="line">
              <a:avLst/>
            </a:prstGeom>
            <a:ln w="76200" cap="rnd">
              <a:solidFill>
                <a:srgbClr val="464646"/>
              </a:solidFill>
            </a:ln>
          </p:spPr>
        </p:cxnSp>
        <p:cxnSp>
          <p:nvCxnSpPr>
            <p:cNvPr id="81" name="ETS Funnel Lines - Right upper wall">
              <a:extLst>
                <a:ext uri="{FF2B5EF4-FFF2-40B4-BE49-F238E27FC236}">
                  <a16:creationId xmlns:a16="http://schemas.microsoft.com/office/drawing/2014/main" id="{703BD897-930F-91F9-9D49-AC4D851AE4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962120" y="17780213"/>
              <a:ext cx="6238731" cy="12212106"/>
            </a:xfrm>
            <a:prstGeom prst="line">
              <a:avLst/>
            </a:prstGeom>
            <a:ln w="76200" cap="rnd">
              <a:solidFill>
                <a:srgbClr val="464646"/>
              </a:solidFill>
            </a:ln>
          </p:spPr>
        </p:cxnSp>
        <p:cxnSp>
          <p:nvCxnSpPr>
            <p:cNvPr id="82" name="ETS Funnel Lines - Right neck transition">
              <a:extLst>
                <a:ext uri="{FF2B5EF4-FFF2-40B4-BE49-F238E27FC236}">
                  <a16:creationId xmlns:a16="http://schemas.microsoft.com/office/drawing/2014/main" id="{1363F610-DE1A-7B9A-135D-F4C46936F9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17875" y="29992320"/>
              <a:ext cx="1444245" cy="6298794"/>
            </a:xfrm>
            <a:prstGeom prst="line">
              <a:avLst/>
            </a:prstGeom>
            <a:ln w="76200" cap="rnd">
              <a:solidFill>
                <a:srgbClr val="464646"/>
              </a:solidFill>
            </a:ln>
          </p:spPr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0C9207F-86D1-4378-3FDB-18490A99B80E}"/>
              </a:ext>
            </a:extLst>
          </p:cNvPr>
          <p:cNvGrpSpPr/>
          <p:nvPr/>
        </p:nvGrpSpPr>
        <p:grpSpPr>
          <a:xfrm rot="700041">
            <a:off x="13523223" y="22249089"/>
            <a:ext cx="2773820" cy="2772381"/>
            <a:chOff x="12161520" y="20711160"/>
            <a:chExt cx="5943600" cy="5943600"/>
          </a:xfrm>
        </p:grpSpPr>
        <p:sp>
          <p:nvSpPr>
            <p:cNvPr id="84" name="ETS Funnel Lines - Team 1 cycle">
              <a:extLst>
                <a:ext uri="{FF2B5EF4-FFF2-40B4-BE49-F238E27FC236}">
                  <a16:creationId xmlns:a16="http://schemas.microsoft.com/office/drawing/2014/main" id="{5A1D6F3B-0FF7-F8F2-FEE2-CAE9BC2B3E62}"/>
                </a:ext>
              </a:extLst>
            </p:cNvPr>
            <p:cNvSpPr/>
            <p:nvPr/>
          </p:nvSpPr>
          <p:spPr>
            <a:xfrm>
              <a:off x="12161520" y="20711160"/>
              <a:ext cx="5943600" cy="5943600"/>
            </a:xfrm>
            <a:prstGeom prst="arc">
              <a:avLst>
                <a:gd name="adj1" fmla="val 1450976"/>
                <a:gd name="adj2" fmla="val 8259756"/>
              </a:avLst>
            </a:prstGeom>
            <a:noFill/>
            <a:ln w="177800" cap="rnd">
              <a:solidFill>
                <a:srgbClr val="4DB9E8"/>
              </a:solidFill>
              <a:tailEnd type="triangle" w="lg" len="lg"/>
            </a:ln>
          </p:spPr>
          <p:txBody>
            <a:bodyPr rtlCol="0" anchor="ctr"/>
            <a:lstStyle/>
            <a:p>
              <a:pPr algn="ctr"/>
              <a:endParaRPr sz="6000">
                <a:latin typeface="Aptos" panose="020B0004020202020204" pitchFamily="34" charset="0"/>
              </a:endParaRPr>
            </a:p>
          </p:txBody>
        </p:sp>
        <p:sp>
          <p:nvSpPr>
            <p:cNvPr id="86" name="ETS Funnel Lines - Team 3 cycle">
              <a:extLst>
                <a:ext uri="{FF2B5EF4-FFF2-40B4-BE49-F238E27FC236}">
                  <a16:creationId xmlns:a16="http://schemas.microsoft.com/office/drawing/2014/main" id="{3C92ED0D-EDEF-275D-448B-71EA30C2D772}"/>
                </a:ext>
              </a:extLst>
            </p:cNvPr>
            <p:cNvSpPr/>
            <p:nvPr/>
          </p:nvSpPr>
          <p:spPr>
            <a:xfrm rot="10800000">
              <a:off x="12161520" y="20711160"/>
              <a:ext cx="5943600" cy="5943600"/>
            </a:xfrm>
            <a:prstGeom prst="arc">
              <a:avLst>
                <a:gd name="adj1" fmla="val 19900001"/>
                <a:gd name="adj2" fmla="val 4602033"/>
              </a:avLst>
            </a:prstGeom>
            <a:noFill/>
            <a:ln w="177800" cap="rnd">
              <a:solidFill>
                <a:srgbClr val="005B80"/>
              </a:solidFill>
              <a:tailEnd type="triangle" w="lg" len="lg"/>
            </a:ln>
          </p:spPr>
          <p:txBody>
            <a:bodyPr rtlCol="0" anchor="ctr"/>
            <a:lstStyle/>
            <a:p>
              <a:pPr algn="ctr"/>
              <a:endParaRPr sz="6000">
                <a:latin typeface="Aptos" panose="020B0004020202020204" pitchFamily="34" charset="0"/>
              </a:endParaRPr>
            </a:p>
          </p:txBody>
        </p:sp>
        <p:sp>
          <p:nvSpPr>
            <p:cNvPr id="87" name="ETS Funnel Lines - Team 4 cycle">
              <a:extLst>
                <a:ext uri="{FF2B5EF4-FFF2-40B4-BE49-F238E27FC236}">
                  <a16:creationId xmlns:a16="http://schemas.microsoft.com/office/drawing/2014/main" id="{562F8AC9-48B2-2191-46E3-5980DDFD0DFD}"/>
                </a:ext>
              </a:extLst>
            </p:cNvPr>
            <p:cNvSpPr/>
            <p:nvPr/>
          </p:nvSpPr>
          <p:spPr>
            <a:xfrm rot="16200000">
              <a:off x="12161520" y="20711160"/>
              <a:ext cx="5943600" cy="5943600"/>
            </a:xfrm>
            <a:prstGeom prst="arc">
              <a:avLst>
                <a:gd name="adj1" fmla="val 21340092"/>
                <a:gd name="adj2" fmla="val 6175477"/>
              </a:avLst>
            </a:prstGeom>
            <a:noFill/>
            <a:ln w="177800" cap="rnd">
              <a:solidFill>
                <a:srgbClr val="F7B500"/>
              </a:solidFill>
              <a:tailEnd type="triangle" w="lg" len="lg"/>
            </a:ln>
          </p:spPr>
          <p:txBody>
            <a:bodyPr rtlCol="0" anchor="ctr"/>
            <a:lstStyle/>
            <a:p>
              <a:pPr algn="ctr"/>
              <a:endParaRPr sz="6000">
                <a:latin typeface="Aptos" panose="020B0004020202020204" pitchFamily="34" charset="0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81BC31F-FCAA-CC30-3A57-11B5F2152412}"/>
              </a:ext>
            </a:extLst>
          </p:cNvPr>
          <p:cNvSpPr txBox="1"/>
          <p:nvPr/>
        </p:nvSpPr>
        <p:spPr>
          <a:xfrm>
            <a:off x="12286301" y="21642021"/>
            <a:ext cx="1638351" cy="91511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60"/>
              </a:spcAft>
            </a:pPr>
            <a:r>
              <a:rPr lang="en-GB" sz="5400" dirty="0">
                <a:latin typeface="Aptos" panose="020B0004020202020204" pitchFamily="34" charset="0"/>
              </a:rPr>
              <a:t>EC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658255-7239-A119-768D-E526A022A77A}"/>
              </a:ext>
            </a:extLst>
          </p:cNvPr>
          <p:cNvSpPr txBox="1"/>
          <p:nvPr/>
        </p:nvSpPr>
        <p:spPr>
          <a:xfrm>
            <a:off x="14017937" y="25297751"/>
            <a:ext cx="1638351" cy="91511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60"/>
              </a:spcAft>
            </a:pPr>
            <a:r>
              <a:rPr lang="en-GB" sz="5400" dirty="0">
                <a:latin typeface="Aptos" panose="020B0004020202020204" pitchFamily="34" charset="0"/>
              </a:rPr>
              <a:t>Orion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43AFA8-36CF-AA01-A1D5-60681FA74C8A}"/>
              </a:ext>
            </a:extLst>
          </p:cNvPr>
          <p:cNvSpPr txBox="1"/>
          <p:nvPr/>
        </p:nvSpPr>
        <p:spPr>
          <a:xfrm>
            <a:off x="16307561" y="21594734"/>
            <a:ext cx="1638351" cy="91511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60"/>
              </a:spcAft>
            </a:pPr>
            <a:r>
              <a:rPr lang="en-GB" sz="5400" dirty="0">
                <a:latin typeface="Aptos" panose="020B0004020202020204" pitchFamily="34" charset="0"/>
              </a:rPr>
              <a:t>Board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2417E80-AEED-2099-9F00-EF5DD6DC236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18197" y="19622389"/>
            <a:ext cx="8436681" cy="9694368"/>
          </a:xfrm>
          <a:prstGeom prst="rect">
            <a:avLst/>
          </a:prstGeom>
          <a:noFill/>
          <a:ln w="25400">
            <a:noFill/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6AF5D45-15A6-CD6F-6F67-63F208D6B1DE}"/>
              </a:ext>
            </a:extLst>
          </p:cNvPr>
          <p:cNvSpPr txBox="1"/>
          <p:nvPr/>
        </p:nvSpPr>
        <p:spPr>
          <a:xfrm>
            <a:off x="20489851" y="13032930"/>
            <a:ext cx="8565027" cy="4015908"/>
          </a:xfrm>
          <a:prstGeom prst="rect">
            <a:avLst/>
          </a:prstGeom>
          <a:noFill/>
        </p:spPr>
        <p:txBody>
          <a:bodyPr wrap="square" lIns="324000" tIns="0" rIns="0" bIns="0" rtlCol="0" anchor="t" anchorCtr="0">
            <a:spAutoFit/>
          </a:bodyPr>
          <a:lstStyle/>
          <a:p>
            <a:pPr>
              <a:lnSpc>
                <a:spcPct val="113000"/>
              </a:lnSpc>
              <a:spcAft>
                <a:spcPts val="60"/>
              </a:spcAft>
            </a:pPr>
            <a:r>
              <a:rPr lang="en-GB" sz="4800" dirty="0">
                <a:solidFill>
                  <a:schemeClr val="accent2"/>
                </a:solidFill>
                <a:latin typeface="Aptos Display" panose="020B0004020202020204" pitchFamily="34" charset="0"/>
              </a:rPr>
              <a:t>Honest </a:t>
            </a:r>
            <a:r>
              <a:rPr lang="en-GB" sz="4800" b="1" dirty="0">
                <a:solidFill>
                  <a:schemeClr val="accent2"/>
                </a:solidFill>
                <a:latin typeface="Aptos Display" panose="020B0004020202020204" pitchFamily="34" charset="0"/>
              </a:rPr>
              <a:t>self-assessment</a:t>
            </a:r>
            <a:endParaRPr lang="en-GB" sz="4800" dirty="0">
              <a:solidFill>
                <a:schemeClr val="accent2"/>
              </a:solidFill>
              <a:latin typeface="Aptos Display" panose="020B0004020202020204" pitchFamily="34" charset="0"/>
            </a:endParaRPr>
          </a:p>
          <a:p>
            <a:pPr marL="685800" indent="-685800">
              <a:lnSpc>
                <a:spcPct val="113000"/>
              </a:lnSpc>
              <a:spcAft>
                <a:spcPts val="60"/>
              </a:spcAft>
              <a:buFont typeface="Wingdings" panose="05000000000000000000" pitchFamily="2" charset="2"/>
              <a:buChar char="§"/>
            </a:pPr>
            <a:r>
              <a:rPr lang="en-GB" sz="4400" dirty="0">
                <a:latin typeface="Aptos Display" panose="020B0004020202020204" pitchFamily="34" charset="0"/>
              </a:rPr>
              <a:t>Competitive strengths</a:t>
            </a:r>
          </a:p>
          <a:p>
            <a:pPr marL="685800" indent="-685800">
              <a:lnSpc>
                <a:spcPct val="113000"/>
              </a:lnSpc>
              <a:spcAft>
                <a:spcPts val="60"/>
              </a:spcAft>
              <a:buFont typeface="Wingdings" panose="05000000000000000000" pitchFamily="2" charset="2"/>
              <a:buChar char="§"/>
            </a:pPr>
            <a:r>
              <a:rPr lang="en-GB" sz="4400" dirty="0">
                <a:latin typeface="Aptos Display" panose="020B0004020202020204" pitchFamily="34" charset="0"/>
              </a:rPr>
              <a:t>Vector deep dives</a:t>
            </a:r>
          </a:p>
          <a:p>
            <a:pPr marL="685800" indent="-685800">
              <a:lnSpc>
                <a:spcPct val="113000"/>
              </a:lnSpc>
              <a:spcAft>
                <a:spcPts val="60"/>
              </a:spcAft>
              <a:buFont typeface="Wingdings" panose="05000000000000000000" pitchFamily="2" charset="2"/>
              <a:buChar char="§"/>
            </a:pPr>
            <a:r>
              <a:rPr lang="en-GB" sz="4400" dirty="0">
                <a:latin typeface="Aptos Display" panose="020B0004020202020204" pitchFamily="34" charset="0"/>
              </a:rPr>
              <a:t>Past performance (chart)</a:t>
            </a:r>
          </a:p>
          <a:p>
            <a:pPr marL="685800" indent="-685800">
              <a:lnSpc>
                <a:spcPct val="113000"/>
              </a:lnSpc>
              <a:spcAft>
                <a:spcPts val="60"/>
              </a:spcAft>
              <a:buFont typeface="Wingdings" panose="05000000000000000000" pitchFamily="2" charset="2"/>
              <a:buChar char="§"/>
            </a:pPr>
            <a:r>
              <a:rPr lang="en-GB" sz="4400" dirty="0">
                <a:latin typeface="Aptos Display" panose="020B0004020202020204" pitchFamily="34" charset="0"/>
              </a:rPr>
              <a:t>Cross-SCA collaboration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D31D65-92FB-A6F1-3A5F-DD3EC781D886}"/>
              </a:ext>
            </a:extLst>
          </p:cNvPr>
          <p:cNvSpPr txBox="1"/>
          <p:nvPr/>
        </p:nvSpPr>
        <p:spPr>
          <a:xfrm>
            <a:off x="1098674" y="13029701"/>
            <a:ext cx="8507927" cy="3898760"/>
          </a:xfrm>
          <a:prstGeom prst="rect">
            <a:avLst/>
          </a:prstGeom>
          <a:noFill/>
        </p:spPr>
        <p:txBody>
          <a:bodyPr wrap="square" lIns="324000" tIns="0" rIns="0" bIns="0" rtlCol="0" anchor="t" anchorCtr="0">
            <a:spAutoFit/>
          </a:bodyPr>
          <a:lstStyle/>
          <a:p>
            <a:pPr>
              <a:lnSpc>
                <a:spcPct val="113000"/>
              </a:lnSpc>
              <a:spcAft>
                <a:spcPts val="60"/>
              </a:spcAft>
            </a:pPr>
            <a:r>
              <a:rPr lang="en-GB" sz="4800" dirty="0">
                <a:solidFill>
                  <a:schemeClr val="accent2"/>
                </a:solidFill>
                <a:latin typeface="Aptos Display" panose="020B0004020202020204" pitchFamily="34" charset="0"/>
              </a:rPr>
              <a:t>Energy system </a:t>
            </a:r>
            <a:r>
              <a:rPr lang="en-GB" sz="4800" b="1" dirty="0">
                <a:solidFill>
                  <a:schemeClr val="accent2"/>
                </a:solidFill>
                <a:latin typeface="Aptos Display" panose="020B0004020202020204" pitchFamily="34" charset="0"/>
              </a:rPr>
              <a:t>beliefs</a:t>
            </a:r>
            <a:endParaRPr lang="en-GB" sz="4800" dirty="0">
              <a:solidFill>
                <a:schemeClr val="accent2"/>
              </a:solidFill>
              <a:latin typeface="Aptos Display" panose="020B0004020202020204" pitchFamily="34" charset="0"/>
            </a:endParaRPr>
          </a:p>
          <a:p>
            <a:pPr marL="685800" indent="-685800">
              <a:lnSpc>
                <a:spcPct val="113000"/>
              </a:lnSpc>
              <a:spcAft>
                <a:spcPts val="60"/>
              </a:spcAft>
              <a:buFont typeface="Wingdings" panose="05000000000000000000" pitchFamily="2" charset="2"/>
              <a:buChar char="§"/>
            </a:pPr>
            <a:r>
              <a:rPr lang="en-GB" sz="4400" dirty="0">
                <a:latin typeface="Aptos Display" panose="020B0004020202020204" pitchFamily="34" charset="0"/>
              </a:rPr>
              <a:t>System, demand, policy, innovation, carbon</a:t>
            </a:r>
          </a:p>
          <a:p>
            <a:pPr marL="685800" indent="-685800">
              <a:lnSpc>
                <a:spcPct val="113000"/>
              </a:lnSpc>
              <a:spcAft>
                <a:spcPts val="60"/>
              </a:spcAft>
              <a:buFont typeface="Wingdings" panose="05000000000000000000" pitchFamily="2" charset="2"/>
              <a:buChar char="§"/>
            </a:pPr>
            <a:r>
              <a:rPr lang="en-GB" sz="4400" dirty="0">
                <a:latin typeface="Aptos Display" panose="020B0004020202020204" pitchFamily="34" charset="0"/>
              </a:rPr>
              <a:t>CSP – SI&amp;S team effort</a:t>
            </a:r>
          </a:p>
          <a:p>
            <a:pPr marL="685800" indent="-685800">
              <a:lnSpc>
                <a:spcPct val="113000"/>
              </a:lnSpc>
              <a:spcAft>
                <a:spcPts val="60"/>
              </a:spcAft>
              <a:buFont typeface="Wingdings" panose="05000000000000000000" pitchFamily="2" charset="2"/>
              <a:buChar char="§"/>
            </a:pPr>
            <a:r>
              <a:rPr lang="en-GB" sz="4400" dirty="0">
                <a:latin typeface="Aptos Display" panose="020B0004020202020204" pitchFamily="34" charset="0"/>
              </a:rPr>
              <a:t>Enables challenge</a:t>
            </a:r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AC6477A5-B612-835E-0D6D-F46AA67D435C}"/>
              </a:ext>
            </a:extLst>
          </p:cNvPr>
          <p:cNvSpPr/>
          <p:nvPr/>
        </p:nvSpPr>
        <p:spPr>
          <a:xfrm>
            <a:off x="4851654" y="16148533"/>
            <a:ext cx="7791536" cy="9954389"/>
          </a:xfrm>
          <a:prstGeom prst="arc">
            <a:avLst>
              <a:gd name="adj1" fmla="val 17000575"/>
              <a:gd name="adj2" fmla="val 19709518"/>
            </a:avLst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1FEC87-9F22-9313-51F8-229091F1755E}"/>
              </a:ext>
            </a:extLst>
          </p:cNvPr>
          <p:cNvSpPr txBox="1"/>
          <p:nvPr/>
        </p:nvSpPr>
        <p:spPr>
          <a:xfrm>
            <a:off x="10410690" y="19639435"/>
            <a:ext cx="90400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"/>
              </a:spcAft>
            </a:pPr>
            <a:r>
              <a:rPr lang="en-GB" sz="4800" b="1" dirty="0">
                <a:solidFill>
                  <a:schemeClr val="accent2"/>
                </a:solidFill>
                <a:latin typeface="Aptos Display" panose="020B0004020202020204" pitchFamily="34" charset="0"/>
              </a:rPr>
              <a:t>Iteration </a:t>
            </a:r>
            <a:r>
              <a:rPr lang="en-GB" sz="4800" dirty="0">
                <a:solidFill>
                  <a:schemeClr val="accent2"/>
                </a:solidFill>
                <a:latin typeface="Aptos Display" panose="020B0004020202020204" pitchFamily="34" charset="0"/>
              </a:rPr>
              <a:t>with a learner mindset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ADD7D5-6AD8-5CDD-0B83-435B6F7E69D0}"/>
              </a:ext>
            </a:extLst>
          </p:cNvPr>
          <p:cNvSpPr txBox="1"/>
          <p:nvPr/>
        </p:nvSpPr>
        <p:spPr>
          <a:xfrm>
            <a:off x="6602879" y="31607826"/>
            <a:ext cx="16144285" cy="3394327"/>
          </a:xfrm>
          <a:prstGeom prst="rect">
            <a:avLst/>
          </a:prstGeom>
          <a:noFill/>
        </p:spPr>
        <p:txBody>
          <a:bodyPr wrap="square" lIns="324000" tIns="0" rIns="0" bIns="0" rtlCol="0" anchor="t" anchorCtr="0">
            <a:spAutoFit/>
          </a:bodyPr>
          <a:lstStyle/>
          <a:p>
            <a:pPr algn="ctr">
              <a:lnSpc>
                <a:spcPct val="113000"/>
              </a:lnSpc>
              <a:spcAft>
                <a:spcPts val="60"/>
              </a:spcAft>
            </a:pPr>
            <a:r>
              <a:rPr lang="en-GB" sz="5400" b="1" dirty="0">
                <a:solidFill>
                  <a:schemeClr val="accent2"/>
                </a:solidFill>
                <a:latin typeface="Aptos Display" panose="020B0004020202020204" pitchFamily="34" charset="0"/>
              </a:rPr>
              <a:t>ETS Principles</a:t>
            </a:r>
            <a:r>
              <a:rPr lang="en-GB" sz="5400" dirty="0">
                <a:solidFill>
                  <a:schemeClr val="accent2"/>
                </a:solidFill>
                <a:latin typeface="Aptos Display" panose="020B0004020202020204" pitchFamily="34" charset="0"/>
              </a:rPr>
              <a:t> </a:t>
            </a:r>
          </a:p>
          <a:p>
            <a:pPr marL="685800" indent="-685800">
              <a:lnSpc>
                <a:spcPct val="112000"/>
              </a:lnSpc>
              <a:buFont typeface="Wingdings" panose="05000000000000000000" pitchFamily="2" charset="2"/>
              <a:buChar char="§"/>
            </a:pPr>
            <a:r>
              <a:rPr lang="en-US" sz="4800" b="1" dirty="0">
                <a:latin typeface="Aptos Display" pitchFamily="34" charset="0"/>
              </a:rPr>
              <a:t>ETS Beliefs &amp; Principles </a:t>
            </a:r>
            <a:r>
              <a:rPr lang="en-US" sz="4800" dirty="0">
                <a:latin typeface="Aptos Display" pitchFamily="34" charset="0"/>
              </a:rPr>
              <a:t>aligned with EC &amp; Board</a:t>
            </a:r>
          </a:p>
          <a:p>
            <a:pPr marL="685800" indent="-685800">
              <a:lnSpc>
                <a:spcPct val="112000"/>
              </a:lnSpc>
              <a:buFont typeface="Wingdings" panose="05000000000000000000" pitchFamily="2" charset="2"/>
              <a:buChar char="§"/>
            </a:pPr>
            <a:r>
              <a:rPr lang="en-US" sz="4800" b="1" dirty="0">
                <a:latin typeface="Aptos Display" pitchFamily="34" charset="0"/>
              </a:rPr>
              <a:t>Solid basis</a:t>
            </a:r>
            <a:r>
              <a:rPr lang="en-US" sz="4800" dirty="0">
                <a:latin typeface="Aptos Display" pitchFamily="34" charset="0"/>
              </a:rPr>
              <a:t> for portfolio and carbon choices in Orion phase 2, aligned to capital allocation framework</a:t>
            </a:r>
            <a:endParaRPr lang="en-US" sz="4800" dirty="0"/>
          </a:p>
        </p:txBody>
      </p:sp>
      <p:sp>
        <p:nvSpPr>
          <p:cNvPr id="66" name="Shape 11">
            <a:extLst>
              <a:ext uri="{FF2B5EF4-FFF2-40B4-BE49-F238E27FC236}">
                <a16:creationId xmlns:a16="http://schemas.microsoft.com/office/drawing/2014/main" id="{49052FCC-393B-7FF9-E0F7-74DF62221D3A}"/>
              </a:ext>
            </a:extLst>
          </p:cNvPr>
          <p:cNvSpPr/>
          <p:nvPr/>
        </p:nvSpPr>
        <p:spPr>
          <a:xfrm>
            <a:off x="800100" y="35426103"/>
            <a:ext cx="28803600" cy="5551366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68" name="Shape 12">
            <a:extLst>
              <a:ext uri="{FF2B5EF4-FFF2-40B4-BE49-F238E27FC236}">
                <a16:creationId xmlns:a16="http://schemas.microsoft.com/office/drawing/2014/main" id="{91CAAA8B-BBEF-8213-110C-8419C689474B}"/>
              </a:ext>
            </a:extLst>
          </p:cNvPr>
          <p:cNvSpPr/>
          <p:nvPr/>
        </p:nvSpPr>
        <p:spPr>
          <a:xfrm>
            <a:off x="800100" y="35426103"/>
            <a:ext cx="28803600" cy="178824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 sz="38310" dirty="0"/>
          </a:p>
        </p:txBody>
      </p:sp>
      <p:sp>
        <p:nvSpPr>
          <p:cNvPr id="72" name="Text 13">
            <a:extLst>
              <a:ext uri="{FF2B5EF4-FFF2-40B4-BE49-F238E27FC236}">
                <a16:creationId xmlns:a16="http://schemas.microsoft.com/office/drawing/2014/main" id="{2F38C4D5-93BA-040D-D0BE-F907F31F8802}"/>
              </a:ext>
            </a:extLst>
          </p:cNvPr>
          <p:cNvSpPr/>
          <p:nvPr/>
        </p:nvSpPr>
        <p:spPr>
          <a:xfrm>
            <a:off x="1220426" y="35787324"/>
            <a:ext cx="27774886" cy="114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en-US" sz="8738" b="1" dirty="0">
                <a:solidFill>
                  <a:srgbClr val="2F3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Learnings</a:t>
            </a:r>
            <a:endParaRPr lang="en-US" sz="8738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CF622C0-96B3-58E6-74BA-292B5F047E82}"/>
              </a:ext>
            </a:extLst>
          </p:cNvPr>
          <p:cNvSpPr txBox="1"/>
          <p:nvPr/>
        </p:nvSpPr>
        <p:spPr>
          <a:xfrm>
            <a:off x="1105286" y="37588042"/>
            <a:ext cx="9168455" cy="3133615"/>
          </a:xfrm>
          <a:prstGeom prst="rect">
            <a:avLst/>
          </a:prstGeom>
          <a:noFill/>
        </p:spPr>
        <p:txBody>
          <a:bodyPr wrap="square" lIns="324000" tIns="0" rIns="0" bIns="0" rtlCol="0" anchor="t" anchorCtr="0">
            <a:spAutoFit/>
          </a:bodyPr>
          <a:lstStyle/>
          <a:p>
            <a:pPr>
              <a:lnSpc>
                <a:spcPct val="113000"/>
              </a:lnSpc>
              <a:spcAft>
                <a:spcPts val="60"/>
              </a:spcAft>
            </a:pPr>
            <a:r>
              <a:rPr lang="en-GB" sz="4800" b="1" dirty="0">
                <a:solidFill>
                  <a:schemeClr val="accent2"/>
                </a:solidFill>
                <a:latin typeface="Aptos Display" panose="020B0004020202020204" pitchFamily="34" charset="0"/>
              </a:rPr>
              <a:t>Data-backed conviction matters</a:t>
            </a:r>
          </a:p>
          <a:p>
            <a:pPr marL="571500" indent="-571500">
              <a:lnSpc>
                <a:spcPct val="113000"/>
              </a:lnSpc>
              <a:spcAft>
                <a:spcPts val="60"/>
              </a:spcAft>
              <a:buFont typeface="Wingdings" panose="05000000000000000000" pitchFamily="2" charset="2"/>
              <a:buChar char="§"/>
            </a:pPr>
            <a:r>
              <a:rPr lang="en-GB" sz="4400" dirty="0">
                <a:latin typeface="Aptos Display" panose="020B0004020202020204" pitchFamily="34" charset="0"/>
              </a:rPr>
              <a:t>Guards independent judgment</a:t>
            </a:r>
          </a:p>
          <a:p>
            <a:pPr marL="571500" indent="-571500">
              <a:lnSpc>
                <a:spcPct val="113000"/>
              </a:lnSpc>
              <a:spcAft>
                <a:spcPts val="60"/>
              </a:spcAft>
              <a:buFont typeface="Wingdings" panose="05000000000000000000" pitchFamily="2" charset="2"/>
              <a:buChar char="§"/>
            </a:pPr>
            <a:r>
              <a:rPr lang="en-GB" sz="4400" dirty="0">
                <a:latin typeface="Aptos Display" panose="020B0004020202020204" pitchFamily="34" charset="0"/>
              </a:rPr>
              <a:t>Avoids jumping to answers</a:t>
            </a:r>
          </a:p>
          <a:p>
            <a:pPr marL="571500" indent="-571500">
              <a:lnSpc>
                <a:spcPct val="113000"/>
              </a:lnSpc>
              <a:spcAft>
                <a:spcPts val="60"/>
              </a:spcAft>
              <a:buFont typeface="Wingdings" panose="05000000000000000000" pitchFamily="2" charset="2"/>
              <a:buChar char="§"/>
            </a:pPr>
            <a:r>
              <a:rPr lang="en-GB" sz="4400" dirty="0">
                <a:latin typeface="Aptos Display" panose="020B0004020202020204" pitchFamily="34" charset="0"/>
              </a:rPr>
              <a:t>Enables zooming out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5A091E8-00DD-CF2E-9371-1C0B2A5759AE}"/>
              </a:ext>
            </a:extLst>
          </p:cNvPr>
          <p:cNvSpPr txBox="1"/>
          <p:nvPr/>
        </p:nvSpPr>
        <p:spPr>
          <a:xfrm>
            <a:off x="11163300" y="37588042"/>
            <a:ext cx="8404399" cy="3133615"/>
          </a:xfrm>
          <a:prstGeom prst="rect">
            <a:avLst/>
          </a:prstGeom>
          <a:noFill/>
        </p:spPr>
        <p:txBody>
          <a:bodyPr wrap="square" lIns="324000" tIns="0" rIns="0" bIns="0" rtlCol="0" anchor="t" anchorCtr="0">
            <a:spAutoFit/>
          </a:bodyPr>
          <a:lstStyle/>
          <a:p>
            <a:pPr>
              <a:lnSpc>
                <a:spcPct val="113000"/>
              </a:lnSpc>
              <a:spcAft>
                <a:spcPts val="60"/>
              </a:spcAft>
            </a:pPr>
            <a:r>
              <a:rPr lang="en-GB" sz="4800" b="1" dirty="0">
                <a:solidFill>
                  <a:schemeClr val="accent2"/>
                </a:solidFill>
                <a:latin typeface="Aptos Display" panose="020B0004020202020204" pitchFamily="34" charset="0"/>
              </a:rPr>
              <a:t>Framing is essential</a:t>
            </a:r>
          </a:p>
          <a:p>
            <a:pPr marL="571500" indent="-571500">
              <a:lnSpc>
                <a:spcPct val="113000"/>
              </a:lnSpc>
              <a:spcAft>
                <a:spcPts val="60"/>
              </a:spcAft>
              <a:buFont typeface="Wingdings" panose="05000000000000000000" pitchFamily="2" charset="2"/>
              <a:buChar char="§"/>
            </a:pPr>
            <a:r>
              <a:rPr lang="en-GB" sz="4400" dirty="0">
                <a:latin typeface="Aptos Display" panose="020B0004020202020204" pitchFamily="34" charset="0"/>
              </a:rPr>
              <a:t>Avoids derailing discussions</a:t>
            </a:r>
          </a:p>
          <a:p>
            <a:pPr marL="571500" indent="-571500">
              <a:lnSpc>
                <a:spcPct val="113000"/>
              </a:lnSpc>
              <a:spcAft>
                <a:spcPts val="60"/>
              </a:spcAft>
              <a:buFont typeface="Wingdings" panose="05000000000000000000" pitchFamily="2" charset="2"/>
              <a:buChar char="§"/>
            </a:pPr>
            <a:r>
              <a:rPr lang="en-GB" sz="4400" dirty="0">
                <a:latin typeface="Aptos Display" panose="020B0004020202020204" pitchFamily="34" charset="0"/>
              </a:rPr>
              <a:t>Tailor the message</a:t>
            </a:r>
          </a:p>
          <a:p>
            <a:pPr marL="571500" indent="-571500">
              <a:lnSpc>
                <a:spcPct val="113000"/>
              </a:lnSpc>
              <a:spcAft>
                <a:spcPts val="60"/>
              </a:spcAft>
              <a:buFont typeface="Wingdings" panose="05000000000000000000" pitchFamily="2" charset="2"/>
              <a:buChar char="§"/>
            </a:pPr>
            <a:r>
              <a:rPr lang="en-GB" sz="4400" dirty="0">
                <a:latin typeface="Aptos Display" panose="020B0004020202020204" pitchFamily="34" charset="0"/>
              </a:rPr>
              <a:t>Preserve strategic core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55BBEFE-A55A-D9B8-9CA6-A4BC065BFE27}"/>
              </a:ext>
            </a:extLst>
          </p:cNvPr>
          <p:cNvSpPr txBox="1"/>
          <p:nvPr/>
        </p:nvSpPr>
        <p:spPr>
          <a:xfrm>
            <a:off x="20309742" y="37592590"/>
            <a:ext cx="8860185" cy="2355645"/>
          </a:xfrm>
          <a:prstGeom prst="rect">
            <a:avLst/>
          </a:prstGeom>
          <a:noFill/>
        </p:spPr>
        <p:txBody>
          <a:bodyPr wrap="square" lIns="324000" tIns="0" rIns="0" bIns="0" rtlCol="0" anchor="t" anchorCtr="0">
            <a:spAutoFit/>
          </a:bodyPr>
          <a:lstStyle/>
          <a:p>
            <a:pPr>
              <a:lnSpc>
                <a:spcPct val="113000"/>
              </a:lnSpc>
              <a:spcAft>
                <a:spcPts val="60"/>
              </a:spcAft>
            </a:pPr>
            <a:r>
              <a:rPr lang="en-GB" sz="4800" b="1" dirty="0">
                <a:solidFill>
                  <a:schemeClr val="accent2"/>
                </a:solidFill>
                <a:latin typeface="Aptos Display" panose="020B0004020202020204" pitchFamily="34" charset="0"/>
              </a:rPr>
              <a:t>Learning is non-linear</a:t>
            </a:r>
          </a:p>
          <a:p>
            <a:pPr marL="571500" indent="-571500">
              <a:lnSpc>
                <a:spcPct val="113000"/>
              </a:lnSpc>
              <a:spcAft>
                <a:spcPts val="60"/>
              </a:spcAft>
              <a:buFont typeface="Wingdings" panose="05000000000000000000" pitchFamily="2" charset="2"/>
              <a:buChar char="§"/>
            </a:pPr>
            <a:r>
              <a:rPr lang="en-GB" sz="4400" dirty="0">
                <a:latin typeface="Aptos Display" panose="020B0004020202020204" pitchFamily="34" charset="0"/>
              </a:rPr>
              <a:t>Expect detours</a:t>
            </a:r>
          </a:p>
          <a:p>
            <a:pPr marL="571500" indent="-571500">
              <a:lnSpc>
                <a:spcPct val="113000"/>
              </a:lnSpc>
              <a:spcAft>
                <a:spcPts val="60"/>
              </a:spcAft>
              <a:buFont typeface="Wingdings" panose="05000000000000000000" pitchFamily="2" charset="2"/>
              <a:buChar char="§"/>
            </a:pPr>
            <a:r>
              <a:rPr lang="en-GB" sz="4400" dirty="0">
                <a:latin typeface="Aptos Display" panose="020B0004020202020204" pitchFamily="34" charset="0"/>
              </a:rPr>
              <a:t>Plan for iteration 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1B44AB0-A217-F2F0-81A7-27CEC9F691A8}"/>
              </a:ext>
            </a:extLst>
          </p:cNvPr>
          <p:cNvSpPr txBox="1"/>
          <p:nvPr/>
        </p:nvSpPr>
        <p:spPr>
          <a:xfrm>
            <a:off x="1102231" y="17637885"/>
            <a:ext cx="7463395" cy="597408"/>
          </a:xfrm>
          <a:prstGeom prst="rect">
            <a:avLst/>
          </a:prstGeom>
          <a:noFill/>
        </p:spPr>
        <p:txBody>
          <a:bodyPr wrap="square" lIns="324000" tIns="0" rIns="0" bIns="0" rtlCol="0" anchor="t" anchorCtr="0">
            <a:spAutoFit/>
          </a:bodyPr>
          <a:lstStyle/>
          <a:p>
            <a:pPr>
              <a:lnSpc>
                <a:spcPct val="113000"/>
              </a:lnSpc>
              <a:spcAft>
                <a:spcPts val="60"/>
              </a:spcAft>
            </a:pPr>
            <a:r>
              <a:rPr lang="en-GB" sz="3600" dirty="0">
                <a:latin typeface="Aptos Display" panose="020B0004020202020204" pitchFamily="34" charset="0"/>
              </a:rPr>
              <a:t>Insights sample:</a:t>
            </a:r>
          </a:p>
        </p:txBody>
      </p:sp>
      <p:graphicFrame>
        <p:nvGraphicFramePr>
          <p:cNvPr id="100" name="Chart 99">
            <a:extLst>
              <a:ext uri="{FF2B5EF4-FFF2-40B4-BE49-F238E27FC236}">
                <a16:creationId xmlns:a16="http://schemas.microsoft.com/office/drawing/2014/main" id="{44BD0378-EE22-7F92-564D-6A103436C1F9}"/>
              </a:ext>
            </a:extLst>
          </p:cNvPr>
          <p:cNvGraphicFramePr>
            <a:graphicFrameLocks noGrp="1"/>
          </p:cNvGraphicFramePr>
          <p:nvPr/>
        </p:nvGraphicFramePr>
        <p:xfrm>
          <a:off x="1194581" y="19034210"/>
          <a:ext cx="8280000" cy="49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02" name="Rectangle 101">
            <a:extLst>
              <a:ext uri="{FF2B5EF4-FFF2-40B4-BE49-F238E27FC236}">
                <a16:creationId xmlns:a16="http://schemas.microsoft.com/office/drawing/2014/main" id="{F7561AF2-FEEB-55BE-DDA4-811BD42F5B42}"/>
              </a:ext>
            </a:extLst>
          </p:cNvPr>
          <p:cNvSpPr/>
          <p:nvPr/>
        </p:nvSpPr>
        <p:spPr>
          <a:xfrm>
            <a:off x="2315297" y="23149923"/>
            <a:ext cx="320040" cy="224380"/>
          </a:xfrm>
          <a:prstGeom prst="rect">
            <a:avLst/>
          </a:prstGeom>
          <a:solidFill>
            <a:srgbClr val="FFE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F51D51-79AA-0348-8541-BBB17768ABB6}"/>
              </a:ext>
            </a:extLst>
          </p:cNvPr>
          <p:cNvSpPr/>
          <p:nvPr/>
        </p:nvSpPr>
        <p:spPr>
          <a:xfrm>
            <a:off x="5982659" y="22748758"/>
            <a:ext cx="320040" cy="211135"/>
          </a:xfrm>
          <a:prstGeom prst="rect">
            <a:avLst/>
          </a:prstGeom>
          <a:solidFill>
            <a:srgbClr val="DCF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8095EF3-22BF-8B7C-3662-C39BC88864FF}"/>
              </a:ext>
            </a:extLst>
          </p:cNvPr>
          <p:cNvSpPr txBox="1"/>
          <p:nvPr/>
        </p:nvSpPr>
        <p:spPr bwMode="auto">
          <a:xfrm>
            <a:off x="6333817" y="22639659"/>
            <a:ext cx="3023264" cy="44203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vert="horz" wrap="none" lIns="0" tIns="36000" rIns="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buClr>
                <a:schemeClr val="accent2"/>
              </a:buClr>
              <a:buSzPct val="75000"/>
            </a:pPr>
            <a:r>
              <a:rPr lang="en-GB" sz="2400" dirty="0">
                <a:latin typeface="ShellBook" panose="00000500000000000000" pitchFamily="2" charset="0"/>
              </a:rPr>
              <a:t>IEA (APS and NZE’50)</a:t>
            </a:r>
            <a:endParaRPr lang="en-GB" sz="2400" dirty="0">
              <a:highlight>
                <a:srgbClr val="FFFF00"/>
              </a:highlight>
              <a:latin typeface="ShellBook" panose="00000500000000000000" pitchFamily="2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0E2A6A9-DE61-55D3-A68B-B76FCE1C1244}"/>
              </a:ext>
            </a:extLst>
          </p:cNvPr>
          <p:cNvSpPr txBox="1"/>
          <p:nvPr/>
        </p:nvSpPr>
        <p:spPr bwMode="auto">
          <a:xfrm>
            <a:off x="2668901" y="23050807"/>
            <a:ext cx="2463816" cy="44203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vert="horz" wrap="none" lIns="0" tIns="36000" rIns="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buClr>
                <a:schemeClr val="accent2"/>
              </a:buClr>
              <a:buSzPct val="75000"/>
            </a:pPr>
            <a:r>
              <a:rPr lang="en-GB" sz="2400" dirty="0">
                <a:latin typeface="ShellBook" panose="00000500000000000000" pitchFamily="2" charset="0"/>
              </a:rPr>
              <a:t>IEA (SPS and CPS)</a:t>
            </a:r>
            <a:endParaRPr lang="en-GB" sz="2400" dirty="0">
              <a:highlight>
                <a:srgbClr val="FFFF00"/>
              </a:highlight>
              <a:latin typeface="ShellBook" panose="00000500000000000000" pitchFamily="2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3E4DF0B-6322-458B-E360-764CA142054F}"/>
              </a:ext>
            </a:extLst>
          </p:cNvPr>
          <p:cNvSpPr txBox="1"/>
          <p:nvPr/>
        </p:nvSpPr>
        <p:spPr>
          <a:xfrm>
            <a:off x="1331534" y="18491727"/>
            <a:ext cx="828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357708">
              <a:spcBef>
                <a:spcPts val="600"/>
              </a:spcBef>
              <a:buClr>
                <a:srgbClr val="DD1D21"/>
              </a:buClr>
              <a:buSzPct val="75000"/>
              <a:defRPr/>
            </a:pPr>
            <a:r>
              <a:rPr lang="en-GB" sz="3200" b="1" dirty="0">
                <a:solidFill>
                  <a:srgbClr val="4A4A4A"/>
                </a:solidFill>
                <a:latin typeface="ShellBook" panose="00000500000000000000" pitchFamily="2" charset="0"/>
              </a:rPr>
              <a:t>Oil and gas remain significant into the 2040s</a:t>
            </a:r>
          </a:p>
        </p:txBody>
      </p:sp>
      <p:graphicFrame>
        <p:nvGraphicFramePr>
          <p:cNvPr id="112" name="Chart 111">
            <a:extLst>
              <a:ext uri="{FF2B5EF4-FFF2-40B4-BE49-F238E27FC236}">
                <a16:creationId xmlns:a16="http://schemas.microsoft.com/office/drawing/2014/main" id="{CB258DBF-33EA-9AC5-03F7-08CF81D5170E}"/>
              </a:ext>
            </a:extLst>
          </p:cNvPr>
          <p:cNvGraphicFramePr>
            <a:graphicFrameLocks noGrp="1"/>
          </p:cNvGraphicFramePr>
          <p:nvPr/>
        </p:nvGraphicFramePr>
        <p:xfrm>
          <a:off x="1282495" y="24448155"/>
          <a:ext cx="8280000" cy="49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114" name="TextBox 113">
            <a:extLst>
              <a:ext uri="{FF2B5EF4-FFF2-40B4-BE49-F238E27FC236}">
                <a16:creationId xmlns:a16="http://schemas.microsoft.com/office/drawing/2014/main" id="{414CE6B1-D4B3-5306-3FCA-A83D85603CDC}"/>
              </a:ext>
            </a:extLst>
          </p:cNvPr>
          <p:cNvSpPr txBox="1"/>
          <p:nvPr/>
        </p:nvSpPr>
        <p:spPr>
          <a:xfrm>
            <a:off x="1331533" y="24201029"/>
            <a:ext cx="8162922" cy="706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357708">
              <a:lnSpc>
                <a:spcPct val="140000"/>
              </a:lnSpc>
              <a:spcBef>
                <a:spcPts val="600"/>
              </a:spcBef>
              <a:buClr>
                <a:srgbClr val="DD1D21"/>
              </a:buClr>
              <a:buSzPct val="75000"/>
              <a:defRPr/>
            </a:pPr>
            <a:r>
              <a:rPr lang="en-GB" sz="3200" b="1" dirty="0">
                <a:solidFill>
                  <a:srgbClr val="4A4A4A"/>
                </a:solidFill>
                <a:latin typeface="ShellBook" panose="00000500000000000000" pitchFamily="2" charset="0"/>
              </a:rPr>
              <a:t>Electricity rises from ~23% to 40–60% by ‘50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45F7818-AE8E-B46D-686D-469ED282DC18}"/>
              </a:ext>
            </a:extLst>
          </p:cNvPr>
          <p:cNvSpPr txBox="1"/>
          <p:nvPr/>
        </p:nvSpPr>
        <p:spPr>
          <a:xfrm>
            <a:off x="20383613" y="17627079"/>
            <a:ext cx="7463395" cy="597408"/>
          </a:xfrm>
          <a:prstGeom prst="rect">
            <a:avLst/>
          </a:prstGeom>
          <a:noFill/>
        </p:spPr>
        <p:txBody>
          <a:bodyPr wrap="square" lIns="324000" tIns="0" rIns="0" bIns="0" rtlCol="0" anchor="t" anchorCtr="0">
            <a:spAutoFit/>
          </a:bodyPr>
          <a:lstStyle/>
          <a:p>
            <a:pPr>
              <a:lnSpc>
                <a:spcPct val="113000"/>
              </a:lnSpc>
              <a:spcAft>
                <a:spcPts val="60"/>
              </a:spcAft>
            </a:pPr>
            <a:r>
              <a:rPr lang="en-GB" sz="3600" dirty="0">
                <a:latin typeface="Aptos Display" panose="020B0004020202020204" pitchFamily="34" charset="0"/>
              </a:rPr>
              <a:t>Insights sample: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80D0E3-537D-F252-A77D-085C1D249B5C}"/>
              </a:ext>
            </a:extLst>
          </p:cNvPr>
          <p:cNvSpPr txBox="1"/>
          <p:nvPr/>
        </p:nvSpPr>
        <p:spPr>
          <a:xfrm>
            <a:off x="20601234" y="18533177"/>
            <a:ext cx="828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357708">
              <a:spcBef>
                <a:spcPts val="600"/>
              </a:spcBef>
              <a:buClr>
                <a:srgbClr val="DD1D21"/>
              </a:buClr>
              <a:buSzPct val="75000"/>
              <a:defRPr/>
            </a:pPr>
            <a:r>
              <a:rPr lang="en-GB" sz="3200" b="1" dirty="0">
                <a:solidFill>
                  <a:srgbClr val="4A4A4A"/>
                </a:solidFill>
                <a:latin typeface="ShellBook" panose="00000500000000000000" pitchFamily="2" charset="0"/>
              </a:rPr>
              <a:t>Low carbon returns have disappointed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595E00-E954-82C5-5381-03A8FBFFE34A}"/>
              </a:ext>
            </a:extLst>
          </p:cNvPr>
          <p:cNvSpPr txBox="1"/>
          <p:nvPr/>
        </p:nvSpPr>
        <p:spPr>
          <a:xfrm>
            <a:off x="11599853" y="13144013"/>
            <a:ext cx="6594177" cy="3133615"/>
          </a:xfrm>
          <a:prstGeom prst="rect">
            <a:avLst/>
          </a:prstGeom>
          <a:noFill/>
        </p:spPr>
        <p:txBody>
          <a:bodyPr wrap="square" lIns="324000" tIns="0" rIns="0" bIns="0" rtlCol="0" anchor="t" anchorCtr="0">
            <a:spAutoFit/>
          </a:bodyPr>
          <a:lstStyle/>
          <a:p>
            <a:pPr>
              <a:lnSpc>
                <a:spcPct val="113000"/>
              </a:lnSpc>
              <a:spcAft>
                <a:spcPts val="60"/>
              </a:spcAft>
            </a:pPr>
            <a:r>
              <a:rPr lang="en-GB" sz="4800" b="1" dirty="0">
                <a:solidFill>
                  <a:schemeClr val="accent2"/>
                </a:solidFill>
                <a:latin typeface="Aptos Display" panose="020B0004020202020204" pitchFamily="34" charset="0"/>
              </a:rPr>
              <a:t>External</a:t>
            </a:r>
            <a:r>
              <a:rPr lang="en-GB" sz="4800" dirty="0">
                <a:solidFill>
                  <a:schemeClr val="accent2"/>
                </a:solidFill>
                <a:latin typeface="Aptos Display" panose="020B0004020202020204" pitchFamily="34" charset="0"/>
              </a:rPr>
              <a:t> environment</a:t>
            </a:r>
          </a:p>
          <a:p>
            <a:pPr marL="685800" indent="-685800">
              <a:lnSpc>
                <a:spcPct val="113000"/>
              </a:lnSpc>
              <a:spcAft>
                <a:spcPts val="60"/>
              </a:spcAft>
              <a:buFont typeface="Wingdings" panose="05000000000000000000" pitchFamily="2" charset="2"/>
              <a:buChar char="§"/>
            </a:pPr>
            <a:r>
              <a:rPr lang="en-GB" sz="4400" dirty="0">
                <a:latin typeface="Aptos Display" panose="020B0004020202020204" pitchFamily="34" charset="0"/>
              </a:rPr>
              <a:t>Legal &amp; litigation</a:t>
            </a:r>
          </a:p>
          <a:p>
            <a:pPr marL="685800" indent="-685800">
              <a:lnSpc>
                <a:spcPct val="113000"/>
              </a:lnSpc>
              <a:spcAft>
                <a:spcPts val="60"/>
              </a:spcAft>
              <a:buFont typeface="Wingdings" panose="05000000000000000000" pitchFamily="2" charset="2"/>
              <a:buChar char="§"/>
            </a:pPr>
            <a:r>
              <a:rPr lang="en-GB" sz="4400" dirty="0">
                <a:latin typeface="Aptos Display" panose="020B0004020202020204" pitchFamily="34" charset="0"/>
              </a:rPr>
              <a:t>Regulation</a:t>
            </a:r>
          </a:p>
          <a:p>
            <a:pPr marL="685800" indent="-685800">
              <a:lnSpc>
                <a:spcPct val="113000"/>
              </a:lnSpc>
              <a:spcAft>
                <a:spcPts val="60"/>
              </a:spcAft>
              <a:buFont typeface="Wingdings" panose="05000000000000000000" pitchFamily="2" charset="2"/>
              <a:buChar char="§"/>
            </a:pPr>
            <a:r>
              <a:rPr lang="en-GB" sz="4400" dirty="0">
                <a:latin typeface="Aptos Display" panose="020B0004020202020204" pitchFamily="34" charset="0"/>
              </a:rPr>
              <a:t>Competitive landscape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F7CDC79F-78AD-0EE6-ADFF-13E444BC7D6E}"/>
              </a:ext>
            </a:extLst>
          </p:cNvPr>
          <p:cNvSpPr/>
          <p:nvPr/>
        </p:nvSpPr>
        <p:spPr>
          <a:xfrm flipH="1">
            <a:off x="17343541" y="16148533"/>
            <a:ext cx="7791536" cy="9954389"/>
          </a:xfrm>
          <a:prstGeom prst="arc">
            <a:avLst>
              <a:gd name="adj1" fmla="val 17000575"/>
              <a:gd name="adj2" fmla="val 19709518"/>
            </a:avLst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013B980-D79F-3EAA-C023-655F5B14F2B7}"/>
              </a:ext>
            </a:extLst>
          </p:cNvPr>
          <p:cNvCxnSpPr>
            <a:cxnSpLocks/>
          </p:cNvCxnSpPr>
          <p:nvPr/>
        </p:nvCxnSpPr>
        <p:spPr>
          <a:xfrm>
            <a:off x="14853324" y="16737961"/>
            <a:ext cx="0" cy="1931853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6962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hell layouts with footer">
  <a:themeElements>
    <a:clrScheme name="Custom 1">
      <a:dk1>
        <a:srgbClr val="595959"/>
      </a:dk1>
      <a:lt1>
        <a:srgbClr val="FFFFFF"/>
      </a:lt1>
      <a:dk2>
        <a:srgbClr val="EAEAEA"/>
      </a:dk2>
      <a:lt2>
        <a:srgbClr val="CCCCCC"/>
      </a:lt2>
      <a:accent1>
        <a:srgbClr val="F7D117"/>
      </a:accent1>
      <a:accent2>
        <a:srgbClr val="D42E12"/>
      </a:accent2>
      <a:accent3>
        <a:srgbClr val="003882"/>
      </a:accent3>
      <a:accent4>
        <a:srgbClr val="611759"/>
      </a:accent4>
      <a:accent5>
        <a:srgbClr val="00824A"/>
      </a:accent5>
      <a:accent6>
        <a:srgbClr val="DE8703"/>
      </a:accent6>
      <a:hlink>
        <a:srgbClr val="000000"/>
      </a:hlink>
      <a:folHlink>
        <a:srgbClr val="000000"/>
      </a:folHlink>
    </a:clrScheme>
    <a:fontScheme name="Shell - Fonts">
      <a:majorFont>
        <a:latin typeface="Futura Medium"/>
        <a:ea typeface=""/>
        <a:cs typeface=""/>
      </a:majorFont>
      <a:minorFont>
        <a:latin typeface="Futura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7800" indent="-177800">
          <a:lnSpc>
            <a:spcPct val="113000"/>
          </a:lnSpc>
          <a:spcAft>
            <a:spcPts val="60"/>
          </a:spcAft>
          <a:buFont typeface="Wingdings"/>
          <a:buChar char="n"/>
          <a:defRPr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Shell Document" ma:contentTypeID="0x0101006F0A470EEB1140E7AA14F4CE8A50B54C0001CB1477F4DD432AA86DD56CC3887AF400F644A78CBFDAD44983885002DC8B3358" ma:contentTypeVersion="5" ma:contentTypeDescription="Shell Document Content Type" ma:contentTypeScope="" ma:versionID="9972982cb723cf5df02987a4cb397dc7">
  <xsd:schema xmlns:xsd="http://www.w3.org/2001/XMLSchema" xmlns:xs="http://www.w3.org/2001/XMLSchema" xmlns:p="http://schemas.microsoft.com/office/2006/metadata/properties" xmlns:ns1="http://schemas.microsoft.com/sharepoint/v3" xmlns:ns2="5fe9d420-80f7-4ada-bee1-a7a60088c9b2" xmlns:ns3="d897dab9-547b-4d8a-9e98-e2c84c4ab18d" targetNamespace="http://schemas.microsoft.com/office/2006/metadata/properties" ma:root="true" ma:fieldsID="11b7afb5536d3e270a25d7434dfd5e62" ns1:_="" ns2:_="" ns3:_="">
    <xsd:import namespace="http://schemas.microsoft.com/sharepoint/v3"/>
    <xsd:import namespace="5fe9d420-80f7-4ada-bee1-a7a60088c9b2"/>
    <xsd:import namespace="d897dab9-547b-4d8a-9e98-e2c84c4ab18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SAEFSecurityClassificationTaxHTField0" minOccurs="0"/>
                <xsd:element ref="ns2:ice2f7984e9548f9a31773f854109466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AEFSecurityClassificationTaxHTField0" ma:index="11" nillable="true" ma:displayName="Security Classification_0" ma:hidden="true" ma:internalName="SAEFSecurityClassificationTaxHTField0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9d420-80f7-4ada-bee1-a7a60088c9b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ice2f7984e9548f9a31773f854109466" ma:index="12" ma:taxonomy="true" ma:internalName="ice2f7984e9548f9a31773f854109466" ma:taxonomyFieldName="SAEFSecurityClassification" ma:displayName="Security Classification" ma:default="5;#Confidential|e4bc29b2-6e76-48cc-b090-8b544c0802ae" ma:fieldId="{2ce2f798-4e95-48f9-a317-73f854109466}" ma:sspId="e3aebf70-341c-4d91-bdd3-aba9df361687" ma:termSetId="daf890f0-167e-4ee2-a9fd-a81536ed816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c7126bf2-9056-4401-894f-d1136f5f3720}" ma:internalName="TaxCatchAll" ma:showField="CatchAllData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4" nillable="true" ma:displayName="Taxonomy Catch All Column1" ma:hidden="true" ma:list="{c7126bf2-9056-4401-894f-d1136f5f3720}" ma:internalName="TaxCatchAllLabel" ma:readOnly="true" ma:showField="CatchAllDataLabel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97dab9-547b-4d8a-9e98-e2c84c4ab1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AEFSecurityClassificationTaxHTField0 xmlns="http://schemas.microsoft.com/sharepoint/v3">Restricted21aa7f98-4035-4019-a764-107acb7269af</SAEFSecurityClassificationTaxHTField0>
    <TaxCatchAll xmlns="5fe9d420-80f7-4ada-bee1-a7a60088c9b2">
      <Value>1</Value>
    </TaxCatchAll>
    <ice2f7984e9548f9a31773f854109466 xmlns="5fe9d420-80f7-4ada-bee1-a7a60088c9b2">
      <Terms xmlns="http://schemas.microsoft.com/office/infopath/2007/PartnerControls">
        <TermInfo xmlns="http://schemas.microsoft.com/office/infopath/2007/PartnerControls">
          <TermName xmlns="http://schemas.microsoft.com/office/infopath/2007/PartnerControls">Restricted</TermName>
          <TermId xmlns="http://schemas.microsoft.com/office/infopath/2007/PartnerControls">21aa7f98-4035-4019-a764-107acb7269af</TermId>
        </TermInfo>
      </Terms>
    </ice2f7984e9548f9a31773f854109466>
    <_dlc_DocId xmlns="5fe9d420-80f7-4ada-bee1-a7a60088c9b2">UXD4DQ5FARXZ-1534890728-11</_dlc_DocId>
    <_dlc_DocIdUrl xmlns="5fe9d420-80f7-4ada-bee1-a7a60088c9b2">
      <Url>https://eu001-sp.shell.com/sites/SPO002395/_layouts/15/DocIdRedir.aspx?ID=UXD4DQ5FARXZ-1534890728-11</Url>
      <Description>UXD4DQ5FARXZ-1534890728-11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4FE3B36A-2FDB-43C8-A4F8-BA8A83EB36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CBF91A-5F5F-4B84-8E7A-6ACA6877925A}"/>
</file>

<file path=customXml/itemProps3.xml><?xml version="1.0" encoding="utf-8"?>
<ds:datastoreItem xmlns:ds="http://schemas.openxmlformats.org/officeDocument/2006/customXml" ds:itemID="{6CAE002A-7645-46A2-8C4A-738EDFAA7ED3}">
  <ds:schemaRefs>
    <ds:schemaRef ds:uri="http://purl.org/dc/elements/1.1/"/>
    <ds:schemaRef ds:uri="http://www.w3.org/XML/1998/namespace"/>
    <ds:schemaRef ds:uri="http://schemas.microsoft.com/office/2006/metadata/properties"/>
    <ds:schemaRef ds:uri="c642a6ca-8515-4142-b4ce-183d01f224d8"/>
    <ds:schemaRef ds:uri="67a4d270-2e9e-45ec-b53e-707b7cbfe7c3"/>
    <ds:schemaRef ds:uri="http://purl.org/dc/dcmitype/"/>
    <ds:schemaRef ds:uri="http://schemas.microsoft.com/sharepoint/v3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4.xml><?xml version="1.0" encoding="utf-8"?>
<ds:datastoreItem xmlns:ds="http://schemas.openxmlformats.org/officeDocument/2006/customXml" ds:itemID="{E1E0CA43-DC76-4D28-AE4E-00AD74671D57}"/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228</Words>
  <Application>Microsoft Office PowerPoint</Application>
  <PresentationFormat>Custom</PresentationFormat>
  <Paragraphs>56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Wingdings</vt:lpstr>
      <vt:lpstr>Futura Medium</vt:lpstr>
      <vt:lpstr>ShellMedium</vt:lpstr>
      <vt:lpstr>Arial</vt:lpstr>
      <vt:lpstr>ShellBook</vt:lpstr>
      <vt:lpstr>Aptos Display</vt:lpstr>
      <vt:lpstr>Shell layouts with footer</vt:lpstr>
      <vt:lpstr>think-cell Slide</vt:lpstr>
      <vt:lpstr>PowerPoint Presentation</vt:lpstr>
    </vt:vector>
  </TitlesOfParts>
  <Company>Shell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CO2 Valuation Challenges</dc:title>
  <dc:creator>Thomas.Lopez@shell.com</dc:creator>
  <cp:keywords>GEC'17</cp:keywords>
  <cp:lastModifiedBy>van der Meer, Thomas J SIBV-FR/P/S</cp:lastModifiedBy>
  <cp:revision>526</cp:revision>
  <cp:lastPrinted>2017-04-25T09:06:38Z</cp:lastPrinted>
  <dcterms:created xsi:type="dcterms:W3CDTF">2009-11-25T14:32:06Z</dcterms:created>
  <dcterms:modified xsi:type="dcterms:W3CDTF">2026-08-31T15:17:14Z</dcterms:modified>
  <cp:category>Poster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Widescreen</vt:lpwstr>
  </property>
  <property fmtid="{D5CDD505-2E9C-101B-9397-08002B2CF9AE}" pid="3" name="WizKit Template Version">
    <vt:i4>4</vt:i4>
  </property>
  <property fmtid="{D5CDD505-2E9C-101B-9397-08002B2CF9AE}" pid="4" name="ContentTypeId">
    <vt:lpwstr>0x0101006F0A470EEB1140E7AA14F4CE8A50B54C0001CB1477F4DD432AA86DD56CC3887AF400F644A78CBFDAD44983885002DC8B3358</vt:lpwstr>
  </property>
  <property fmtid="{D5CDD505-2E9C-101B-9397-08002B2CF9AE}" pid="5" name="_dlc_policyId">
    <vt:lpwstr/>
  </property>
  <property fmtid="{D5CDD505-2E9C-101B-9397-08002B2CF9AE}" pid="6" name="ItemRetentionFormula">
    <vt:lpwstr/>
  </property>
  <property fmtid="{D5CDD505-2E9C-101B-9397-08002B2CF9AE}" pid="7" name="_dlc_DocIdItemGuid">
    <vt:lpwstr>aa40327d-3e7c-41e6-af76-ade1115665ff</vt:lpwstr>
  </property>
  <property fmtid="{D5CDD505-2E9C-101B-9397-08002B2CF9AE}" pid="8" name="Shell SharePoint SAEF KeepFileLocal">
    <vt:bool>false</vt:bool>
  </property>
  <property fmtid="{D5CDD505-2E9C-101B-9397-08002B2CF9AE}" pid="9" name="Shell SharePoint SAEF WorkgroupIDTaxHTField0">
    <vt:lpwstr>UIB Commercial, New Business ＆ LNG - 11947|52d8a608-ed1f-401e-8ffb-8cc5334b8b42</vt:lpwstr>
  </property>
  <property fmtid="{D5CDD505-2E9C-101B-9397-08002B2CF9AE}" pid="10" name="Shell SharePoint SAEF SecurityClassificationTaxHTField0">
    <vt:lpwstr>Restricted|21aa7f98-4035-4019-a764-107acb7269af</vt:lpwstr>
  </property>
  <property fmtid="{D5CDD505-2E9C-101B-9397-08002B2CF9AE}" pid="11" name="Shell SharePoint SAEF LegalEntity">
    <vt:lpwstr>3;#SIEP|ca814f84-fd49-4cca-9dd4-ac559012442b</vt:lpwstr>
  </property>
  <property fmtid="{D5CDD505-2E9C-101B-9397-08002B2CF9AE}" pid="12" name="Shell SharePoint SAEF CountryOfJurisdiction">
    <vt:lpwstr>6;#NETHERLANDS|54565ecb-470f-40ea-a584-819150a65a13</vt:lpwstr>
  </property>
  <property fmtid="{D5CDD505-2E9C-101B-9397-08002B2CF9AE}" pid="13" name="Shell SharePoint SAEF ExportControlClassification">
    <vt:lpwstr>8;#Non-US content - Non Controlled|2ac8835e-0587-4096-a6e2-1f68da1e6cb3</vt:lpwstr>
  </property>
  <property fmtid="{D5CDD505-2E9C-101B-9397-08002B2CF9AE}" pid="14" name="SME Areas">
    <vt:lpwstr/>
  </property>
  <property fmtid="{D5CDD505-2E9C-101B-9397-08002B2CF9AE}" pid="15" name="SAEFSecurityClassification">
    <vt:lpwstr>1;#Restricted|21aa7f98-4035-4019-a764-107acb7269af</vt:lpwstr>
  </property>
  <property fmtid="{D5CDD505-2E9C-101B-9397-08002B2CF9AE}" pid="16" name="Shell SharePoint SAEF DocumentStatus">
    <vt:lpwstr>11;#Draft|1c86f377-7d91-4c95-bd5b-c18c83fe0aa5</vt:lpwstr>
  </property>
  <property fmtid="{D5CDD505-2E9C-101B-9397-08002B2CF9AE}" pid="17" name="Shell SharePoint SAEF Language">
    <vt:lpwstr>5;#English|bd3ad5ee-f0c3-40aa-8cc8-36ef09940af3</vt:lpwstr>
  </property>
  <property fmtid="{D5CDD505-2E9C-101B-9397-08002B2CF9AE}" pid="18" name="Shell SharePoint SAEF Business">
    <vt:lpwstr>1;#Upstream International|dabf15d9-4f75-4ed1-b8a1-a0c3e2a85888</vt:lpwstr>
  </property>
  <property fmtid="{D5CDD505-2E9C-101B-9397-08002B2CF9AE}" pid="19" name="Shell SharePoint SAEF BusinessProcess">
    <vt:lpwstr>7;#Develop New Business|8f030812-6a49-4616-837f-b8f0f1d07b9c</vt:lpwstr>
  </property>
  <property fmtid="{D5CDD505-2E9C-101B-9397-08002B2CF9AE}" pid="20" name="Shell SharePoint SAEF DocumentType">
    <vt:lpwstr>13;#Study results|073ec550-c791-4e3f-9683-953f7d5eb953</vt:lpwstr>
  </property>
  <property fmtid="{D5CDD505-2E9C-101B-9397-08002B2CF9AE}" pid="21" name="SME Keywords">
    <vt:lpwstr/>
  </property>
  <property fmtid="{D5CDD505-2E9C-101B-9397-08002B2CF9AE}" pid="22" name="Shell SharePoint SAEF BusinessUnitRegion">
    <vt:lpwstr>1;#Upstream International|dabf15d9-4f75-4ed1-b8a1-a0c3e2a85888</vt:lpwstr>
  </property>
  <property fmtid="{D5CDD505-2E9C-101B-9397-08002B2CF9AE}" pid="23" name="Shell SharePoint SAEF GlobalFunction">
    <vt:lpwstr>2;#Sustainable Development|2fbcccf5-c9b5-4b2d-984f-9a9b70c47e11</vt:lpwstr>
  </property>
  <property fmtid="{D5CDD505-2E9C-101B-9397-08002B2CF9AE}" pid="24" name="Shell SharePoint SAEF SiteCollectionName">
    <vt:lpwstr>Global Upstream Economics Portal</vt:lpwstr>
  </property>
  <property fmtid="{D5CDD505-2E9C-101B-9397-08002B2CF9AE}" pid="25" name="Order">
    <vt:r8>284000</vt:r8>
  </property>
  <property fmtid="{D5CDD505-2E9C-101B-9397-08002B2CF9AE}" pid="26" name="xd_Signature">
    <vt:bool>false</vt:bool>
  </property>
  <property fmtid="{D5CDD505-2E9C-101B-9397-08002B2CF9AE}" pid="27" name="Shell SharePoint SAEF GlobalFunctionTaxHTField0">
    <vt:lpwstr>Sustainable Development|2fbcccf5-c9b5-4b2d-984f-9a9b70c47e11</vt:lpwstr>
  </property>
  <property fmtid="{D5CDD505-2E9C-101B-9397-08002B2CF9AE}" pid="28" name="Shell SharePoint SAEF DocumentTypeTaxHTField0">
    <vt:lpwstr>Study results|073ec550-c791-4e3f-9683-953f7d5eb953</vt:lpwstr>
  </property>
  <property fmtid="{D5CDD505-2E9C-101B-9397-08002B2CF9AE}" pid="29" name="xd_ProgID">
    <vt:lpwstr/>
  </property>
  <property fmtid="{D5CDD505-2E9C-101B-9397-08002B2CF9AE}" pid="30" name="Shell SharePoint SAEF SiteOwner">
    <vt:lpwstr>Peter Grieve</vt:lpwstr>
  </property>
  <property fmtid="{D5CDD505-2E9C-101B-9397-08002B2CF9AE}" pid="31" name="Shell SharePoint SAEF LanguageTaxHTField0">
    <vt:lpwstr>English|bd3ad5ee-f0c3-40aa-8cc8-36ef09940af3</vt:lpwstr>
  </property>
  <property fmtid="{D5CDD505-2E9C-101B-9397-08002B2CF9AE}" pid="32" name="Shell SharePoint SAEF CountryOfJurisdictionTaxHTField0">
    <vt:lpwstr>NETHERLANDS|54565ecb-470f-40ea-a584-819150a65a13</vt:lpwstr>
  </property>
  <property fmtid="{D5CDD505-2E9C-101B-9397-08002B2CF9AE}" pid="33" name="ComplianceAssetId">
    <vt:lpwstr/>
  </property>
  <property fmtid="{D5CDD505-2E9C-101B-9397-08002B2CF9AE}" pid="34" name="TemplateUrl">
    <vt:lpwstr/>
  </property>
  <property fmtid="{D5CDD505-2E9C-101B-9397-08002B2CF9AE}" pid="35" name="Shell SharePoint SAEF BusinessUnitRegionTaxHTField0">
    <vt:lpwstr>Upstream International|dabf15d9-4f75-4ed1-b8a1-a0c3e2a85888</vt:lpwstr>
  </property>
  <property fmtid="{D5CDD505-2E9C-101B-9397-08002B2CF9AE}" pid="36" name="Shell SharePoint SAEF DocumentStatusTaxHTField0">
    <vt:lpwstr>Draft|1c86f377-7d91-4c95-bd5b-c18c83fe0aa5</vt:lpwstr>
  </property>
  <property fmtid="{D5CDD505-2E9C-101B-9397-08002B2CF9AE}" pid="37" name="Shell SharePoint SAEF BusinessProcessTaxHTField0">
    <vt:lpwstr>Develop New Business|8f030812-6a49-4616-837f-b8f0f1d07b9c</vt:lpwstr>
  </property>
  <property fmtid="{D5CDD505-2E9C-101B-9397-08002B2CF9AE}" pid="38" name="Shell SharePoint SAEF BusinessTaxHTField0">
    <vt:lpwstr>Upstream International|dabf15d9-4f75-4ed1-b8a1-a0c3e2a85888</vt:lpwstr>
  </property>
  <property fmtid="{D5CDD505-2E9C-101B-9397-08002B2CF9AE}" pid="39" name="Shell SharePoint SAEF Collection">
    <vt:bool>false</vt:bool>
  </property>
  <property fmtid="{D5CDD505-2E9C-101B-9397-08002B2CF9AE}" pid="40" name="_ExtendedDescription">
    <vt:lpwstr/>
  </property>
  <property fmtid="{D5CDD505-2E9C-101B-9397-08002B2CF9AE}" pid="41" name="Shell SharePoint SAEF ExportControlClassificationTaxHTField0">
    <vt:lpwstr>Non-US content - Non Controlled|2ac8835e-0587-4096-a6e2-1f68da1e6cb3</vt:lpwstr>
  </property>
  <property fmtid="{D5CDD505-2E9C-101B-9397-08002B2CF9AE}" pid="42" name="TriggerFlowInfo">
    <vt:lpwstr/>
  </property>
  <property fmtid="{D5CDD505-2E9C-101B-9397-08002B2CF9AE}" pid="43" name="Shell SharePoint SAEF LegalEntityTaxHTField0">
    <vt:lpwstr>SIEP|ca814f84-fd49-4cca-9dd4-ac559012442b</vt:lpwstr>
  </property>
  <property fmtid="{D5CDD505-2E9C-101B-9397-08002B2CF9AE}" pid="44" name="MediaServiceImageTags">
    <vt:lpwstr/>
  </property>
</Properties>
</file>