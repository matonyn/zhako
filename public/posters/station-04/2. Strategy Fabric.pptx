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349" r:id="rId6"/>
  </p:sldIdLst>
  <p:sldSz cx="30275213" cy="42803763"/>
  <p:notesSz cx="9926638" cy="14355763"/>
  <p:embeddedFontLst>
    <p:embeddedFont>
      <p:font typeface="Futura Medium" panose="0000080000000000000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E82F8-7AFD-4A1E-8F5A-048236C1685E}">
          <p14:sldIdLst>
            <p14:sldId id="349"/>
          </p14:sldIdLst>
        </p14:section>
        <p14:section name="Slide with editable Image" id="{7DF938C2-7488-438B-99BE-475572E595A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247E"/>
    <a:srgbClr val="3C6B0B"/>
    <a:srgbClr val="FDFDFC"/>
    <a:srgbClr val="FDFDFD"/>
    <a:srgbClr val="F7D117"/>
    <a:srgbClr val="D42E12"/>
    <a:srgbClr val="8FD1E3"/>
    <a:srgbClr val="FFEECA"/>
    <a:srgbClr val="F49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9-01T15:37:09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214" autoAdjust="0"/>
  </p:normalViewPr>
  <p:slideViewPr>
    <p:cSldViewPr snapToGrid="0">
      <p:cViewPr>
        <p:scale>
          <a:sx n="10" d="100"/>
          <a:sy n="10" d="100"/>
        </p:scale>
        <p:origin x="2252" y="336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customXml" Target="../customXml/item4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rova, Zhannat SI-FR/P" userId="S::zhannat.dairova@shell.com::7bf041ce-838c-4eaa-8319-0f58f2da6a52" providerId="AD" clId="Web-{00000000-0000-0000-0000-000000000000}"/>
    <pc:docChg chg="delSld modSection">
      <pc:chgData name="Dairova, Zhannat SI-FR/P" userId="S::zhannat.dairova@shell.com::7bf041ce-838c-4eaa-8319-0f58f2da6a52" providerId="AD" clId="Web-{00000000-0000-0000-0000-000000000000}" dt="2026-09-01T15:37:09.391" v="0"/>
      <pc:docMkLst>
        <pc:docMk/>
      </pc:docMkLst>
      <pc:sldChg chg="del">
        <pc:chgData name="Dairova, Zhannat SI-FR/P" userId="S::zhannat.dairova@shell.com::7bf041ce-838c-4eaa-8319-0f58f2da6a52" providerId="AD" clId="Web-{00000000-0000-0000-0000-000000000000}" dt="2026-09-01T15:37:09.391" v="0"/>
        <pc:sldMkLst>
          <pc:docMk/>
          <pc:sldMk cId="272199141" sldId="350"/>
        </pc:sldMkLst>
      </pc:sldChg>
    </pc:docChg>
  </pc:docChgLst>
  <pc:docChgLst>
    <pc:chgData name="Dangarikar, Abhishek N SBOBNG-FR/P/R/A" userId="53c80422-1b4d-4461-83ab-e46435d3587d" providerId="ADAL" clId="{60BE8D8F-5F8F-4D16-B83A-5D86EBA192B7}"/>
    <pc:docChg chg="undo custSel modSld">
      <pc:chgData name="Dangarikar, Abhishek N SBOBNG-FR/P/R/A" userId="53c80422-1b4d-4461-83ab-e46435d3587d" providerId="ADAL" clId="{60BE8D8F-5F8F-4D16-B83A-5D86EBA192B7}" dt="2026-08-26T08:28:15.052" v="8" actId="20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3645-708E-3843-1724-C4E71069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54DB0-DE54-19B5-E958-2CCE6161A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E7F23-94A0-E4A9-6CFE-21A063B41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Swap DIL and SF</a:t>
            </a:r>
          </a:p>
          <a:p>
            <a:pPr marL="0" marR="0" lvl="0" indent="0" algn="l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600" i="1" dirty="0"/>
              <a:t>One shared structure for what we know — and what we're only assuming.</a:t>
            </a:r>
            <a:endParaRPr lang="en-US" sz="6600" i="1" dirty="0"/>
          </a:p>
          <a:p>
            <a:r>
              <a:rPr lang="en-US" dirty="0"/>
              <a:t>Repurpose using Org memory, and contextual decisions</a:t>
            </a:r>
          </a:p>
          <a:p>
            <a:r>
              <a:rPr lang="en-US" dirty="0"/>
              <a:t>One connected Fabric, driving every decision.</a:t>
            </a:r>
          </a:p>
          <a:p>
            <a:endParaRPr lang="en-US" dirty="0"/>
          </a:p>
          <a:p>
            <a:r>
              <a:rPr lang="en-US" sz="6600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PROPOSITION – change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7CD66-F0E4-0583-7BBB-47E80BED7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07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tiff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C71D-D9E3-5D1A-77EF-4C5F7FA5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00194952-A82A-799E-8F6E-35B21C80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F4BCEB3-8E1B-7D55-2C93-EE4E63B667E5}"/>
              </a:ext>
            </a:extLst>
          </p:cNvPr>
          <p:cNvSpPr/>
          <p:nvPr/>
        </p:nvSpPr>
        <p:spPr>
          <a:xfrm>
            <a:off x="2087215" y="1065338"/>
            <a:ext cx="6561486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A92748-314B-AA52-14BA-A180728178BE}"/>
              </a:ext>
            </a:extLst>
          </p:cNvPr>
          <p:cNvSpPr/>
          <p:nvPr/>
        </p:nvSpPr>
        <p:spPr>
          <a:xfrm>
            <a:off x="2467692" y="1255577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</a:rPr>
              <a:t>DATA, DIGITAL &amp; AI</a:t>
            </a:r>
            <a:endParaRPr lang="en-US" sz="5617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C8A9561-4280-FC47-F675-342B0CD187F2}"/>
              </a:ext>
            </a:extLst>
          </p:cNvPr>
          <p:cNvSpPr/>
          <p:nvPr/>
        </p:nvSpPr>
        <p:spPr>
          <a:xfrm>
            <a:off x="2087215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900" b="1" dirty="0">
                <a:solidFill>
                  <a:srgbClr val="2F3033"/>
                </a:solidFill>
                <a:latin typeface="Aptos Display" pitchFamily="34" charset="0"/>
              </a:rPr>
              <a:t>STRATEGY FABRIC</a:t>
            </a:r>
            <a:endParaRPr lang="en-US" sz="10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DFD3A93-60AA-9BD5-D7D1-0F2833E389E4}"/>
              </a:ext>
            </a:extLst>
          </p:cNvPr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5326" dirty="0">
                <a:solidFill>
                  <a:srgbClr val="2F3033"/>
                </a:solidFill>
                <a:latin typeface="Aptos" pitchFamily="34" charset="0"/>
              </a:rPr>
              <a:t>The decision intelligence layer</a:t>
            </a:r>
            <a:endParaRPr lang="en-US" sz="5326" dirty="0">
              <a:solidFill>
                <a:srgbClr val="2F3033"/>
              </a:solidFill>
              <a:latin typeface="Aptos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D01C549-1860-171D-6322-5703A752E978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6481B5A-AA1C-89F4-5B98-BCAD04F169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10FDA77A-2758-5F2C-5298-E152E35C85F1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Abhishek Dangarikar, Abhishek Mishra, Subhrajit Dey 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05E1F01-1B66-DBE0-5309-ED21111322BE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DA78079-2C8A-48B7-9FC0-E7F2F29836BA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AEFDAB5B-0CBD-3B2D-FAC3-A504B3CC42C1}"/>
              </a:ext>
            </a:extLst>
          </p:cNvPr>
          <p:cNvSpPr/>
          <p:nvPr/>
        </p:nvSpPr>
        <p:spPr>
          <a:xfrm>
            <a:off x="800100" y="10805572"/>
            <a:ext cx="28803600" cy="22105765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B5A647E-431C-EAB6-B8D7-69A48B2F4457}"/>
              </a:ext>
            </a:extLst>
          </p:cNvPr>
          <p:cNvSpPr/>
          <p:nvPr/>
        </p:nvSpPr>
        <p:spPr>
          <a:xfrm>
            <a:off x="800100" y="11132142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8ED6988-F269-016B-BA1C-F03CD0872D1A}"/>
              </a:ext>
            </a:extLst>
          </p:cNvPr>
          <p:cNvSpPr/>
          <p:nvPr/>
        </p:nvSpPr>
        <p:spPr>
          <a:xfrm>
            <a:off x="1250163" y="11436524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GB" sz="9600" b="1" dirty="0"/>
              <a:t>ONE ORGANISATIONAL MEMORY. CONTEXT THAT CARRIES.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4DC5D2E-291B-C632-7F9B-7DA23D77B0CC}"/>
              </a:ext>
            </a:extLst>
          </p:cNvPr>
          <p:cNvSpPr/>
          <p:nvPr/>
        </p:nvSpPr>
        <p:spPr>
          <a:xfrm>
            <a:off x="800100" y="33485877"/>
            <a:ext cx="28803600" cy="6315933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ABC422A-4B58-F5EC-D681-EAE0EA46013D}"/>
              </a:ext>
            </a:extLst>
          </p:cNvPr>
          <p:cNvSpPr/>
          <p:nvPr/>
        </p:nvSpPr>
        <p:spPr>
          <a:xfrm>
            <a:off x="800100" y="31735679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CF2F309-93CD-437B-7D85-6BACC21BF179}"/>
              </a:ext>
            </a:extLst>
          </p:cNvPr>
          <p:cNvSpPr/>
          <p:nvPr/>
        </p:nvSpPr>
        <p:spPr>
          <a:xfrm>
            <a:off x="1250163" y="32040061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8738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AMBITION TO ACTION</a:t>
            </a:r>
            <a:endParaRPr lang="en-US" sz="8738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50EFFFE-3937-6BCA-4BC0-A63651364B9B}"/>
              </a:ext>
            </a:extLst>
          </p:cNvPr>
          <p:cNvSpPr/>
          <p:nvPr/>
        </p:nvSpPr>
        <p:spPr>
          <a:xfrm>
            <a:off x="1066800" y="34399024"/>
            <a:ext cx="28403334" cy="516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GB" sz="4400" b="1" dirty="0"/>
              <a:t>THE AMBITION: </a:t>
            </a:r>
            <a:r>
              <a:rPr lang="en-GB" sz="4000" dirty="0"/>
              <a:t>One shared architecture for Shell’s knowledge, assumptions, evidences, decisions and outcomes - connected once, reused across capabilities and use cases</a:t>
            </a:r>
          </a:p>
          <a:p>
            <a:pPr>
              <a:lnSpc>
                <a:spcPct val="150000"/>
              </a:lnSpc>
            </a:pPr>
            <a:r>
              <a:rPr lang="en-GB" sz="4400" b="1" dirty="0"/>
              <a:t>WHAT IT SOLVES: </a:t>
            </a:r>
            <a:r>
              <a:rPr lang="en-GB" sz="4000" dirty="0"/>
              <a:t>Context sits across models, plans and commitments without persistent connections. When something change – internally or externally, the implications are hard to trace.</a:t>
            </a:r>
          </a:p>
          <a:p>
            <a:pPr>
              <a:lnSpc>
                <a:spcPct val="150000"/>
              </a:lnSpc>
            </a:pPr>
            <a:r>
              <a:rPr lang="en-GB" sz="4400" b="1" dirty="0"/>
              <a:t>WHAT WE ARE DOING: </a:t>
            </a:r>
            <a:r>
              <a:rPr lang="en-GB" sz="4000" dirty="0"/>
              <a:t>Building the ontology and knowledge graph through Strategy &amp; Capital Allocation use cases. So each new query reuses the same foundation rather than rebuilding it.</a:t>
            </a:r>
          </a:p>
          <a:p>
            <a:pPr>
              <a:lnSpc>
                <a:spcPct val="150000"/>
              </a:lnSpc>
            </a:pPr>
            <a:endParaRPr lang="en-GB" sz="4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7458FA0-CA71-F088-B5DB-24F3081DA1DE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BDAA580-4311-EF5F-3F28-4B34623A8128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5B9B77-366B-9D94-8598-6A9EA6C8B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9E5D7EB-546A-049C-94C1-73A96C3A22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616"/>
          <a:stretch>
            <a:fillRect/>
          </a:stretch>
        </p:blipFill>
        <p:spPr>
          <a:xfrm>
            <a:off x="800100" y="14128892"/>
            <a:ext cx="28670034" cy="163197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EC19F84-D3E1-CB49-F7D7-E5FE816514DC}"/>
              </a:ext>
            </a:extLst>
          </p:cNvPr>
          <p:cNvSpPr/>
          <p:nvPr/>
        </p:nvSpPr>
        <p:spPr>
          <a:xfrm>
            <a:off x="24014653" y="28318231"/>
            <a:ext cx="3729328" cy="1599781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004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5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</TermName>
          <TermId xmlns="http://schemas.microsoft.com/office/infopath/2007/PartnerControls">e4bc29b2-6e76-48cc-b090-8b544c0802ae</TermId>
        </TermInfo>
      </Terms>
    </ice2f7984e9548f9a31773f854109466>
    <_dlc_DocId xmlns="5fe9d420-80f7-4ada-bee1-a7a60088c9b2">UXD4DQ5FARXZ-1534890728-5</_dlc_DocId>
    <_dlc_DocIdUrl xmlns="5fe9d420-80f7-4ada-bee1-a7a60088c9b2">
      <Url>https://eu001-sp.shell.com/sites/SPO002395/_layouts/15/DocIdRedir.aspx?ID=UXD4DQ5FARXZ-1534890728-5</Url>
      <Description>UXD4DQ5FARXZ-1534890728-5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031467-A01B-48FA-B810-3F6A64C09F4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E002A-7645-46A2-8C4A-738EDFAA7ED3}">
  <ds:schemaRefs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sharepoint/v3"/>
    <ds:schemaRef ds:uri="http://purl.org/dc/elements/1.1/"/>
    <ds:schemaRef ds:uri="http://purl.org/dc/terms/"/>
    <ds:schemaRef ds:uri="http://schemas.microsoft.com/office/infopath/2007/PartnerControls"/>
    <ds:schemaRef ds:uri="9d60aeee-7632-4f6f-aa65-b037ced0b32e"/>
    <ds:schemaRef ds:uri="e5b68e2f-12d0-48fe-9299-2d5d4f763dbd"/>
    <ds:schemaRef ds:uri="5fe9d420-80f7-4ada-bee1-a7a60088c9b2"/>
  </ds:schemaRefs>
</ds:datastoreItem>
</file>

<file path=customXml/itemProps4.xml><?xml version="1.0" encoding="utf-8"?>
<ds:datastoreItem xmlns:ds="http://schemas.openxmlformats.org/officeDocument/2006/customXml" ds:itemID="{5D352596-5730-486A-B23B-9D24EE4324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fe9d420-80f7-4ada-bee1-a7a60088c9b2"/>
    <ds:schemaRef ds:uri="d897dab9-547b-4d8a-9e98-e2c84c4ab1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454</Words>
  <Application>Microsoft Office PowerPoint</Application>
  <PresentationFormat>Custom</PresentationFormat>
  <Paragraphs>78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Shell layouts with footer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Dangarikar, Abhishek N SBOBNG-FR/P/R/A</cp:lastModifiedBy>
  <cp:revision>7</cp:revision>
  <cp:lastPrinted>2017-04-25T09:06:38Z</cp:lastPrinted>
  <dcterms:created xsi:type="dcterms:W3CDTF">2009-11-25T14:32:06Z</dcterms:created>
  <dcterms:modified xsi:type="dcterms:W3CDTF">2026-09-01T15:37:09Z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610ec74b-eead-4d92-9b85-d4464413e997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5;#Confidential|e4bc29b2-6e76-48cc-b090-8b544c0802ae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