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6"/>
  </p:sldMasterIdLst>
  <p:notesMasterIdLst>
    <p:notesMasterId r:id="rId8"/>
  </p:notesMasterIdLst>
  <p:handoutMasterIdLst>
    <p:handoutMasterId r:id="rId9"/>
  </p:handoutMasterIdLst>
  <p:sldIdLst>
    <p:sldId id="349" r:id="rId7"/>
  </p:sldIdLst>
  <p:sldSz cx="30275213" cy="42803763"/>
  <p:notesSz cx="9926638" cy="14355763"/>
  <p:embeddedFontLst>
    <p:embeddedFont>
      <p:font typeface="Futura Medium" panose="00000800000000000000"/>
      <p:regular r:id="rId10"/>
      <p:bold r:id="rId11"/>
      <p:italic r:id="rId12"/>
      <p:boldItalic r:id="rId13"/>
    </p:embeddedFont>
    <p:embeddedFont>
      <p:font typeface="ShellHeavy" panose="00000700000000000000" pitchFamily="2" charset="0"/>
      <p:bold r:id="rId14"/>
    </p:embeddedFont>
    <p:embeddedFont>
      <p:font typeface="ShellMedium" panose="00000600000000000000" pitchFamily="2" charset="0"/>
      <p:regular r:id="rId15"/>
    </p:embeddedFont>
  </p:embeddedFontLst>
  <p:defaultTextStyle>
    <a:defPPr>
      <a:defRPr lang="en-US"/>
    </a:defPPr>
    <a:lvl1pPr marL="0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1pPr>
    <a:lvl2pPr marL="2338487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2pPr>
    <a:lvl3pPr marL="4676973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3pPr>
    <a:lvl4pPr marL="7015460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4pPr>
    <a:lvl5pPr marL="9353946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5pPr>
    <a:lvl6pPr marL="11692433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6pPr>
    <a:lvl7pPr marL="14030919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7pPr>
    <a:lvl8pPr marL="16369406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8pPr>
    <a:lvl9pPr marL="18707892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98" userDrawn="1">
          <p15:clr>
            <a:srgbClr val="A4A3A4"/>
          </p15:clr>
        </p15:guide>
        <p15:guide id="2" orient="horz" pos="890" userDrawn="1">
          <p15:clr>
            <a:srgbClr val="A4A3A4"/>
          </p15:clr>
        </p15:guide>
        <p15:guide id="3" orient="horz" pos="5143" userDrawn="1">
          <p15:clr>
            <a:srgbClr val="A4A3A4"/>
          </p15:clr>
        </p15:guide>
        <p15:guide id="4" orient="horz" pos="2938" userDrawn="1">
          <p15:clr>
            <a:srgbClr val="A4A3A4"/>
          </p15:clr>
        </p15:guide>
        <p15:guide id="5" orient="horz" pos="25141" userDrawn="1">
          <p15:clr>
            <a:srgbClr val="A4A3A4"/>
          </p15:clr>
        </p15:guide>
        <p15:guide id="6" orient="horz" pos="13074" userDrawn="1">
          <p15:clr>
            <a:srgbClr val="A4A3A4"/>
          </p15:clr>
        </p15:guide>
        <p15:guide id="7" pos="18098" userDrawn="1">
          <p15:clr>
            <a:srgbClr val="A4A3A4"/>
          </p15:clr>
        </p15:guide>
        <p15:guide id="8" pos="9244" userDrawn="1">
          <p15:clr>
            <a:srgbClr val="A4A3A4"/>
          </p15:clr>
        </p15:guide>
        <p15:guide id="9" pos="977" userDrawn="1">
          <p15:clr>
            <a:srgbClr val="A4A3A4"/>
          </p15:clr>
        </p15:guide>
        <p15:guide id="10" pos="984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4522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F5E7"/>
    <a:srgbClr val="C8E0FF"/>
    <a:srgbClr val="EDEDED"/>
    <a:srgbClr val="F7D117"/>
    <a:srgbClr val="D42E12"/>
    <a:srgbClr val="FFEECA"/>
    <a:srgbClr val="8FD1E3"/>
    <a:srgbClr val="F49600"/>
    <a:srgbClr val="FFFFFF"/>
    <a:srgbClr val="CCE9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400" autoAdjust="0"/>
    <p:restoredTop sz="97386" autoAdjust="0"/>
  </p:normalViewPr>
  <p:slideViewPr>
    <p:cSldViewPr snapToGrid="0">
      <p:cViewPr>
        <p:scale>
          <a:sx n="20" d="100"/>
          <a:sy n="20" d="100"/>
        </p:scale>
        <p:origin x="3720" y="5"/>
      </p:cViewPr>
      <p:guideLst>
        <p:guide orient="horz" pos="25998"/>
        <p:guide orient="horz" pos="890"/>
        <p:guide orient="horz" pos="5143"/>
        <p:guide orient="horz" pos="2938"/>
        <p:guide orient="horz" pos="25141"/>
        <p:guide orient="horz" pos="13074"/>
        <p:guide pos="18098"/>
        <p:guide pos="9244"/>
        <p:guide pos="977"/>
        <p:guide pos="984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4522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font" Target="fonts/font2.fntdata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handoutMaster" Target="handoutMasters/handoutMaster1.xml"/><Relationship Id="rId14" Type="http://schemas.openxmlformats.org/officeDocument/2006/relationships/font" Target="fonts/font5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nter, Olivier CH SNV-FR/S/E" userId="a5528dcf-269e-4539-958d-ecdb88040a09" providerId="ADAL" clId="{C3B848EA-3D90-4E8E-8175-E2F22A8D7B7E}"/>
    <pc:docChg chg="delSld modSld">
      <pc:chgData name="Kenter, Olivier CH SNV-FR/S/E" userId="a5528dcf-269e-4539-958d-ecdb88040a09" providerId="ADAL" clId="{C3B848EA-3D90-4E8E-8175-E2F22A8D7B7E}" dt="2026-08-31T15:59:37.926" v="66" actId="1036"/>
      <pc:docMkLst>
        <pc:docMk/>
      </pc:docMkLst>
      <pc:sldChg chg="modSp mod">
        <pc:chgData name="Kenter, Olivier CH SNV-FR/S/E" userId="a5528dcf-269e-4539-958d-ecdb88040a09" providerId="ADAL" clId="{C3B848EA-3D90-4E8E-8175-E2F22A8D7B7E}" dt="2026-08-31T15:59:37.926" v="66" actId="1036"/>
        <pc:sldMkLst>
          <pc:docMk/>
          <pc:sldMk cId="257835128" sldId="349"/>
        </pc:sldMkLst>
        <pc:spChg chg="mod">
          <ac:chgData name="Kenter, Olivier CH SNV-FR/S/E" userId="a5528dcf-269e-4539-958d-ecdb88040a09" providerId="ADAL" clId="{C3B848EA-3D90-4E8E-8175-E2F22A8D7B7E}" dt="2026-08-31T15:58:53.592" v="13" actId="1035"/>
          <ac:spMkLst>
            <pc:docMk/>
            <pc:sldMk cId="257835128" sldId="349"/>
            <ac:spMk id="23" creationId="{0F346C4E-B6A2-C0CA-D101-B91420CD9335}"/>
          </ac:spMkLst>
        </pc:spChg>
        <pc:spChg chg="mod">
          <ac:chgData name="Kenter, Olivier CH SNV-FR/S/E" userId="a5528dcf-269e-4539-958d-ecdb88040a09" providerId="ADAL" clId="{C3B848EA-3D90-4E8E-8175-E2F22A8D7B7E}" dt="2026-08-31T15:59:37.926" v="66" actId="1036"/>
          <ac:spMkLst>
            <pc:docMk/>
            <pc:sldMk cId="257835128" sldId="349"/>
            <ac:spMk id="33" creationId="{3A332149-A28A-168C-FED8-A32961799D0B}"/>
          </ac:spMkLst>
        </pc:spChg>
        <pc:spChg chg="mod">
          <ac:chgData name="Kenter, Olivier CH SNV-FR/S/E" userId="a5528dcf-269e-4539-958d-ecdb88040a09" providerId="ADAL" clId="{C3B848EA-3D90-4E8E-8175-E2F22A8D7B7E}" dt="2026-08-31T15:58:53.592" v="13" actId="1035"/>
          <ac:spMkLst>
            <pc:docMk/>
            <pc:sldMk cId="257835128" sldId="349"/>
            <ac:spMk id="43" creationId="{6CCA312E-5408-86B7-E2FF-390FF07920AB}"/>
          </ac:spMkLst>
        </pc:spChg>
        <pc:spChg chg="mod">
          <ac:chgData name="Kenter, Olivier CH SNV-FR/S/E" userId="a5528dcf-269e-4539-958d-ecdb88040a09" providerId="ADAL" clId="{C3B848EA-3D90-4E8E-8175-E2F22A8D7B7E}" dt="2026-08-31T15:59:37.926" v="66" actId="1036"/>
          <ac:spMkLst>
            <pc:docMk/>
            <pc:sldMk cId="257835128" sldId="349"/>
            <ac:spMk id="50" creationId="{2D54879A-2F2F-6033-276C-652780C43F29}"/>
          </ac:spMkLst>
        </pc:spChg>
        <pc:spChg chg="mod">
          <ac:chgData name="Kenter, Olivier CH SNV-FR/S/E" userId="a5528dcf-269e-4539-958d-ecdb88040a09" providerId="ADAL" clId="{C3B848EA-3D90-4E8E-8175-E2F22A8D7B7E}" dt="2026-08-31T15:59:37.926" v="66" actId="1036"/>
          <ac:spMkLst>
            <pc:docMk/>
            <pc:sldMk cId="257835128" sldId="349"/>
            <ac:spMk id="55" creationId="{9D88A0AD-80E1-7B79-8D38-4F1D5352F2F1}"/>
          </ac:spMkLst>
        </pc:spChg>
        <pc:spChg chg="mod">
          <ac:chgData name="Kenter, Olivier CH SNV-FR/S/E" userId="a5528dcf-269e-4539-958d-ecdb88040a09" providerId="ADAL" clId="{C3B848EA-3D90-4E8E-8175-E2F22A8D7B7E}" dt="2026-08-31T15:58:53.592" v="13" actId="1035"/>
          <ac:spMkLst>
            <pc:docMk/>
            <pc:sldMk cId="257835128" sldId="349"/>
            <ac:spMk id="61" creationId="{4E84085F-1EE3-D628-34CD-DF6AD418C326}"/>
          </ac:spMkLst>
        </pc:spChg>
        <pc:spChg chg="mod">
          <ac:chgData name="Kenter, Olivier CH SNV-FR/S/E" userId="a5528dcf-269e-4539-958d-ecdb88040a09" providerId="ADAL" clId="{C3B848EA-3D90-4E8E-8175-E2F22A8D7B7E}" dt="2026-08-31T15:59:37.926" v="66" actId="1036"/>
          <ac:spMkLst>
            <pc:docMk/>
            <pc:sldMk cId="257835128" sldId="349"/>
            <ac:spMk id="63" creationId="{34564F4D-C6CB-60BC-08D4-2E5261207AAA}"/>
          </ac:spMkLst>
        </pc:spChg>
        <pc:spChg chg="mod">
          <ac:chgData name="Kenter, Olivier CH SNV-FR/S/E" userId="a5528dcf-269e-4539-958d-ecdb88040a09" providerId="ADAL" clId="{C3B848EA-3D90-4E8E-8175-E2F22A8D7B7E}" dt="2026-08-31T15:58:53.592" v="13" actId="1035"/>
          <ac:spMkLst>
            <pc:docMk/>
            <pc:sldMk cId="257835128" sldId="349"/>
            <ac:spMk id="67" creationId="{38DC2315-2D15-1366-5EEB-3272B75E24D7}"/>
          </ac:spMkLst>
        </pc:spChg>
        <pc:spChg chg="mod">
          <ac:chgData name="Kenter, Olivier CH SNV-FR/S/E" userId="a5528dcf-269e-4539-958d-ecdb88040a09" providerId="ADAL" clId="{C3B848EA-3D90-4E8E-8175-E2F22A8D7B7E}" dt="2026-08-31T15:59:37.926" v="66" actId="1036"/>
          <ac:spMkLst>
            <pc:docMk/>
            <pc:sldMk cId="257835128" sldId="349"/>
            <ac:spMk id="69" creationId="{17F3DEB0-E718-6BB5-4D3F-012A6D3A9312}"/>
          </ac:spMkLst>
        </pc:spChg>
        <pc:spChg chg="mod">
          <ac:chgData name="Kenter, Olivier CH SNV-FR/S/E" userId="a5528dcf-269e-4539-958d-ecdb88040a09" providerId="ADAL" clId="{C3B848EA-3D90-4E8E-8175-E2F22A8D7B7E}" dt="2026-08-31T15:59:37.926" v="66" actId="1036"/>
          <ac:spMkLst>
            <pc:docMk/>
            <pc:sldMk cId="257835128" sldId="349"/>
            <ac:spMk id="71" creationId="{9B5F5F05-0585-B79D-A44C-E6BA23E82EE6}"/>
          </ac:spMkLst>
        </pc:spChg>
        <pc:spChg chg="mod">
          <ac:chgData name="Kenter, Olivier CH SNV-FR/S/E" userId="a5528dcf-269e-4539-958d-ecdb88040a09" providerId="ADAL" clId="{C3B848EA-3D90-4E8E-8175-E2F22A8D7B7E}" dt="2026-08-31T15:58:53.592" v="13" actId="1035"/>
          <ac:spMkLst>
            <pc:docMk/>
            <pc:sldMk cId="257835128" sldId="349"/>
            <ac:spMk id="75" creationId="{DCAF1D2C-8D36-578A-403D-E17ABF06EB5C}"/>
          </ac:spMkLst>
        </pc:spChg>
        <pc:spChg chg="mod">
          <ac:chgData name="Kenter, Olivier CH SNV-FR/S/E" userId="a5528dcf-269e-4539-958d-ecdb88040a09" providerId="ADAL" clId="{C3B848EA-3D90-4E8E-8175-E2F22A8D7B7E}" dt="2026-08-31T15:59:37.926" v="66" actId="1036"/>
          <ac:spMkLst>
            <pc:docMk/>
            <pc:sldMk cId="257835128" sldId="349"/>
            <ac:spMk id="80" creationId="{824A04D4-82DC-7161-B273-BBBEECC597EF}"/>
          </ac:spMkLst>
        </pc:spChg>
        <pc:spChg chg="mod">
          <ac:chgData name="Kenter, Olivier CH SNV-FR/S/E" userId="a5528dcf-269e-4539-958d-ecdb88040a09" providerId="ADAL" clId="{C3B848EA-3D90-4E8E-8175-E2F22A8D7B7E}" dt="2026-08-31T15:58:53.592" v="13" actId="1035"/>
          <ac:spMkLst>
            <pc:docMk/>
            <pc:sldMk cId="257835128" sldId="349"/>
            <ac:spMk id="85" creationId="{420F9D3B-5E02-F0A3-2D5A-5CF0E514717B}"/>
          </ac:spMkLst>
        </pc:spChg>
        <pc:spChg chg="mod">
          <ac:chgData name="Kenter, Olivier CH SNV-FR/S/E" userId="a5528dcf-269e-4539-958d-ecdb88040a09" providerId="ADAL" clId="{C3B848EA-3D90-4E8E-8175-E2F22A8D7B7E}" dt="2026-08-31T15:59:37.926" v="66" actId="1036"/>
          <ac:spMkLst>
            <pc:docMk/>
            <pc:sldMk cId="257835128" sldId="349"/>
            <ac:spMk id="93" creationId="{F0731BC3-6CD0-EDB3-1A4D-6B26B4CECEDE}"/>
          </ac:spMkLst>
        </pc:spChg>
        <pc:spChg chg="mod">
          <ac:chgData name="Kenter, Olivier CH SNV-FR/S/E" userId="a5528dcf-269e-4539-958d-ecdb88040a09" providerId="ADAL" clId="{C3B848EA-3D90-4E8E-8175-E2F22A8D7B7E}" dt="2026-08-31T15:59:37.926" v="66" actId="1036"/>
          <ac:spMkLst>
            <pc:docMk/>
            <pc:sldMk cId="257835128" sldId="349"/>
            <ac:spMk id="95" creationId="{0FA09CD0-816C-8361-62E9-177419FE1467}"/>
          </ac:spMkLst>
        </pc:spChg>
        <pc:spChg chg="mod">
          <ac:chgData name="Kenter, Olivier CH SNV-FR/S/E" userId="a5528dcf-269e-4539-958d-ecdb88040a09" providerId="ADAL" clId="{C3B848EA-3D90-4E8E-8175-E2F22A8D7B7E}" dt="2026-08-31T15:59:37.926" v="66" actId="1036"/>
          <ac:spMkLst>
            <pc:docMk/>
            <pc:sldMk cId="257835128" sldId="349"/>
            <ac:spMk id="97" creationId="{3BA05E6B-AB21-2390-65C2-F42D266785B0}"/>
          </ac:spMkLst>
        </pc:spChg>
        <pc:spChg chg="mod">
          <ac:chgData name="Kenter, Olivier CH SNV-FR/S/E" userId="a5528dcf-269e-4539-958d-ecdb88040a09" providerId="ADAL" clId="{C3B848EA-3D90-4E8E-8175-E2F22A8D7B7E}" dt="2026-08-31T15:59:23.769" v="53" actId="1036"/>
          <ac:spMkLst>
            <pc:docMk/>
            <pc:sldMk cId="257835128" sldId="349"/>
            <ac:spMk id="230" creationId="{7B53E6BD-4911-C6EE-2706-E5340822F96D}"/>
          </ac:spMkLst>
        </pc:spChg>
        <pc:spChg chg="mod">
          <ac:chgData name="Kenter, Olivier CH SNV-FR/S/E" userId="a5528dcf-269e-4539-958d-ecdb88040a09" providerId="ADAL" clId="{C3B848EA-3D90-4E8E-8175-E2F22A8D7B7E}" dt="2026-08-31T15:59:28.414" v="61" actId="1036"/>
          <ac:spMkLst>
            <pc:docMk/>
            <pc:sldMk cId="257835128" sldId="349"/>
            <ac:spMk id="234" creationId="{7E645130-C03B-A399-5E38-A6897EA60350}"/>
          </ac:spMkLst>
        </pc:spChg>
        <pc:spChg chg="mod">
          <ac:chgData name="Kenter, Olivier CH SNV-FR/S/E" userId="a5528dcf-269e-4539-958d-ecdb88040a09" providerId="ADAL" clId="{C3B848EA-3D90-4E8E-8175-E2F22A8D7B7E}" dt="2026-08-31T15:59:28.414" v="61" actId="1036"/>
          <ac:spMkLst>
            <pc:docMk/>
            <pc:sldMk cId="257835128" sldId="349"/>
            <ac:spMk id="243" creationId="{CD8711CE-7A1F-045D-375C-1369817BC3F0}"/>
          </ac:spMkLst>
        </pc:spChg>
        <pc:spChg chg="mod">
          <ac:chgData name="Kenter, Olivier CH SNV-FR/S/E" userId="a5528dcf-269e-4539-958d-ecdb88040a09" providerId="ADAL" clId="{C3B848EA-3D90-4E8E-8175-E2F22A8D7B7E}" dt="2026-08-31T15:59:28.414" v="61" actId="1036"/>
          <ac:spMkLst>
            <pc:docMk/>
            <pc:sldMk cId="257835128" sldId="349"/>
            <ac:spMk id="244" creationId="{3CBDE4B1-97E0-FAFF-EE64-3725B70ACEA1}"/>
          </ac:spMkLst>
        </pc:spChg>
        <pc:spChg chg="mod">
          <ac:chgData name="Kenter, Olivier CH SNV-FR/S/E" userId="a5528dcf-269e-4539-958d-ecdb88040a09" providerId="ADAL" clId="{C3B848EA-3D90-4E8E-8175-E2F22A8D7B7E}" dt="2026-08-31T15:59:28.414" v="61" actId="1036"/>
          <ac:spMkLst>
            <pc:docMk/>
            <pc:sldMk cId="257835128" sldId="349"/>
            <ac:spMk id="246" creationId="{CDB5BDB8-456C-1CC5-E503-9E8A277AF83D}"/>
          </ac:spMkLst>
        </pc:spChg>
        <pc:spChg chg="mod">
          <ac:chgData name="Kenter, Olivier CH SNV-FR/S/E" userId="a5528dcf-269e-4539-958d-ecdb88040a09" providerId="ADAL" clId="{C3B848EA-3D90-4E8E-8175-E2F22A8D7B7E}" dt="2026-08-31T15:59:28.414" v="61" actId="1036"/>
          <ac:spMkLst>
            <pc:docMk/>
            <pc:sldMk cId="257835128" sldId="349"/>
            <ac:spMk id="248" creationId="{FB6FAECE-C9FC-E8E0-583A-3BD0EBC9EE6B}"/>
          </ac:spMkLst>
        </pc:spChg>
        <pc:spChg chg="mod">
          <ac:chgData name="Kenter, Olivier CH SNV-FR/S/E" userId="a5528dcf-269e-4539-958d-ecdb88040a09" providerId="ADAL" clId="{C3B848EA-3D90-4E8E-8175-E2F22A8D7B7E}" dt="2026-08-31T15:59:09.825" v="48" actId="1036"/>
          <ac:spMkLst>
            <pc:docMk/>
            <pc:sldMk cId="257835128" sldId="349"/>
            <ac:spMk id="250" creationId="{DB2199B6-9FA1-EF18-A7E0-E9B14FCEA7A2}"/>
          </ac:spMkLst>
        </pc:spChg>
        <pc:spChg chg="mod">
          <ac:chgData name="Kenter, Olivier CH SNV-FR/S/E" userId="a5528dcf-269e-4539-958d-ecdb88040a09" providerId="ADAL" clId="{C3B848EA-3D90-4E8E-8175-E2F22A8D7B7E}" dt="2026-08-31T15:59:04.265" v="34" actId="1036"/>
          <ac:spMkLst>
            <pc:docMk/>
            <pc:sldMk cId="257835128" sldId="349"/>
            <ac:spMk id="267" creationId="{75F549A5-1965-90D1-336D-595392995972}"/>
          </ac:spMkLst>
        </pc:spChg>
        <pc:spChg chg="mod">
          <ac:chgData name="Kenter, Olivier CH SNV-FR/S/E" userId="a5528dcf-269e-4539-958d-ecdb88040a09" providerId="ADAL" clId="{C3B848EA-3D90-4E8E-8175-E2F22A8D7B7E}" dt="2026-08-31T15:59:04.265" v="34" actId="1036"/>
          <ac:spMkLst>
            <pc:docMk/>
            <pc:sldMk cId="257835128" sldId="349"/>
            <ac:spMk id="274" creationId="{7C8A3C8C-91D2-11D7-7DBA-EE63CD911A33}"/>
          </ac:spMkLst>
        </pc:spChg>
        <pc:spChg chg="mod">
          <ac:chgData name="Kenter, Olivier CH SNV-FR/S/E" userId="a5528dcf-269e-4539-958d-ecdb88040a09" providerId="ADAL" clId="{C3B848EA-3D90-4E8E-8175-E2F22A8D7B7E}" dt="2026-08-31T15:59:04.265" v="34" actId="1036"/>
          <ac:spMkLst>
            <pc:docMk/>
            <pc:sldMk cId="257835128" sldId="349"/>
            <ac:spMk id="279" creationId="{3BAD9AB6-3FB0-4054-618F-3E5EF0386096}"/>
          </ac:spMkLst>
        </pc:spChg>
        <pc:spChg chg="mod">
          <ac:chgData name="Kenter, Olivier CH SNV-FR/S/E" userId="a5528dcf-269e-4539-958d-ecdb88040a09" providerId="ADAL" clId="{C3B848EA-3D90-4E8E-8175-E2F22A8D7B7E}" dt="2026-08-31T15:59:04.265" v="34" actId="1036"/>
          <ac:spMkLst>
            <pc:docMk/>
            <pc:sldMk cId="257835128" sldId="349"/>
            <ac:spMk id="281" creationId="{C3B15409-AB62-B95A-B34B-BF13D8169AD8}"/>
          </ac:spMkLst>
        </pc:spChg>
        <pc:spChg chg="mod">
          <ac:chgData name="Kenter, Olivier CH SNV-FR/S/E" userId="a5528dcf-269e-4539-958d-ecdb88040a09" providerId="ADAL" clId="{C3B848EA-3D90-4E8E-8175-E2F22A8D7B7E}" dt="2026-08-31T15:59:04.265" v="34" actId="1036"/>
          <ac:spMkLst>
            <pc:docMk/>
            <pc:sldMk cId="257835128" sldId="349"/>
            <ac:spMk id="282" creationId="{0334F20F-F398-2D9E-2D20-C723889EF3D8}"/>
          </ac:spMkLst>
        </pc:spChg>
        <pc:spChg chg="mod">
          <ac:chgData name="Kenter, Olivier CH SNV-FR/S/E" userId="a5528dcf-269e-4539-958d-ecdb88040a09" providerId="ADAL" clId="{C3B848EA-3D90-4E8E-8175-E2F22A8D7B7E}" dt="2026-08-31T15:59:04.265" v="34" actId="1036"/>
          <ac:spMkLst>
            <pc:docMk/>
            <pc:sldMk cId="257835128" sldId="349"/>
            <ac:spMk id="284" creationId="{EF8366C2-76E4-F962-2BEB-82523DC20E5F}"/>
          </ac:spMkLst>
        </pc:spChg>
        <pc:spChg chg="mod">
          <ac:chgData name="Kenter, Olivier CH SNV-FR/S/E" userId="a5528dcf-269e-4539-958d-ecdb88040a09" providerId="ADAL" clId="{C3B848EA-3D90-4E8E-8175-E2F22A8D7B7E}" dt="2026-08-31T15:59:04.265" v="34" actId="1036"/>
          <ac:spMkLst>
            <pc:docMk/>
            <pc:sldMk cId="257835128" sldId="349"/>
            <ac:spMk id="289" creationId="{6DB5249C-EE45-8BF3-C074-F6A4A94FC433}"/>
          </ac:spMkLst>
        </pc:spChg>
        <pc:spChg chg="mod">
          <ac:chgData name="Kenter, Olivier CH SNV-FR/S/E" userId="a5528dcf-269e-4539-958d-ecdb88040a09" providerId="ADAL" clId="{C3B848EA-3D90-4E8E-8175-E2F22A8D7B7E}" dt="2026-08-31T15:59:04.265" v="34" actId="1036"/>
          <ac:spMkLst>
            <pc:docMk/>
            <pc:sldMk cId="257835128" sldId="349"/>
            <ac:spMk id="293" creationId="{256F7CC8-675C-70D2-A81F-0EAFE004ABA5}"/>
          </ac:spMkLst>
        </pc:spChg>
      </pc:sldChg>
      <pc:sldChg chg="del">
        <pc:chgData name="Kenter, Olivier CH SNV-FR/S/E" userId="a5528dcf-269e-4539-958d-ecdb88040a09" providerId="ADAL" clId="{C3B848EA-3D90-4E8E-8175-E2F22A8D7B7E}" dt="2026-08-31T15:58:38.909" v="0" actId="47"/>
        <pc:sldMkLst>
          <pc:docMk/>
          <pc:sldMk cId="3619900661" sldId="35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/>
          <a:lstStyle>
            <a:lvl1pPr algn="l">
              <a:defRPr sz="1700"/>
            </a:lvl1pPr>
          </a:lstStyle>
          <a:p>
            <a:endParaRPr lang="en-GB">
              <a:latin typeface="Futura Medium" pitchFamily="2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2802" y="0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/>
          <a:lstStyle>
            <a:lvl1pPr algn="r">
              <a:defRPr sz="1700"/>
            </a:lvl1pPr>
          </a:lstStyle>
          <a:p>
            <a:fld id="{78688C09-A274-4C07-9395-CBE67C0DE912}" type="datetimeFigureOut">
              <a:rPr lang="en-GB" smtClean="0">
                <a:latin typeface="Futura Medium" pitchFamily="2" charset="0"/>
              </a:rPr>
              <a:pPr/>
              <a:t>31/08/2026</a:t>
            </a:fld>
            <a:endParaRPr lang="en-GB">
              <a:latin typeface="Futura Medium" pitchFamily="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13635483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 anchor="b"/>
          <a:lstStyle>
            <a:lvl1pPr algn="l">
              <a:defRPr sz="1700"/>
            </a:lvl1pPr>
          </a:lstStyle>
          <a:p>
            <a:endParaRPr lang="en-GB">
              <a:latin typeface="Futura Medium" pitchFamily="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2802" y="13635483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 anchor="b"/>
          <a:lstStyle>
            <a:lvl1pPr algn="r">
              <a:defRPr sz="1700"/>
            </a:lvl1pPr>
          </a:lstStyle>
          <a:p>
            <a:fld id="{18B005D9-1AAC-4E6D-B9B3-BB8CB4FD9D30}" type="slidenum">
              <a:rPr lang="en-GB" smtClean="0">
                <a:latin typeface="Futura Medium" pitchFamily="2" charset="0"/>
              </a:rPr>
              <a:pPr/>
              <a:t>‹#›</a:t>
            </a:fld>
            <a:endParaRPr lang="en-GB">
              <a:latin typeface="Futura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973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/>
          <a:lstStyle>
            <a:lvl1pPr algn="l">
              <a:defRPr sz="1700">
                <a:latin typeface="Futura Medium" pitchFamily="2" charset="0"/>
              </a:defRPr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802" y="0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/>
          <a:lstStyle>
            <a:lvl1pPr algn="r">
              <a:defRPr sz="1700">
                <a:latin typeface="Futura Medium" pitchFamily="2" charset="0"/>
              </a:defRPr>
            </a:lvl1pPr>
          </a:lstStyle>
          <a:p>
            <a:fld id="{E8910CE4-810D-4C84-B7AD-48C304FEA169}" type="datetimeFigureOut">
              <a:rPr lang="en-GB" smtClean="0"/>
              <a:pPr/>
              <a:t>31/08/2026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59113" y="1074738"/>
            <a:ext cx="3808412" cy="5386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4275" tIns="67137" rIns="134275" bIns="67137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5" y="6818990"/>
            <a:ext cx="7941310" cy="6460093"/>
          </a:xfrm>
          <a:prstGeom prst="rect">
            <a:avLst/>
          </a:prstGeom>
        </p:spPr>
        <p:txBody>
          <a:bodyPr vert="horz" lIns="134275" tIns="67137" rIns="134275" bIns="67137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13635483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 anchor="b"/>
          <a:lstStyle>
            <a:lvl1pPr algn="l">
              <a:defRPr sz="1700">
                <a:latin typeface="Futura Medium" pitchFamily="2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802" y="13635483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 anchor="b"/>
          <a:lstStyle>
            <a:lvl1pPr algn="r">
              <a:defRPr sz="1700">
                <a:latin typeface="Futura Medium" pitchFamily="2" charset="0"/>
              </a:defRPr>
            </a:lvl1pPr>
          </a:lstStyle>
          <a:p>
            <a:fld id="{DE799493-6412-4470-9830-D005B358D66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2893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676973" rtl="0" eaLnBrk="1" latinLnBrk="0" hangingPunct="1">
      <a:defRPr sz="6138" kern="1200">
        <a:solidFill>
          <a:schemeClr val="tx1"/>
        </a:solidFill>
        <a:latin typeface="Futura Medium" pitchFamily="2" charset="0"/>
        <a:ea typeface="+mn-ea"/>
        <a:cs typeface="+mn-cs"/>
      </a:defRPr>
    </a:lvl1pPr>
    <a:lvl2pPr marL="2338487" algn="l" defTabSz="4676973" rtl="0" eaLnBrk="1" latinLnBrk="0" hangingPunct="1">
      <a:defRPr sz="6138" kern="1200">
        <a:solidFill>
          <a:schemeClr val="tx1"/>
        </a:solidFill>
        <a:latin typeface="Futura Medium"/>
        <a:ea typeface="+mn-ea"/>
        <a:cs typeface="+mn-cs"/>
      </a:defRPr>
    </a:lvl2pPr>
    <a:lvl3pPr marL="4676973" algn="l" defTabSz="4676973" rtl="0" eaLnBrk="1" latinLnBrk="0" hangingPunct="1">
      <a:defRPr sz="6138" kern="1200">
        <a:solidFill>
          <a:schemeClr val="tx1"/>
        </a:solidFill>
        <a:latin typeface="Futura Medium"/>
        <a:ea typeface="+mn-ea"/>
        <a:cs typeface="+mn-cs"/>
      </a:defRPr>
    </a:lvl3pPr>
    <a:lvl4pPr marL="7015460" algn="l" defTabSz="4676973" rtl="0" eaLnBrk="1" latinLnBrk="0" hangingPunct="1">
      <a:defRPr sz="6138" kern="1200">
        <a:solidFill>
          <a:schemeClr val="tx1"/>
        </a:solidFill>
        <a:latin typeface="Futura Medium"/>
        <a:ea typeface="+mn-ea"/>
        <a:cs typeface="+mn-cs"/>
      </a:defRPr>
    </a:lvl4pPr>
    <a:lvl5pPr marL="9353946" algn="l" defTabSz="4676973" rtl="0" eaLnBrk="1" latinLnBrk="0" hangingPunct="1">
      <a:defRPr sz="6138" kern="1200">
        <a:solidFill>
          <a:schemeClr val="tx1"/>
        </a:solidFill>
        <a:latin typeface="Futura Medium"/>
        <a:ea typeface="+mn-ea"/>
        <a:cs typeface="+mn-cs"/>
      </a:defRPr>
    </a:lvl5pPr>
    <a:lvl6pPr marL="11692433" algn="l" defTabSz="4676973" rtl="0" eaLnBrk="1" latinLnBrk="0" hangingPunct="1">
      <a:defRPr sz="6138" kern="1200">
        <a:solidFill>
          <a:schemeClr val="tx1"/>
        </a:solidFill>
        <a:latin typeface="+mn-lt"/>
        <a:ea typeface="+mn-ea"/>
        <a:cs typeface="+mn-cs"/>
      </a:defRPr>
    </a:lvl6pPr>
    <a:lvl7pPr marL="14030919" algn="l" defTabSz="4676973" rtl="0" eaLnBrk="1" latinLnBrk="0" hangingPunct="1">
      <a:defRPr sz="6138" kern="1200">
        <a:solidFill>
          <a:schemeClr val="tx1"/>
        </a:solidFill>
        <a:latin typeface="+mn-lt"/>
        <a:ea typeface="+mn-ea"/>
        <a:cs typeface="+mn-cs"/>
      </a:defRPr>
    </a:lvl7pPr>
    <a:lvl8pPr marL="16369406" algn="l" defTabSz="4676973" rtl="0" eaLnBrk="1" latinLnBrk="0" hangingPunct="1">
      <a:defRPr sz="6138" kern="1200">
        <a:solidFill>
          <a:schemeClr val="tx1"/>
        </a:solidFill>
        <a:latin typeface="+mn-lt"/>
        <a:ea typeface="+mn-ea"/>
        <a:cs typeface="+mn-cs"/>
      </a:defRPr>
    </a:lvl8pPr>
    <a:lvl9pPr marL="18707892" algn="l" defTabSz="4676973" rtl="0" eaLnBrk="1" latinLnBrk="0" hangingPunct="1">
      <a:defRPr sz="613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55A1B-D3B0-C2DD-3F62-F8C152A40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E7471A-03F1-E927-6859-D6AB3AA0EC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06C529-345C-E0FD-A8F6-0DCAEC80A9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578FA-75D1-7348-E3C3-7E4117A469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381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11" descr="&lt;COMPANY_NAME&gt;{19.13386,233.3002,382.1078,36.87504}"/>
          <p:cNvSpPr txBox="1">
            <a:spLocks noChangeArrowheads="1"/>
          </p:cNvSpPr>
          <p:nvPr userDrawn="1"/>
        </p:nvSpPr>
        <p:spPr bwMode="auto">
          <a:xfrm>
            <a:off x="1550555" y="41650920"/>
            <a:ext cx="9810017" cy="75563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ctr" anchorCtr="0">
            <a:noAutofit/>
          </a:bodyPr>
          <a:lstStyle/>
          <a:p>
            <a:pPr>
              <a:defRPr/>
            </a:pPr>
            <a:r>
              <a:rPr lang="en-GB" sz="2800">
                <a:solidFill>
                  <a:schemeClr val="tx1"/>
                </a:solidFill>
                <a:latin typeface="+mn-lt"/>
                <a:cs typeface="Arial" pitchFamily="34" charset="0"/>
              </a:rPr>
              <a:t>Shape. Connect. Accelerate </a:t>
            </a:r>
          </a:p>
        </p:txBody>
      </p:sp>
      <p:sp>
        <p:nvSpPr>
          <p:cNvPr id="20" name="Text Box 11" descr="&lt;COMPANY_NAME&gt;{19.13386,233.3002,382.1078,36.87504}"/>
          <p:cNvSpPr txBox="1">
            <a:spLocks noChangeArrowheads="1"/>
          </p:cNvSpPr>
          <p:nvPr userDrawn="1"/>
        </p:nvSpPr>
        <p:spPr bwMode="auto">
          <a:xfrm>
            <a:off x="19762355" y="41650920"/>
            <a:ext cx="9810017" cy="75563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ctr" anchorCtr="0">
            <a:noAutofit/>
          </a:bodyPr>
          <a:lstStyle/>
          <a:p>
            <a:pPr algn="r"/>
            <a:r>
              <a:rPr lang="en-GB" sz="2800"/>
              <a:t>September 7-8,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D0CE2F-1DFA-1F89-3C04-6693D0E978E9}"/>
              </a:ext>
            </a:extLst>
          </p:cNvPr>
          <p:cNvSpPr/>
          <p:nvPr userDrawn="1"/>
        </p:nvSpPr>
        <p:spPr>
          <a:xfrm>
            <a:off x="-1" y="1"/>
            <a:ext cx="30275213" cy="6827520"/>
          </a:xfrm>
          <a:prstGeom prst="rect">
            <a:avLst/>
          </a:prstGeom>
          <a:solidFill>
            <a:srgbClr val="F7D1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032B41E-CA7B-293B-0827-739C4AA7C3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2120" r="-991"/>
          <a:stretch/>
        </p:blipFill>
        <p:spPr>
          <a:xfrm>
            <a:off x="24260896" y="1321092"/>
            <a:ext cx="3359440" cy="3255921"/>
          </a:xfrm>
          <a:prstGeom prst="rect">
            <a:avLst/>
          </a:prstGeom>
        </p:spPr>
      </p:pic>
    </p:spTree>
  </p:cSld>
  <p:clrMapOvr>
    <a:masterClrMapping/>
  </p:clrMapOvr>
  <p:transition/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8867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1CD8318-F598-F22A-F46C-E91BE846BE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0009390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08" imgH="408" progId="TCLayout.ActiveDocument.1">
                  <p:embed/>
                </p:oleObj>
              </mc:Choice>
              <mc:Fallback>
                <p:oleObj name="think-cell Slide" r:id="rId5" imgW="408" imgH="4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CD8318-F598-F22A-F46C-E91BE846BE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</p:sldLayoutIdLst>
  <p:transition>
    <p:fade/>
  </p:transition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2000" b="1" kern="1200" cap="none" baseline="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2"/>
        </a:buClr>
        <a:buSzPct val="85000"/>
        <a:buFont typeface="Wingdings" pitchFamily="2" charset="2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69875" indent="-269875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2"/>
        </a:buClr>
        <a:buSzPct val="85000"/>
        <a:buFont typeface="Wingdings" pitchFamily="2" charset="2"/>
        <a:buChar char="n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454025" indent="-18415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631825" indent="-17780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600" b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811213" indent="-173038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89013" indent="-17780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tiff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22096-CA38-7692-C4B0-E2FF22E6D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48c52803bb.png">
            <a:extLst>
              <a:ext uri="{FF2B5EF4-FFF2-40B4-BE49-F238E27FC236}">
                <a16:creationId xmlns:a16="http://schemas.microsoft.com/office/drawing/2014/main" id="{54AB24AB-1C1F-680C-DB0C-B94F1F643C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800" b="22800"/>
          <a:stretch/>
        </p:blipFill>
        <p:spPr>
          <a:xfrm>
            <a:off x="-1" y="0"/>
            <a:ext cx="30275213" cy="10348999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4FE03099-EB5A-C255-D3DB-2E835FB461C6}"/>
              </a:ext>
            </a:extLst>
          </p:cNvPr>
          <p:cNvSpPr/>
          <p:nvPr/>
        </p:nvSpPr>
        <p:spPr>
          <a:xfrm>
            <a:off x="2087215" y="1065338"/>
            <a:ext cx="12117602" cy="1162343"/>
          </a:xfrm>
          <a:prstGeom prst="roundRect">
            <a:avLst>
              <a:gd name="adj" fmla="val 3333"/>
            </a:avLst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GB" sz="3831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765BAB6-A531-34A0-A27B-7A86CCF82EFC}"/>
              </a:ext>
            </a:extLst>
          </p:cNvPr>
          <p:cNvSpPr/>
          <p:nvPr/>
        </p:nvSpPr>
        <p:spPr>
          <a:xfrm>
            <a:off x="2611159" y="1309810"/>
            <a:ext cx="13381907" cy="79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5617" b="1" dirty="0">
                <a:solidFill>
                  <a:srgbClr val="FFFFFF"/>
                </a:solidFill>
                <a:latin typeface="Aptos Display" pitchFamily="34" charset="0"/>
              </a:rPr>
              <a:t>ENERGY &amp; MARKET FUNDAMENTALS</a:t>
            </a:r>
            <a:endParaRPr lang="en-US" sz="5617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BD17CBA-3866-2A76-E03B-C4E1EC5F3F08}"/>
              </a:ext>
            </a:extLst>
          </p:cNvPr>
          <p:cNvSpPr/>
          <p:nvPr/>
        </p:nvSpPr>
        <p:spPr>
          <a:xfrm>
            <a:off x="2063057" y="5189268"/>
            <a:ext cx="19632659" cy="16741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GB" sz="5400" b="0" dirty="0">
                <a:solidFill>
                  <a:srgbClr val="373737"/>
                </a:solidFill>
                <a:latin typeface="Arial"/>
              </a:rPr>
              <a:t>Price scenarios for business planning and capital allocation</a:t>
            </a:r>
            <a:endParaRPr lang="en-US" sz="54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4E223A13-496C-8517-D77D-DA022C61EBA0}"/>
              </a:ext>
            </a:extLst>
          </p:cNvPr>
          <p:cNvSpPr/>
          <p:nvPr/>
        </p:nvSpPr>
        <p:spPr>
          <a:xfrm>
            <a:off x="2087214" y="6772506"/>
            <a:ext cx="19138038" cy="0"/>
          </a:xfrm>
          <a:prstGeom prst="line">
            <a:avLst/>
          </a:prstGeom>
          <a:noFill/>
          <a:ln w="12700">
            <a:solidFill>
              <a:srgbClr val="E9571F"/>
            </a:solidFill>
            <a:prstDash val="solid"/>
          </a:ln>
        </p:spPr>
        <p:txBody>
          <a:bodyPr/>
          <a:lstStyle/>
          <a:p>
            <a:endParaRPr lang="en-GB" sz="3831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D0806EFA-5908-888F-36AE-E2E0A61BF4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87214" y="7533462"/>
            <a:ext cx="1255577" cy="837051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F115CB4B-7FC1-676A-3AC6-69EEFF07CEF0}"/>
              </a:ext>
            </a:extLst>
          </p:cNvPr>
          <p:cNvSpPr/>
          <p:nvPr/>
        </p:nvSpPr>
        <p:spPr>
          <a:xfrm>
            <a:off x="3456935" y="7571510"/>
            <a:ext cx="18262939" cy="1065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46769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617" b="1" i="0" u="none" strike="noStrike" kern="1200" cap="none" spc="0" normalizeH="0" baseline="0" noProof="0" dirty="0">
                <a:ln>
                  <a:noFill/>
                </a:ln>
                <a:solidFill>
                  <a:srgbClr val="2F3033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Jonathan Bushman &amp; Janina Zimmermann</a:t>
            </a: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F27670C8-49D3-7DB1-33C7-8A25F401506D}"/>
              </a:ext>
            </a:extLst>
          </p:cNvPr>
          <p:cNvSpPr/>
          <p:nvPr/>
        </p:nvSpPr>
        <p:spPr>
          <a:xfrm>
            <a:off x="2087215" y="8941230"/>
            <a:ext cx="19214133" cy="9511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5330" dirty="0">
                <a:solidFill>
                  <a:srgbClr val="2F3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 Global Team F2F 2026   |   7–8 September</a:t>
            </a:r>
            <a:endParaRPr lang="en-US" sz="533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FF6B03A9-7737-5E4A-2465-9F3AD215B9A7}"/>
              </a:ext>
            </a:extLst>
          </p:cNvPr>
          <p:cNvSpPr/>
          <p:nvPr/>
        </p:nvSpPr>
        <p:spPr>
          <a:xfrm>
            <a:off x="23850549" y="5402786"/>
            <a:ext cx="4565735" cy="24350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5400" b="1" dirty="0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SHAPE</a:t>
            </a:r>
            <a:endParaRPr lang="en-US" sz="5400" dirty="0"/>
          </a:p>
          <a:p>
            <a:pPr algn="ctr"/>
            <a:r>
              <a:rPr lang="en-US" sz="5400" b="1" dirty="0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</a:t>
            </a:r>
            <a:endParaRPr lang="en-US" sz="5400" dirty="0"/>
          </a:p>
          <a:p>
            <a:pPr algn="ctr"/>
            <a:r>
              <a:rPr lang="en-US" sz="5400" b="1" dirty="0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ACCELERATE</a:t>
            </a:r>
            <a:endParaRPr lang="en-US" sz="54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3345A79-E3D2-0FFB-D739-FBC8162D51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0549" y="1385284"/>
            <a:ext cx="4306322" cy="4306322"/>
          </a:xfrm>
          <a:prstGeom prst="rect">
            <a:avLst/>
          </a:prstGeom>
          <a:ln>
            <a:noFill/>
          </a:ln>
        </p:spPr>
      </p:pic>
      <p:sp>
        <p:nvSpPr>
          <p:cNvPr id="28" name="TextBox 27"/>
          <p:cNvSpPr txBox="1"/>
          <p:nvPr/>
        </p:nvSpPr>
        <p:spPr>
          <a:xfrm>
            <a:off x="1108034" y="10730776"/>
            <a:ext cx="25993765" cy="311008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dirty="0">
                <a:solidFill>
                  <a:srgbClr val="DD0000"/>
                </a:solidFill>
                <a:latin typeface="ShellMedium" panose="00000600000000000000" pitchFamily="2" charset="0"/>
              </a:rPr>
              <a:t>CHALLENGE</a:t>
            </a:r>
            <a:br>
              <a:rPr lang="en-GB" sz="2800" b="1" dirty="0">
                <a:solidFill>
                  <a:srgbClr val="DD0000"/>
                </a:solidFill>
                <a:latin typeface="ShellMedium" panose="00000600000000000000" pitchFamily="2" charset="0"/>
              </a:rPr>
            </a:br>
            <a:endParaRPr lang="en-US" sz="2800" b="1" dirty="0">
              <a:solidFill>
                <a:srgbClr val="DD0000"/>
              </a:solidFill>
              <a:latin typeface="ShellMedium" panose="00000600000000000000" pitchFamily="2" charset="0"/>
            </a:endParaRPr>
          </a:p>
          <a:p>
            <a:pPr marL="0" marR="0" lvl="0" indent="0" algn="l" defTabSz="4676973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One credible set of forward price scenarios for screening, planning, deals and divestments across Shell</a:t>
            </a:r>
          </a:p>
          <a:p>
            <a:pPr marL="0" marR="0" lvl="0" indent="0" algn="l" defTabSz="4676973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3900" b="1" dirty="0">
              <a:solidFill>
                <a:srgbClr val="252525"/>
              </a:solidFill>
              <a:latin typeface="Arial"/>
            </a:endParaRPr>
          </a:p>
          <a:p>
            <a:pPr marL="0" marR="0" lvl="0" indent="0" algn="l" defTabSz="4676973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900" b="1" i="0" u="none" strike="noStrike" kern="1200" cap="none" spc="0" normalizeH="0" baseline="0" noProof="0" dirty="0">
              <a:ln>
                <a:noFill/>
              </a:ln>
              <a:solidFill>
                <a:srgbClr val="252525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algn="l"/>
            <a:endParaRPr sz="2800" b="1" dirty="0">
              <a:solidFill>
                <a:srgbClr val="DD0000"/>
              </a:solidFill>
              <a:latin typeface="ShellMedium" panose="00000600000000000000" pitchFamily="2" charset="0"/>
            </a:endParaRPr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C261BAF4-2B9C-BF4F-4DDD-0ACC3521DABC}"/>
              </a:ext>
            </a:extLst>
          </p:cNvPr>
          <p:cNvSpPr/>
          <p:nvPr/>
        </p:nvSpPr>
        <p:spPr>
          <a:xfrm>
            <a:off x="2092100" y="2798398"/>
            <a:ext cx="19404372" cy="17882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r>
              <a:rPr lang="en-US" sz="14147" b="1" dirty="0">
                <a:solidFill>
                  <a:srgbClr val="2F3033"/>
                </a:solidFill>
                <a:latin typeface="Aptos Display" pitchFamily="34" charset="0"/>
              </a:rPr>
              <a:t>Oil and Chemicals Screening Values</a:t>
            </a:r>
            <a:endParaRPr lang="en-US" sz="14147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362B58-1C8D-5890-9EEE-5002D393121A}"/>
              </a:ext>
            </a:extLst>
          </p:cNvPr>
          <p:cNvSpPr/>
          <p:nvPr/>
        </p:nvSpPr>
        <p:spPr>
          <a:xfrm flipV="1">
            <a:off x="1108036" y="18839829"/>
            <a:ext cx="27980640" cy="4571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BAF1CE-CFF6-FEE9-62CE-164BA863FB08}"/>
              </a:ext>
            </a:extLst>
          </p:cNvPr>
          <p:cNvSpPr txBox="1"/>
          <p:nvPr/>
        </p:nvSpPr>
        <p:spPr>
          <a:xfrm>
            <a:off x="1065834" y="19670221"/>
            <a:ext cx="279806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dirty="0">
                <a:solidFill>
                  <a:srgbClr val="E31B23"/>
                </a:solidFill>
                <a:latin typeface="Arial"/>
              </a:rPr>
              <a:t>HOW OCSV PRICES ARE BUILT AND PUBLISHED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346C4E-B6A2-C0CA-D101-B91420CD9335}"/>
              </a:ext>
            </a:extLst>
          </p:cNvPr>
          <p:cNvSpPr txBox="1"/>
          <p:nvPr/>
        </p:nvSpPr>
        <p:spPr>
          <a:xfrm>
            <a:off x="1065834" y="20246294"/>
            <a:ext cx="2798064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dirty="0">
                <a:solidFill>
                  <a:srgbClr val="252525"/>
                </a:solidFill>
                <a:latin typeface="Arial"/>
              </a:rPr>
              <a:t>A clear line from market evidence to business use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39DF61B-C2F7-BFC2-8599-943AECD2C29A}"/>
              </a:ext>
            </a:extLst>
          </p:cNvPr>
          <p:cNvSpPr/>
          <p:nvPr/>
        </p:nvSpPr>
        <p:spPr>
          <a:xfrm>
            <a:off x="1065834" y="21956222"/>
            <a:ext cx="3977639" cy="5760720"/>
          </a:xfrm>
          <a:prstGeom prst="rect">
            <a:avLst/>
          </a:prstGeom>
          <a:solidFill>
            <a:srgbClr val="FFF5CC"/>
          </a:solidFill>
          <a:ln w="19050">
            <a:solidFill>
              <a:srgbClr val="C9C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A332149-A28A-168C-FED8-A32961799D0B}"/>
              </a:ext>
            </a:extLst>
          </p:cNvPr>
          <p:cNvSpPr/>
          <p:nvPr/>
        </p:nvSpPr>
        <p:spPr>
          <a:xfrm>
            <a:off x="1230426" y="22120814"/>
            <a:ext cx="713232" cy="713232"/>
          </a:xfrm>
          <a:prstGeom prst="ellipse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571E3F1-5D80-4CAE-C833-CB9FBE6CF9D5}"/>
              </a:ext>
            </a:extLst>
          </p:cNvPr>
          <p:cNvSpPr txBox="1"/>
          <p:nvPr/>
        </p:nvSpPr>
        <p:spPr>
          <a:xfrm>
            <a:off x="2089962" y="22175677"/>
            <a:ext cx="27889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dirty="0">
                <a:solidFill>
                  <a:srgbClr val="E31B23"/>
                </a:solidFill>
                <a:latin typeface="Arial"/>
              </a:rPr>
              <a:t>INPUTS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CCA312E-5408-86B7-E2FF-390FF07920AB}"/>
              </a:ext>
            </a:extLst>
          </p:cNvPr>
          <p:cNvSpPr txBox="1"/>
          <p:nvPr/>
        </p:nvSpPr>
        <p:spPr>
          <a:xfrm>
            <a:off x="1358442" y="23508760"/>
            <a:ext cx="3392423" cy="3487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2800" b="0" dirty="0">
                <a:solidFill>
                  <a:srgbClr val="252525"/>
                </a:solidFill>
                <a:latin typeface="Arial"/>
              </a:rPr>
              <a:t>IHS NGL
Rystad crude
GSM crude supply
Economic outlook
</a:t>
            </a:r>
            <a:r>
              <a:rPr lang="en-GB" sz="2800" b="0" dirty="0">
                <a:solidFill>
                  <a:srgbClr val="252525"/>
                </a:solidFill>
                <a:latin typeface="Arial"/>
              </a:rPr>
              <a:t>Scenarios &amp; sensitivities</a:t>
            </a:r>
          </a:p>
          <a:p>
            <a:pPr algn="ctr">
              <a:lnSpc>
                <a:spcPct val="102000"/>
              </a:lnSpc>
            </a:pPr>
            <a:r>
              <a:rPr lang="en-GB" sz="2800" dirty="0">
                <a:solidFill>
                  <a:srgbClr val="252525"/>
                </a:solidFill>
                <a:latin typeface="Arial"/>
              </a:rPr>
              <a:t>Regional Investment economics</a:t>
            </a:r>
            <a:endParaRPr sz="2800" b="0" dirty="0">
              <a:solidFill>
                <a:srgbClr val="252525"/>
              </a:solidFill>
              <a:latin typeface="Arial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179CA23-EC02-14CC-B60A-B6761023F580}"/>
              </a:ext>
            </a:extLst>
          </p:cNvPr>
          <p:cNvSpPr/>
          <p:nvPr/>
        </p:nvSpPr>
        <p:spPr>
          <a:xfrm>
            <a:off x="5637834" y="21956222"/>
            <a:ext cx="4160520" cy="5760720"/>
          </a:xfrm>
          <a:prstGeom prst="rect">
            <a:avLst/>
          </a:prstGeom>
          <a:solidFill>
            <a:srgbClr val="DCEBFF"/>
          </a:solidFill>
          <a:ln w="19050">
            <a:solidFill>
              <a:srgbClr val="C9C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2D54879A-2F2F-6033-276C-652780C43F29}"/>
              </a:ext>
            </a:extLst>
          </p:cNvPr>
          <p:cNvSpPr/>
          <p:nvPr/>
        </p:nvSpPr>
        <p:spPr>
          <a:xfrm>
            <a:off x="5802426" y="22120814"/>
            <a:ext cx="713232" cy="713232"/>
          </a:xfrm>
          <a:prstGeom prst="ellipse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4F575D3-A561-B030-B36B-5382FBA1CE68}"/>
              </a:ext>
            </a:extLst>
          </p:cNvPr>
          <p:cNvSpPr txBox="1"/>
          <p:nvPr/>
        </p:nvSpPr>
        <p:spPr>
          <a:xfrm>
            <a:off x="6661962" y="22175677"/>
            <a:ext cx="29718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E31B23"/>
                </a:solidFill>
                <a:latin typeface="Arial"/>
              </a:rPr>
              <a:t>DEMAND &amp; CAPACITY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D88A0AD-80E1-7B79-8D38-4F1D5352F2F1}"/>
              </a:ext>
            </a:extLst>
          </p:cNvPr>
          <p:cNvSpPr txBox="1"/>
          <p:nvPr/>
        </p:nvSpPr>
        <p:spPr>
          <a:xfrm>
            <a:off x="5930442" y="23035214"/>
            <a:ext cx="3575303" cy="4434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2800" b="0">
                <a:solidFill>
                  <a:srgbClr val="252525"/>
                </a:solidFill>
                <a:latin typeface="Arial"/>
              </a:rPr>
              <a:t>Crude supply data
Road fleet model
Biofuels demand
CO₂ costs
Refinery &amp; chemicals capacity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BBF1137-CD67-2C83-71D6-8BA981A2B635}"/>
              </a:ext>
            </a:extLst>
          </p:cNvPr>
          <p:cNvSpPr/>
          <p:nvPr/>
        </p:nvSpPr>
        <p:spPr>
          <a:xfrm>
            <a:off x="10392714" y="21956222"/>
            <a:ext cx="3246120" cy="5760720"/>
          </a:xfrm>
          <a:prstGeom prst="rect">
            <a:avLst/>
          </a:prstGeom>
          <a:solidFill>
            <a:srgbClr val="FFD500"/>
          </a:solidFill>
          <a:ln w="19050">
            <a:solidFill>
              <a:srgbClr val="C9C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4E84085F-1EE3-D628-34CD-DF6AD418C326}"/>
              </a:ext>
            </a:extLst>
          </p:cNvPr>
          <p:cNvSpPr/>
          <p:nvPr/>
        </p:nvSpPr>
        <p:spPr>
          <a:xfrm>
            <a:off x="10557306" y="22120814"/>
            <a:ext cx="713232" cy="713232"/>
          </a:xfrm>
          <a:prstGeom prst="ellipse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4564F4D-C6CB-60BC-08D4-2E5261207AAA}"/>
              </a:ext>
            </a:extLst>
          </p:cNvPr>
          <p:cNvSpPr txBox="1"/>
          <p:nvPr/>
        </p:nvSpPr>
        <p:spPr>
          <a:xfrm>
            <a:off x="11416842" y="22175677"/>
            <a:ext cx="20574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E31B23"/>
                </a:solidFill>
                <a:latin typeface="Arial"/>
              </a:rPr>
              <a:t>RTT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B1D827E-F7DC-6EDD-C499-0A47D19A6E09}"/>
              </a:ext>
            </a:extLst>
          </p:cNvPr>
          <p:cNvSpPr txBox="1"/>
          <p:nvPr/>
        </p:nvSpPr>
        <p:spPr>
          <a:xfrm>
            <a:off x="10685322" y="22849541"/>
            <a:ext cx="2660903" cy="48061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2800" b="0" dirty="0">
                <a:solidFill>
                  <a:srgbClr val="252525"/>
                </a:solidFill>
                <a:latin typeface="Arial"/>
              </a:rPr>
              <a:t>Regional Tension Tool
</a:t>
            </a:r>
            <a:r>
              <a:rPr lang="en-GB" sz="2800" b="0" dirty="0">
                <a:solidFill>
                  <a:srgbClr val="252525"/>
                </a:solidFill>
                <a:latin typeface="Arial"/>
              </a:rPr>
              <a:t>(Refining &amp; Base Chemicals)</a:t>
            </a:r>
            <a:br>
              <a:rPr lang="en-GB" sz="2800" b="0" dirty="0">
                <a:solidFill>
                  <a:srgbClr val="252525"/>
                </a:solidFill>
                <a:latin typeface="Arial"/>
              </a:rPr>
            </a:br>
            <a:r>
              <a:rPr sz="2800" b="0" dirty="0">
                <a:solidFill>
                  <a:srgbClr val="252525"/>
                </a:solidFill>
                <a:latin typeface="Arial"/>
              </a:rPr>
              <a:t>
Balances regional supply, demand and capacity</a:t>
            </a:r>
            <a:endParaRPr lang="en-GB" sz="2800" b="0" dirty="0">
              <a:solidFill>
                <a:srgbClr val="252525"/>
              </a:solidFill>
              <a:latin typeface="Arial"/>
            </a:endParaRPr>
          </a:p>
          <a:p>
            <a:pPr algn="ctr">
              <a:lnSpc>
                <a:spcPct val="102000"/>
              </a:lnSpc>
            </a:pPr>
            <a:endParaRPr sz="2800" b="0" dirty="0">
              <a:solidFill>
                <a:srgbClr val="252525"/>
              </a:solidFill>
              <a:latin typeface="Arial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8DC2315-2D15-1366-5EEB-3272B75E24D7}"/>
              </a:ext>
            </a:extLst>
          </p:cNvPr>
          <p:cNvSpPr/>
          <p:nvPr/>
        </p:nvSpPr>
        <p:spPr>
          <a:xfrm>
            <a:off x="14233194" y="21956222"/>
            <a:ext cx="4206240" cy="5760720"/>
          </a:xfrm>
          <a:prstGeom prst="rect">
            <a:avLst/>
          </a:prstGeom>
          <a:solidFill>
            <a:srgbClr val="C8E0FF"/>
          </a:solidFill>
          <a:ln w="19050">
            <a:solidFill>
              <a:srgbClr val="C9C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17F3DEB0-E718-6BB5-4D3F-012A6D3A9312}"/>
              </a:ext>
            </a:extLst>
          </p:cNvPr>
          <p:cNvSpPr/>
          <p:nvPr/>
        </p:nvSpPr>
        <p:spPr>
          <a:xfrm>
            <a:off x="14397786" y="22120814"/>
            <a:ext cx="713232" cy="713232"/>
          </a:xfrm>
          <a:prstGeom prst="ellipse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B5F5F05-0585-B79D-A44C-E6BA23E82EE6}"/>
              </a:ext>
            </a:extLst>
          </p:cNvPr>
          <p:cNvSpPr txBox="1"/>
          <p:nvPr/>
        </p:nvSpPr>
        <p:spPr>
          <a:xfrm>
            <a:off x="15257322" y="22175677"/>
            <a:ext cx="30175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E31B23"/>
                </a:solidFill>
                <a:latin typeface="Arial"/>
              </a:rPr>
              <a:t>PRICE BUILD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EF027BD-E075-F07A-7AA2-532B7BA39282}"/>
              </a:ext>
            </a:extLst>
          </p:cNvPr>
          <p:cNvSpPr txBox="1"/>
          <p:nvPr/>
        </p:nvSpPr>
        <p:spPr>
          <a:xfrm>
            <a:off x="14525802" y="23508759"/>
            <a:ext cx="3621023" cy="3487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2800" b="0" dirty="0">
                <a:solidFill>
                  <a:srgbClr val="252525"/>
                </a:solidFill>
                <a:latin typeface="Arial"/>
              </a:rPr>
              <a:t>Chemicals </a:t>
            </a:r>
            <a:r>
              <a:rPr lang="en-GB" sz="2800" b="0" dirty="0">
                <a:solidFill>
                  <a:srgbClr val="252525"/>
                </a:solidFill>
                <a:latin typeface="Arial"/>
              </a:rPr>
              <a:t>marginal &amp; </a:t>
            </a:r>
            <a:r>
              <a:rPr sz="2800" b="0" dirty="0">
                <a:solidFill>
                  <a:srgbClr val="252525"/>
                </a:solidFill>
                <a:latin typeface="Arial"/>
              </a:rPr>
              <a:t>reinvestment economics
Base oil correlations
Crude Valuation Tool</a:t>
            </a:r>
            <a:endParaRPr lang="en-GB" sz="2800" b="0" dirty="0">
              <a:solidFill>
                <a:srgbClr val="252525"/>
              </a:solidFill>
              <a:latin typeface="Arial"/>
            </a:endParaRPr>
          </a:p>
          <a:p>
            <a:pPr algn="ctr">
              <a:lnSpc>
                <a:spcPct val="102000"/>
              </a:lnSpc>
            </a:pPr>
            <a:r>
              <a:rPr lang="en-GB" sz="2800" dirty="0">
                <a:solidFill>
                  <a:srgbClr val="252525"/>
                </a:solidFill>
                <a:latin typeface="Arial"/>
              </a:rPr>
              <a:t>Low Carbon Fuels pricing fundamentals</a:t>
            </a:r>
            <a:br>
              <a:rPr lang="en-GB" sz="2800" dirty="0">
                <a:solidFill>
                  <a:srgbClr val="252525"/>
                </a:solidFill>
                <a:latin typeface="Arial"/>
              </a:rPr>
            </a:br>
            <a:r>
              <a:rPr lang="en-GB" sz="2800" dirty="0">
                <a:solidFill>
                  <a:srgbClr val="252525"/>
                </a:solidFill>
                <a:latin typeface="Arial"/>
              </a:rPr>
              <a:t>Regulatory scenarios</a:t>
            </a:r>
            <a:endParaRPr sz="2800" b="0" dirty="0">
              <a:solidFill>
                <a:srgbClr val="252525"/>
              </a:solidFill>
              <a:latin typeface="Arial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CAF1D2C-8D36-578A-403D-E17ABF06EB5C}"/>
              </a:ext>
            </a:extLst>
          </p:cNvPr>
          <p:cNvSpPr/>
          <p:nvPr/>
        </p:nvSpPr>
        <p:spPr>
          <a:xfrm>
            <a:off x="19033794" y="21956222"/>
            <a:ext cx="4206240" cy="5760720"/>
          </a:xfrm>
          <a:prstGeom prst="rect">
            <a:avLst/>
          </a:prstGeom>
          <a:solidFill>
            <a:srgbClr val="D5F5E7"/>
          </a:solidFill>
          <a:ln w="19050">
            <a:solidFill>
              <a:srgbClr val="C9C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8D33B875-C95C-0E46-B9BC-27DC4CBD06D8}"/>
              </a:ext>
            </a:extLst>
          </p:cNvPr>
          <p:cNvSpPr/>
          <p:nvPr/>
        </p:nvSpPr>
        <p:spPr>
          <a:xfrm>
            <a:off x="19198386" y="22120814"/>
            <a:ext cx="713232" cy="713232"/>
          </a:xfrm>
          <a:prstGeom prst="ellipse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24A04D4-82DC-7161-B273-BBBEECC597EF}"/>
              </a:ext>
            </a:extLst>
          </p:cNvPr>
          <p:cNvSpPr txBox="1"/>
          <p:nvPr/>
        </p:nvSpPr>
        <p:spPr>
          <a:xfrm>
            <a:off x="20057922" y="22175677"/>
            <a:ext cx="30175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E31B23"/>
                </a:solidFill>
                <a:latin typeface="Arial"/>
              </a:rPr>
              <a:t>OCSV FILE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7FEF36A-DAE3-B61C-3611-E612E257C6C8}"/>
              </a:ext>
            </a:extLst>
          </p:cNvPr>
          <p:cNvSpPr txBox="1"/>
          <p:nvPr/>
        </p:nvSpPr>
        <p:spPr>
          <a:xfrm>
            <a:off x="19326402" y="23728501"/>
            <a:ext cx="3621023" cy="30482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lang="en-GB" sz="2800" dirty="0">
                <a:solidFill>
                  <a:srgbClr val="252525"/>
                </a:solidFill>
                <a:latin typeface="Arial"/>
              </a:rPr>
              <a:t>Consistent commodity price sets by scenario &amp; region for:</a:t>
            </a:r>
          </a:p>
          <a:p>
            <a:pPr algn="ctr">
              <a:lnSpc>
                <a:spcPct val="102000"/>
              </a:lnSpc>
            </a:pPr>
            <a:r>
              <a:rPr lang="en-GB" sz="2800" b="0" dirty="0">
                <a:solidFill>
                  <a:srgbClr val="252525"/>
                </a:solidFill>
                <a:latin typeface="Arial"/>
              </a:rPr>
              <a:t>Crude differentials</a:t>
            </a:r>
          </a:p>
          <a:p>
            <a:pPr algn="ctr">
              <a:lnSpc>
                <a:spcPct val="102000"/>
              </a:lnSpc>
            </a:pPr>
            <a:r>
              <a:rPr lang="en-GB" sz="2800" dirty="0">
                <a:solidFill>
                  <a:srgbClr val="252525"/>
                </a:solidFill>
                <a:latin typeface="Arial"/>
              </a:rPr>
              <a:t>Refined Products</a:t>
            </a:r>
          </a:p>
          <a:p>
            <a:pPr algn="ctr">
              <a:lnSpc>
                <a:spcPct val="102000"/>
              </a:lnSpc>
            </a:pPr>
            <a:r>
              <a:rPr lang="en-GB" sz="2800" b="0" dirty="0">
                <a:solidFill>
                  <a:srgbClr val="252525"/>
                </a:solidFill>
                <a:latin typeface="Arial"/>
              </a:rPr>
              <a:t>Chemicals</a:t>
            </a:r>
          </a:p>
          <a:p>
            <a:pPr algn="ctr">
              <a:lnSpc>
                <a:spcPct val="102000"/>
              </a:lnSpc>
            </a:pPr>
            <a:r>
              <a:rPr lang="en-GB" sz="2800" dirty="0">
                <a:solidFill>
                  <a:srgbClr val="252525"/>
                </a:solidFill>
                <a:latin typeface="Arial"/>
              </a:rPr>
              <a:t>Low Carbon Fuels</a:t>
            </a:r>
            <a:endParaRPr lang="en-GB" sz="2800" b="0" dirty="0">
              <a:solidFill>
                <a:srgbClr val="252525"/>
              </a:solidFill>
              <a:latin typeface="Arial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20F9D3B-5E02-F0A3-2D5A-5CF0E514717B}"/>
              </a:ext>
            </a:extLst>
          </p:cNvPr>
          <p:cNvSpPr/>
          <p:nvPr/>
        </p:nvSpPr>
        <p:spPr>
          <a:xfrm>
            <a:off x="23834394" y="21956222"/>
            <a:ext cx="5212080" cy="5760720"/>
          </a:xfrm>
          <a:prstGeom prst="rect">
            <a:avLst/>
          </a:prstGeom>
          <a:solidFill>
            <a:srgbClr val="FFF5CC"/>
          </a:solidFill>
          <a:ln w="19050">
            <a:solidFill>
              <a:srgbClr val="C9C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266BE92A-EC16-2C02-FE79-8CC6A80A8C0E}"/>
              </a:ext>
            </a:extLst>
          </p:cNvPr>
          <p:cNvSpPr/>
          <p:nvPr/>
        </p:nvSpPr>
        <p:spPr>
          <a:xfrm>
            <a:off x="23998986" y="22120814"/>
            <a:ext cx="713232" cy="713232"/>
          </a:xfrm>
          <a:prstGeom prst="ellipse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8070A46-1708-29C0-E022-3B6EBC9B6DD2}"/>
              </a:ext>
            </a:extLst>
          </p:cNvPr>
          <p:cNvSpPr txBox="1"/>
          <p:nvPr/>
        </p:nvSpPr>
        <p:spPr>
          <a:xfrm>
            <a:off x="24858522" y="22175677"/>
            <a:ext cx="40233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E31B23"/>
                </a:solidFill>
                <a:latin typeface="Arial"/>
              </a:rPr>
              <a:t>PUBLISH &amp; USE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E282AEC-8C9A-5704-970C-D6D015FBF0C5}"/>
              </a:ext>
            </a:extLst>
          </p:cNvPr>
          <p:cNvSpPr txBox="1"/>
          <p:nvPr/>
        </p:nvSpPr>
        <p:spPr>
          <a:xfrm>
            <a:off x="24127002" y="23948240"/>
            <a:ext cx="4626864" cy="26087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lang="en-GB" sz="2800" b="0" dirty="0">
                <a:solidFill>
                  <a:srgbClr val="252525"/>
                </a:solidFill>
                <a:latin typeface="Arial"/>
              </a:rPr>
              <a:t>Upstream Crude PSVs</a:t>
            </a:r>
            <a:br>
              <a:rPr lang="en-GB" sz="2800" b="0" dirty="0">
                <a:solidFill>
                  <a:srgbClr val="252525"/>
                </a:solidFill>
                <a:latin typeface="Arial"/>
              </a:rPr>
            </a:br>
            <a:r>
              <a:rPr lang="en-GB" sz="2800" dirty="0">
                <a:solidFill>
                  <a:srgbClr val="252525"/>
                </a:solidFill>
                <a:latin typeface="Arial"/>
              </a:rPr>
              <a:t>Downstream OCSVs</a:t>
            </a:r>
          </a:p>
          <a:p>
            <a:pPr algn="ctr">
              <a:lnSpc>
                <a:spcPct val="102000"/>
              </a:lnSpc>
            </a:pPr>
            <a:endParaRPr lang="en-GB" sz="2800" dirty="0">
              <a:solidFill>
                <a:srgbClr val="252525"/>
              </a:solidFill>
              <a:latin typeface="Arial"/>
            </a:endParaRPr>
          </a:p>
          <a:p>
            <a:pPr algn="ctr">
              <a:lnSpc>
                <a:spcPct val="102000"/>
              </a:lnSpc>
            </a:pPr>
            <a:r>
              <a:rPr lang="en-GB" sz="2800" dirty="0">
                <a:solidFill>
                  <a:srgbClr val="252525"/>
                </a:solidFill>
                <a:latin typeface="Arial"/>
              </a:rPr>
              <a:t>User guidance</a:t>
            </a:r>
          </a:p>
          <a:p>
            <a:pPr algn="ctr">
              <a:lnSpc>
                <a:spcPct val="102000"/>
              </a:lnSpc>
            </a:pPr>
            <a:r>
              <a:rPr lang="en-GB" sz="2800" dirty="0">
                <a:solidFill>
                  <a:srgbClr val="252525"/>
                </a:solidFill>
                <a:latin typeface="Arial"/>
              </a:rPr>
              <a:t>PESC note</a:t>
            </a:r>
          </a:p>
          <a:p>
            <a:pPr algn="ctr">
              <a:lnSpc>
                <a:spcPct val="102000"/>
              </a:lnSpc>
            </a:pPr>
            <a:endParaRPr sz="2800" b="0" dirty="0">
              <a:solidFill>
                <a:srgbClr val="252525"/>
              </a:solidFill>
              <a:latin typeface="Arial"/>
            </a:endParaRPr>
          </a:p>
        </p:txBody>
      </p:sp>
      <p:sp>
        <p:nvSpPr>
          <p:cNvPr id="93" name="Right Arrow 30">
            <a:extLst>
              <a:ext uri="{FF2B5EF4-FFF2-40B4-BE49-F238E27FC236}">
                <a16:creationId xmlns:a16="http://schemas.microsoft.com/office/drawing/2014/main" id="{F0731BC3-6CD0-EDB3-1A4D-6B26B4CECEDE}"/>
              </a:ext>
            </a:extLst>
          </p:cNvPr>
          <p:cNvSpPr/>
          <p:nvPr/>
        </p:nvSpPr>
        <p:spPr>
          <a:xfrm>
            <a:off x="5153202" y="24507398"/>
            <a:ext cx="438912" cy="658368"/>
          </a:xfrm>
          <a:prstGeom prst="rightArrow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ight Arrow 31">
            <a:extLst>
              <a:ext uri="{FF2B5EF4-FFF2-40B4-BE49-F238E27FC236}">
                <a16:creationId xmlns:a16="http://schemas.microsoft.com/office/drawing/2014/main" id="{0FA09CD0-816C-8361-62E9-177419FE1467}"/>
              </a:ext>
            </a:extLst>
          </p:cNvPr>
          <p:cNvSpPr/>
          <p:nvPr/>
        </p:nvSpPr>
        <p:spPr>
          <a:xfrm>
            <a:off x="9908082" y="24507398"/>
            <a:ext cx="438912" cy="658368"/>
          </a:xfrm>
          <a:prstGeom prst="rightArrow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ight Arrow 32">
            <a:extLst>
              <a:ext uri="{FF2B5EF4-FFF2-40B4-BE49-F238E27FC236}">
                <a16:creationId xmlns:a16="http://schemas.microsoft.com/office/drawing/2014/main" id="{3BA05E6B-AB21-2390-65C2-F42D266785B0}"/>
              </a:ext>
            </a:extLst>
          </p:cNvPr>
          <p:cNvSpPr/>
          <p:nvPr/>
        </p:nvSpPr>
        <p:spPr>
          <a:xfrm>
            <a:off x="13748562" y="24507398"/>
            <a:ext cx="438912" cy="658368"/>
          </a:xfrm>
          <a:prstGeom prst="rightArrow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ight Arrow 33">
            <a:extLst>
              <a:ext uri="{FF2B5EF4-FFF2-40B4-BE49-F238E27FC236}">
                <a16:creationId xmlns:a16="http://schemas.microsoft.com/office/drawing/2014/main" id="{97F51F50-4876-EF1A-2AA9-531FA19ED7D8}"/>
              </a:ext>
            </a:extLst>
          </p:cNvPr>
          <p:cNvSpPr/>
          <p:nvPr/>
        </p:nvSpPr>
        <p:spPr>
          <a:xfrm>
            <a:off x="18549162" y="24507398"/>
            <a:ext cx="438912" cy="658368"/>
          </a:xfrm>
          <a:prstGeom prst="rightArrow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ight Arrow 34">
            <a:extLst>
              <a:ext uri="{FF2B5EF4-FFF2-40B4-BE49-F238E27FC236}">
                <a16:creationId xmlns:a16="http://schemas.microsoft.com/office/drawing/2014/main" id="{B477A8EA-AE74-694E-7638-9F2F7720436B}"/>
              </a:ext>
            </a:extLst>
          </p:cNvPr>
          <p:cNvSpPr/>
          <p:nvPr/>
        </p:nvSpPr>
        <p:spPr>
          <a:xfrm>
            <a:off x="23349762" y="24507398"/>
            <a:ext cx="438912" cy="658368"/>
          </a:xfrm>
          <a:prstGeom prst="rightArrow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0FD83D1-4C67-E757-3167-1B4B7FE04045}"/>
              </a:ext>
            </a:extLst>
          </p:cNvPr>
          <p:cNvSpPr txBox="1"/>
          <p:nvPr/>
        </p:nvSpPr>
        <p:spPr>
          <a:xfrm>
            <a:off x="1065834" y="28265582"/>
            <a:ext cx="279806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5A5A5A"/>
                </a:solidFill>
                <a:latin typeface="Arial"/>
              </a:rPr>
              <a:t>MARKET EVIDENCE   →   MODELLING   →   PRICE FORMATION   →   CONTROLLED PUBLICATION   →   CONSISTENT BUSINESS DECISIONS</a:t>
            </a:r>
          </a:p>
        </p:txBody>
      </p:sp>
      <p:sp>
        <p:nvSpPr>
          <p:cNvPr id="105" name="Text 3">
            <a:extLst>
              <a:ext uri="{FF2B5EF4-FFF2-40B4-BE49-F238E27FC236}">
                <a16:creationId xmlns:a16="http://schemas.microsoft.com/office/drawing/2014/main" id="{997830CC-F443-17FB-428E-5F6DD7467221}"/>
              </a:ext>
            </a:extLst>
          </p:cNvPr>
          <p:cNvSpPr/>
          <p:nvPr/>
        </p:nvSpPr>
        <p:spPr>
          <a:xfrm>
            <a:off x="2087215" y="3713413"/>
            <a:ext cx="19632659" cy="16741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GB" sz="4400" i="1" dirty="0">
                <a:solidFill>
                  <a:srgbClr val="373737"/>
                </a:solidFill>
                <a:latin typeface="Arial"/>
              </a:rPr>
              <a:t>Upstream Crude PSVs – Refined Products – Chemicals – Low Carbon Fuels</a:t>
            </a:r>
            <a:endParaRPr lang="en-US" sz="4400" i="1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D7F2149-A78A-B077-EA39-C2D134F293CF}"/>
              </a:ext>
            </a:extLst>
          </p:cNvPr>
          <p:cNvSpPr txBox="1"/>
          <p:nvPr/>
        </p:nvSpPr>
        <p:spPr>
          <a:xfrm>
            <a:off x="1103275" y="12384467"/>
            <a:ext cx="24284853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en-GB" sz="3000" dirty="0">
                <a:solidFill>
                  <a:srgbClr val="0070C0"/>
                </a:solidFill>
                <a:latin typeface="ShellHeavy"/>
              </a:rPr>
              <a:t>developed together with Downstream Strategy team and in close consultation with but independent from the business.</a:t>
            </a:r>
            <a:endParaRPr sz="3000" dirty="0">
              <a:solidFill>
                <a:srgbClr val="0070C0"/>
              </a:solidFill>
              <a:latin typeface="ShellHeavy"/>
            </a:endParaRPr>
          </a:p>
        </p:txBody>
      </p: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7E251B87-A5A3-ABF5-7D40-03C788FE6DAA}"/>
              </a:ext>
            </a:extLst>
          </p:cNvPr>
          <p:cNvGrpSpPr/>
          <p:nvPr/>
        </p:nvGrpSpPr>
        <p:grpSpPr>
          <a:xfrm>
            <a:off x="673294" y="13766534"/>
            <a:ext cx="28712160" cy="5220803"/>
            <a:chOff x="0" y="14996799"/>
            <a:chExt cx="28712160" cy="5220803"/>
          </a:xfrm>
        </p:grpSpPr>
        <p:cxnSp>
          <p:nvCxnSpPr>
            <p:cNvPr id="155" name="Connector 37">
              <a:extLst>
                <a:ext uri="{FF2B5EF4-FFF2-40B4-BE49-F238E27FC236}">
                  <a16:creationId xmlns:a16="http://schemas.microsoft.com/office/drawing/2014/main" id="{F9F2D3C9-1121-AF18-4EFC-BF20D47D0BC8}"/>
                </a:ext>
              </a:extLst>
            </p:cNvPr>
            <p:cNvCxnSpPr/>
            <p:nvPr/>
          </p:nvCxnSpPr>
          <p:spPr>
            <a:xfrm>
              <a:off x="3081528" y="15554583"/>
              <a:ext cx="4718304" cy="0"/>
            </a:xfrm>
            <a:prstGeom prst="line">
              <a:avLst/>
            </a:prstGeom>
            <a:ln w="38100">
              <a:solidFill>
                <a:srgbClr val="252525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onnector 38">
              <a:extLst>
                <a:ext uri="{FF2B5EF4-FFF2-40B4-BE49-F238E27FC236}">
                  <a16:creationId xmlns:a16="http://schemas.microsoft.com/office/drawing/2014/main" id="{6004FCB1-EBC3-B2AC-9B45-AF79C34F08E4}"/>
                </a:ext>
              </a:extLst>
            </p:cNvPr>
            <p:cNvCxnSpPr/>
            <p:nvPr/>
          </p:nvCxnSpPr>
          <p:spPr>
            <a:xfrm>
              <a:off x="9025128" y="15554583"/>
              <a:ext cx="4718304" cy="0"/>
            </a:xfrm>
            <a:prstGeom prst="line">
              <a:avLst/>
            </a:prstGeom>
            <a:ln w="38100">
              <a:solidFill>
                <a:srgbClr val="252525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nector 39">
              <a:extLst>
                <a:ext uri="{FF2B5EF4-FFF2-40B4-BE49-F238E27FC236}">
                  <a16:creationId xmlns:a16="http://schemas.microsoft.com/office/drawing/2014/main" id="{6F598030-BFA7-7661-494E-233003B1BFED}"/>
                </a:ext>
              </a:extLst>
            </p:cNvPr>
            <p:cNvCxnSpPr/>
            <p:nvPr/>
          </p:nvCxnSpPr>
          <p:spPr>
            <a:xfrm>
              <a:off x="14968728" y="15554583"/>
              <a:ext cx="4718304" cy="0"/>
            </a:xfrm>
            <a:prstGeom prst="line">
              <a:avLst/>
            </a:prstGeom>
            <a:ln w="38100">
              <a:solidFill>
                <a:srgbClr val="252525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nector 40">
              <a:extLst>
                <a:ext uri="{FF2B5EF4-FFF2-40B4-BE49-F238E27FC236}">
                  <a16:creationId xmlns:a16="http://schemas.microsoft.com/office/drawing/2014/main" id="{672A5CDA-DDFD-4E81-B5A0-9A7DEDAF332A}"/>
                </a:ext>
              </a:extLst>
            </p:cNvPr>
            <p:cNvCxnSpPr/>
            <p:nvPr/>
          </p:nvCxnSpPr>
          <p:spPr>
            <a:xfrm>
              <a:off x="20912328" y="15554583"/>
              <a:ext cx="4718304" cy="0"/>
            </a:xfrm>
            <a:prstGeom prst="line">
              <a:avLst/>
            </a:prstGeom>
            <a:ln w="38100">
              <a:solidFill>
                <a:srgbClr val="252525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D29BE274-3C72-56FD-C34D-3FC8CD3E1D15}"/>
                </a:ext>
              </a:extLst>
            </p:cNvPr>
            <p:cNvSpPr>
              <a:spLocks/>
            </p:cNvSpPr>
            <p:nvPr/>
          </p:nvSpPr>
          <p:spPr>
            <a:xfrm>
              <a:off x="1911096" y="14996799"/>
              <a:ext cx="1115568" cy="1115568"/>
            </a:xfrm>
            <a:prstGeom prst="ellipse">
              <a:avLst/>
            </a:prstGeom>
            <a:solidFill>
              <a:srgbClr val="E31B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lang="en-GB" sz="2700" b="1">
                  <a:solidFill>
                    <a:srgbClr val="FFFFFF"/>
                  </a:solidFill>
                  <a:latin typeface="Arial"/>
                </a:rPr>
                <a:t>1</a:t>
              </a:r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8D95265E-45CF-3438-9917-E711468C5957}"/>
                </a:ext>
              </a:extLst>
            </p:cNvPr>
            <p:cNvSpPr/>
            <p:nvPr/>
          </p:nvSpPr>
          <p:spPr>
            <a:xfrm>
              <a:off x="7854696" y="14996799"/>
              <a:ext cx="1115568" cy="1115568"/>
            </a:xfrm>
            <a:prstGeom prst="ellipse">
              <a:avLst/>
            </a:prstGeom>
            <a:solidFill>
              <a:srgbClr val="E31B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2700" b="1">
                  <a:solidFill>
                    <a:srgbClr val="FFFFFF"/>
                  </a:solidFill>
                  <a:latin typeface="Arial"/>
                </a:rPr>
                <a:t>2</a:t>
              </a:r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2FF4E838-F240-925E-BCE9-AFAAB1E56AC5}"/>
                </a:ext>
              </a:extLst>
            </p:cNvPr>
            <p:cNvSpPr/>
            <p:nvPr/>
          </p:nvSpPr>
          <p:spPr>
            <a:xfrm>
              <a:off x="13798296" y="14996799"/>
              <a:ext cx="1115568" cy="1115568"/>
            </a:xfrm>
            <a:prstGeom prst="ellipse">
              <a:avLst/>
            </a:prstGeom>
            <a:solidFill>
              <a:srgbClr val="E31B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2700" b="1">
                  <a:solidFill>
                    <a:srgbClr val="FFFFFF"/>
                  </a:solidFill>
                  <a:latin typeface="Arial"/>
                </a:rPr>
                <a:t>3</a:t>
              </a:r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B354BB49-A90B-AB45-1D33-A107D92E1CC7}"/>
                </a:ext>
              </a:extLst>
            </p:cNvPr>
            <p:cNvSpPr/>
            <p:nvPr/>
          </p:nvSpPr>
          <p:spPr>
            <a:xfrm>
              <a:off x="19741896" y="14996799"/>
              <a:ext cx="1115568" cy="1115568"/>
            </a:xfrm>
            <a:prstGeom prst="ellipse">
              <a:avLst/>
            </a:prstGeom>
            <a:solidFill>
              <a:srgbClr val="E31B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2700" b="1">
                  <a:solidFill>
                    <a:srgbClr val="FFFFFF"/>
                  </a:solidFill>
                  <a:latin typeface="Arial"/>
                </a:rPr>
                <a:t>4</a:t>
              </a:r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AC592346-F4A5-C52B-B3BA-7FDE00D39253}"/>
                </a:ext>
              </a:extLst>
            </p:cNvPr>
            <p:cNvSpPr/>
            <p:nvPr/>
          </p:nvSpPr>
          <p:spPr>
            <a:xfrm>
              <a:off x="25685496" y="14996799"/>
              <a:ext cx="1115568" cy="1115568"/>
            </a:xfrm>
            <a:prstGeom prst="ellipse">
              <a:avLst/>
            </a:prstGeom>
            <a:solidFill>
              <a:srgbClr val="E31B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2700" b="1">
                  <a:solidFill>
                    <a:srgbClr val="FFFFFF"/>
                  </a:solidFill>
                  <a:latin typeface="Arial"/>
                </a:rPr>
                <a:t>5</a:t>
              </a: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3A7064B6-51AB-D763-964F-A11E95155C91}"/>
                </a:ext>
              </a:extLst>
            </p:cNvPr>
            <p:cNvSpPr txBox="1"/>
            <p:nvPr/>
          </p:nvSpPr>
          <p:spPr>
            <a:xfrm>
              <a:off x="0" y="16377543"/>
              <a:ext cx="4937760" cy="44627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GB" sz="2900" b="1" dirty="0">
                  <a:solidFill>
                    <a:srgbClr val="E31B23"/>
                  </a:solidFill>
                  <a:latin typeface="Arial"/>
                </a:rPr>
                <a:t>CORE BELIEFS</a:t>
              </a:r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80C71F3D-6667-D629-E534-D1A1077F301C}"/>
                </a:ext>
              </a:extLst>
            </p:cNvPr>
            <p:cNvSpPr txBox="1"/>
            <p:nvPr/>
          </p:nvSpPr>
          <p:spPr>
            <a:xfrm>
              <a:off x="45720" y="17017623"/>
              <a:ext cx="4846320" cy="138461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3000"/>
                </a:lnSpc>
              </a:pPr>
              <a:r>
                <a:rPr lang="en-GB" sz="3200" b="0" dirty="0">
                  <a:solidFill>
                    <a:srgbClr val="252525"/>
                  </a:solidFill>
                  <a:latin typeface="Arial"/>
                </a:rPr>
                <a:t>Geopolitical, E</a:t>
              </a:r>
              <a:r>
                <a:rPr sz="3200" b="0" dirty="0" err="1">
                  <a:solidFill>
                    <a:srgbClr val="252525"/>
                  </a:solidFill>
                  <a:latin typeface="Arial"/>
                </a:rPr>
                <a:t>conomic</a:t>
              </a:r>
              <a:r>
                <a:rPr sz="3200" b="0" dirty="0">
                  <a:solidFill>
                    <a:srgbClr val="252525"/>
                  </a:solidFill>
                  <a:latin typeface="Arial"/>
                </a:rPr>
                <a:t> </a:t>
              </a:r>
              <a:r>
                <a:rPr lang="en-GB" sz="3200" b="0" dirty="0">
                  <a:solidFill>
                    <a:srgbClr val="252525"/>
                  </a:solidFill>
                  <a:latin typeface="Arial"/>
                </a:rPr>
                <a:t>&amp; </a:t>
              </a:r>
            </a:p>
            <a:p>
              <a:pPr algn="ctr">
                <a:lnSpc>
                  <a:spcPct val="103000"/>
                </a:lnSpc>
              </a:pPr>
              <a:r>
                <a:rPr lang="en-GB" sz="3200" dirty="0">
                  <a:solidFill>
                    <a:srgbClr val="252525"/>
                  </a:solidFill>
                  <a:latin typeface="Arial"/>
                </a:rPr>
                <a:t>Regulatory Scenarios</a:t>
              </a:r>
              <a:endParaRPr lang="en-GB" sz="3200" b="0" dirty="0">
                <a:solidFill>
                  <a:srgbClr val="252525"/>
                </a:solidFill>
                <a:latin typeface="Arial"/>
              </a:endParaRPr>
            </a:p>
            <a:p>
              <a:pPr algn="ctr">
                <a:lnSpc>
                  <a:spcPct val="103000"/>
                </a:lnSpc>
              </a:pPr>
              <a:endParaRPr sz="2500" b="0" dirty="0">
                <a:solidFill>
                  <a:srgbClr val="252525"/>
                </a:solidFill>
                <a:latin typeface="Arial"/>
              </a:endParaRPr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6FAC8236-6788-05FC-9AE7-3D8D02FF8350}"/>
                </a:ext>
              </a:extLst>
            </p:cNvPr>
            <p:cNvSpPr txBox="1"/>
            <p:nvPr/>
          </p:nvSpPr>
          <p:spPr>
            <a:xfrm>
              <a:off x="5943600" y="16377543"/>
              <a:ext cx="4937760" cy="5029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2900" b="1">
                  <a:solidFill>
                    <a:srgbClr val="E31B23"/>
                  </a:solidFill>
                  <a:latin typeface="Arial"/>
                </a:rPr>
                <a:t>MODEL</a:t>
              </a:r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8C2A4A5A-2261-AD57-D308-D498372786C6}"/>
                </a:ext>
              </a:extLst>
            </p:cNvPr>
            <p:cNvSpPr txBox="1"/>
            <p:nvPr/>
          </p:nvSpPr>
          <p:spPr>
            <a:xfrm>
              <a:off x="5989320" y="17017623"/>
              <a:ext cx="4846320" cy="4738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3000"/>
                </a:lnSpc>
              </a:pPr>
              <a:r>
                <a:rPr lang="en-GB" sz="3200" b="0" dirty="0">
                  <a:solidFill>
                    <a:srgbClr val="252525"/>
                  </a:solidFill>
                  <a:latin typeface="Arial"/>
                </a:rPr>
                <a:t>Oil Market Analysis</a:t>
              </a:r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43BBA528-BDE4-D26B-2224-B7125031B4D2}"/>
                </a:ext>
              </a:extLst>
            </p:cNvPr>
            <p:cNvSpPr txBox="1"/>
            <p:nvPr/>
          </p:nvSpPr>
          <p:spPr>
            <a:xfrm>
              <a:off x="11887200" y="16377543"/>
              <a:ext cx="4937760" cy="5029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2900" b="1">
                  <a:solidFill>
                    <a:srgbClr val="E31B23"/>
                  </a:solidFill>
                  <a:latin typeface="Arial"/>
                </a:rPr>
                <a:t>REVIEW</a:t>
              </a: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4E7AC5EC-DECF-2A27-02D2-204709471769}"/>
                </a:ext>
              </a:extLst>
            </p:cNvPr>
            <p:cNvSpPr txBox="1"/>
            <p:nvPr/>
          </p:nvSpPr>
          <p:spPr>
            <a:xfrm>
              <a:off x="11932920" y="17017623"/>
              <a:ext cx="4982064" cy="26927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3000"/>
                </a:lnSpc>
              </a:pPr>
              <a:r>
                <a:rPr lang="en-GB" sz="3200" dirty="0">
                  <a:solidFill>
                    <a:srgbClr val="252525"/>
                  </a:solidFill>
                  <a:latin typeface="Arial"/>
                </a:rPr>
                <a:t>Peer review</a:t>
              </a:r>
              <a:endParaRPr lang="en-GB" sz="3200" b="0" dirty="0">
                <a:solidFill>
                  <a:srgbClr val="252525"/>
                </a:solidFill>
                <a:latin typeface="Arial"/>
              </a:endParaRPr>
            </a:p>
            <a:p>
              <a:pPr algn="ctr">
                <a:lnSpc>
                  <a:spcPct val="103000"/>
                </a:lnSpc>
              </a:pPr>
              <a:r>
                <a:rPr lang="en-GB" sz="3200" b="0" dirty="0">
                  <a:solidFill>
                    <a:srgbClr val="252525"/>
                  </a:solidFill>
                  <a:latin typeface="Arial"/>
                </a:rPr>
                <a:t>Business VP &amp; EVPs</a:t>
              </a:r>
              <a:br>
                <a:rPr lang="en-GB" sz="3200" b="0" dirty="0">
                  <a:solidFill>
                    <a:srgbClr val="252525"/>
                  </a:solidFill>
                  <a:latin typeface="Arial"/>
                </a:rPr>
              </a:br>
              <a:r>
                <a:rPr sz="3200" b="0" dirty="0">
                  <a:solidFill>
                    <a:srgbClr val="252525"/>
                  </a:solidFill>
                  <a:latin typeface="Arial"/>
                </a:rPr>
                <a:t>Business </a:t>
              </a:r>
              <a:r>
                <a:rPr lang="en-GB" sz="3200" b="0" dirty="0">
                  <a:solidFill>
                    <a:srgbClr val="252525"/>
                  </a:solidFill>
                  <a:latin typeface="Arial"/>
                </a:rPr>
                <a:t>S</a:t>
              </a:r>
              <a:r>
                <a:rPr sz="3200" b="0" dirty="0" err="1">
                  <a:solidFill>
                    <a:srgbClr val="252525"/>
                  </a:solidFill>
                  <a:latin typeface="Arial"/>
                </a:rPr>
                <a:t>trategy</a:t>
              </a:r>
              <a:r>
                <a:rPr lang="en-GB" sz="3200" dirty="0">
                  <a:solidFill>
                    <a:srgbClr val="252525"/>
                  </a:solidFill>
                  <a:latin typeface="Arial"/>
                </a:rPr>
                <a:t> GMs</a:t>
              </a:r>
              <a:br>
                <a:rPr lang="en-GB" sz="3200" dirty="0">
                  <a:solidFill>
                    <a:srgbClr val="252525"/>
                  </a:solidFill>
                  <a:latin typeface="Arial"/>
                </a:rPr>
              </a:br>
              <a:r>
                <a:rPr sz="1200" b="0" dirty="0">
                  <a:solidFill>
                    <a:srgbClr val="252525"/>
                  </a:solidFill>
                  <a:latin typeface="Arial"/>
                </a:rPr>
                <a:t>
</a:t>
              </a:r>
              <a:r>
                <a:rPr lang="en-GB" sz="3200" b="0" dirty="0">
                  <a:solidFill>
                    <a:srgbClr val="252525"/>
                  </a:solidFill>
                  <a:latin typeface="Arial"/>
                </a:rPr>
                <a:t>Compare &amp; contrast </a:t>
              </a:r>
              <a:br>
                <a:rPr lang="en-GB" sz="3200" b="0" dirty="0">
                  <a:solidFill>
                    <a:srgbClr val="252525"/>
                  </a:solidFill>
                  <a:latin typeface="Arial"/>
                </a:rPr>
              </a:br>
              <a:r>
                <a:rPr lang="en-GB" sz="3200" b="0" dirty="0">
                  <a:solidFill>
                    <a:srgbClr val="252525"/>
                  </a:solidFill>
                  <a:latin typeface="Arial"/>
                </a:rPr>
                <a:t>with consultant views</a:t>
              </a:r>
              <a:endParaRPr sz="3200" b="0" dirty="0">
                <a:solidFill>
                  <a:srgbClr val="252525"/>
                </a:solidFill>
                <a:latin typeface="Arial"/>
              </a:endParaRPr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C9E422B7-F3F6-F671-0F18-93C8B7A97EB9}"/>
                </a:ext>
              </a:extLst>
            </p:cNvPr>
            <p:cNvSpPr txBox="1"/>
            <p:nvPr/>
          </p:nvSpPr>
          <p:spPr>
            <a:xfrm>
              <a:off x="17830800" y="16377543"/>
              <a:ext cx="4937760" cy="44627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GB" sz="2900" b="1" dirty="0">
                  <a:solidFill>
                    <a:srgbClr val="E31B23"/>
                  </a:solidFill>
                  <a:latin typeface="Arial"/>
                </a:rPr>
                <a:t>GOVERNANCE</a:t>
              </a:r>
              <a:endParaRPr sz="2900" b="1" dirty="0">
                <a:solidFill>
                  <a:srgbClr val="E31B23"/>
                </a:solidFill>
                <a:latin typeface="Arial"/>
              </a:endParaRPr>
            </a:p>
          </p:txBody>
        </p: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C3130354-D8CA-D9E5-C579-C8D924EC3A9E}"/>
                </a:ext>
              </a:extLst>
            </p:cNvPr>
            <p:cNvSpPr txBox="1"/>
            <p:nvPr/>
          </p:nvSpPr>
          <p:spPr>
            <a:xfrm>
              <a:off x="17876520" y="17017623"/>
              <a:ext cx="4846320" cy="319997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3000"/>
                </a:lnSpc>
              </a:pPr>
              <a:r>
                <a:rPr lang="en-GB" sz="3200" b="0" dirty="0">
                  <a:solidFill>
                    <a:srgbClr val="252525"/>
                  </a:solidFill>
                  <a:latin typeface="Arial"/>
                </a:rPr>
                <a:t>VP Downstream Strategy</a:t>
              </a:r>
              <a:br>
                <a:rPr lang="en-GB" sz="3200" b="0" dirty="0">
                  <a:solidFill>
                    <a:srgbClr val="252525"/>
                  </a:solidFill>
                  <a:latin typeface="Arial"/>
                </a:rPr>
              </a:br>
              <a:r>
                <a:rPr lang="en-GB" sz="3200" b="0" dirty="0">
                  <a:solidFill>
                    <a:srgbClr val="252525"/>
                  </a:solidFill>
                  <a:latin typeface="Arial"/>
                </a:rPr>
                <a:t>DSR President</a:t>
              </a:r>
            </a:p>
            <a:p>
              <a:pPr algn="ctr">
                <a:lnSpc>
                  <a:spcPct val="103000"/>
                </a:lnSpc>
              </a:pPr>
              <a:r>
                <a:rPr lang="en-GB" sz="3200" dirty="0">
                  <a:solidFill>
                    <a:srgbClr val="252525"/>
                  </a:solidFill>
                  <a:latin typeface="Arial"/>
                </a:rPr>
                <a:t>DSR EVP Finance</a:t>
              </a:r>
            </a:p>
            <a:p>
              <a:pPr algn="ctr">
                <a:lnSpc>
                  <a:spcPct val="103000"/>
                </a:lnSpc>
              </a:pPr>
              <a:endParaRPr lang="en-GB" sz="1200" b="0" dirty="0">
                <a:solidFill>
                  <a:srgbClr val="252525"/>
                </a:solidFill>
                <a:latin typeface="Arial"/>
              </a:endParaRPr>
            </a:p>
            <a:p>
              <a:pPr algn="ctr">
                <a:lnSpc>
                  <a:spcPct val="103000"/>
                </a:lnSpc>
              </a:pPr>
              <a:r>
                <a:rPr lang="en-GB" sz="3200" b="0" dirty="0">
                  <a:solidFill>
                    <a:srgbClr val="252525"/>
                  </a:solidFill>
                  <a:latin typeface="Arial"/>
                </a:rPr>
                <a:t>Audit by external accountant</a:t>
              </a:r>
            </a:p>
            <a:p>
              <a:pPr algn="ctr">
                <a:lnSpc>
                  <a:spcPct val="103000"/>
                </a:lnSpc>
              </a:pPr>
              <a:endParaRPr sz="3200" b="0" dirty="0">
                <a:solidFill>
                  <a:srgbClr val="252525"/>
                </a:solidFill>
                <a:latin typeface="Arial"/>
              </a:endParaRPr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43DB229B-A298-539E-F441-8074E8B5184D}"/>
                </a:ext>
              </a:extLst>
            </p:cNvPr>
            <p:cNvSpPr txBox="1"/>
            <p:nvPr/>
          </p:nvSpPr>
          <p:spPr>
            <a:xfrm>
              <a:off x="23774400" y="16377543"/>
              <a:ext cx="4937760" cy="5029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2900" b="1" dirty="0">
                  <a:solidFill>
                    <a:srgbClr val="E31B23"/>
                  </a:solidFill>
                  <a:latin typeface="Arial"/>
                </a:rPr>
                <a:t>USE</a:t>
              </a:r>
            </a:p>
          </p:txBody>
        </p: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C89E94F7-EB92-F591-BC6F-7D47965A8C4D}"/>
                </a:ext>
              </a:extLst>
            </p:cNvPr>
            <p:cNvSpPr txBox="1"/>
            <p:nvPr/>
          </p:nvSpPr>
          <p:spPr>
            <a:xfrm>
              <a:off x="23820120" y="17017623"/>
              <a:ext cx="4846320" cy="148822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3000"/>
                </a:lnSpc>
              </a:pPr>
              <a:r>
                <a:rPr sz="3200" b="0" dirty="0">
                  <a:solidFill>
                    <a:srgbClr val="252525"/>
                  </a:solidFill>
                  <a:latin typeface="Arial"/>
                </a:rPr>
                <a:t>Business planning
Project screening
Deals &amp; divestments</a:t>
              </a:r>
            </a:p>
          </p:txBody>
        </p:sp>
      </p:grpSp>
      <p:sp>
        <p:nvSpPr>
          <p:cNvPr id="230" name="Rectangle 229">
            <a:extLst>
              <a:ext uri="{FF2B5EF4-FFF2-40B4-BE49-F238E27FC236}">
                <a16:creationId xmlns:a16="http://schemas.microsoft.com/office/drawing/2014/main" id="{7B53E6BD-4911-C6EE-2706-E5340822F96D}"/>
              </a:ext>
            </a:extLst>
          </p:cNvPr>
          <p:cNvSpPr/>
          <p:nvPr/>
        </p:nvSpPr>
        <p:spPr>
          <a:xfrm flipV="1">
            <a:off x="1039054" y="29318971"/>
            <a:ext cx="27980640" cy="4571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7E645130-C03B-A399-5E38-A6897EA60350}"/>
              </a:ext>
            </a:extLst>
          </p:cNvPr>
          <p:cNvSpPr txBox="1"/>
          <p:nvPr/>
        </p:nvSpPr>
        <p:spPr>
          <a:xfrm>
            <a:off x="1039054" y="30163458"/>
            <a:ext cx="279806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GB" sz="2800" b="1" dirty="0">
                <a:solidFill>
                  <a:srgbClr val="E31B23"/>
                </a:solidFill>
                <a:latin typeface="Arial"/>
              </a:rPr>
              <a:t>BRINGING TOGETHER THE BEST OF SHELL’s COMMODITY MARKET INSIGHTS</a:t>
            </a:r>
            <a:endParaRPr sz="2800" b="1" dirty="0">
              <a:solidFill>
                <a:srgbClr val="E31B23"/>
              </a:solidFill>
              <a:latin typeface="Arial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CD8711CE-7A1F-045D-375C-1369817BC3F0}"/>
              </a:ext>
            </a:extLst>
          </p:cNvPr>
          <p:cNvSpPr txBox="1"/>
          <p:nvPr/>
        </p:nvSpPr>
        <p:spPr>
          <a:xfrm>
            <a:off x="1065834" y="30812145"/>
            <a:ext cx="2798064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GB" sz="4000" b="1" dirty="0">
                <a:solidFill>
                  <a:srgbClr val="252525"/>
                </a:solidFill>
                <a:latin typeface="Arial"/>
              </a:rPr>
              <a:t>OMA leverages Shell’s Trading, Corporate Relations and Data reach to build better insights</a:t>
            </a:r>
          </a:p>
          <a:p>
            <a:pPr algn="l">
              <a:lnSpc>
                <a:spcPct val="100000"/>
              </a:lnSpc>
            </a:pPr>
            <a:endParaRPr sz="4000" b="1" dirty="0">
              <a:solidFill>
                <a:srgbClr val="252525"/>
              </a:solidFill>
              <a:latin typeface="Arial"/>
            </a:endParaRP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3CBDE4B1-97E0-FAFF-EE64-3725B70ACEA1}"/>
              </a:ext>
            </a:extLst>
          </p:cNvPr>
          <p:cNvSpPr/>
          <p:nvPr/>
        </p:nvSpPr>
        <p:spPr>
          <a:xfrm>
            <a:off x="1019620" y="31939151"/>
            <a:ext cx="8821213" cy="1920882"/>
          </a:xfrm>
          <a:prstGeom prst="rect">
            <a:avLst/>
          </a:prstGeom>
          <a:solidFill>
            <a:srgbClr val="FFF5CC"/>
          </a:solidFill>
          <a:ln w="19050">
            <a:solidFill>
              <a:srgbClr val="C9C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2">
                    <a:lumMod val="25000"/>
                  </a:schemeClr>
                </a:solidFill>
                <a:latin typeface="ShellMedium" panose="00000600000000000000" pitchFamily="2" charset="0"/>
              </a:rPr>
              <a:t>Shared models &amp; data with Trading Analytics – seamless interface between ST and Long Term</a:t>
            </a:r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CDB5BDB8-456C-1CC5-E503-9E8A277AF83D}"/>
              </a:ext>
            </a:extLst>
          </p:cNvPr>
          <p:cNvSpPr/>
          <p:nvPr/>
        </p:nvSpPr>
        <p:spPr>
          <a:xfrm>
            <a:off x="10299299" y="31939151"/>
            <a:ext cx="8821213" cy="1920882"/>
          </a:xfrm>
          <a:prstGeom prst="rect">
            <a:avLst/>
          </a:prstGeom>
          <a:solidFill>
            <a:srgbClr val="C8E0FF"/>
          </a:solidFill>
          <a:ln w="19050">
            <a:solidFill>
              <a:srgbClr val="C9C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2">
                    <a:lumMod val="25000"/>
                  </a:schemeClr>
                </a:solidFill>
                <a:latin typeface="ShellMedium" panose="00000600000000000000" pitchFamily="2" charset="0"/>
              </a:rPr>
              <a:t>Working with Corporate Relations on core policy &amp; regulatory beliefs</a:t>
            </a:r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FB6FAECE-C9FC-E8E0-583A-3BD0EBC9EE6B}"/>
              </a:ext>
            </a:extLst>
          </p:cNvPr>
          <p:cNvSpPr/>
          <p:nvPr/>
        </p:nvSpPr>
        <p:spPr>
          <a:xfrm>
            <a:off x="19672886" y="31939151"/>
            <a:ext cx="8821213" cy="1920882"/>
          </a:xfrm>
          <a:prstGeom prst="rect">
            <a:avLst/>
          </a:prstGeom>
          <a:solidFill>
            <a:srgbClr val="D5F5E7"/>
          </a:solidFill>
          <a:ln w="19050">
            <a:solidFill>
              <a:srgbClr val="C9C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2">
                    <a:lumMod val="25000"/>
                  </a:schemeClr>
                </a:solidFill>
                <a:latin typeface="ShellMedium" panose="00000600000000000000" pitchFamily="2" charset="0"/>
              </a:rPr>
              <a:t>Using best of consultant and agency data from e.g. IEA, WM, SPG, Rystad &amp; LMC</a:t>
            </a:r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DB2199B6-9FA1-EF18-A7E0-E9B14FCEA7A2}"/>
              </a:ext>
            </a:extLst>
          </p:cNvPr>
          <p:cNvSpPr/>
          <p:nvPr/>
        </p:nvSpPr>
        <p:spPr>
          <a:xfrm flipV="1">
            <a:off x="991222" y="34587759"/>
            <a:ext cx="27980640" cy="4571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Text 16">
            <a:extLst>
              <a:ext uri="{FF2B5EF4-FFF2-40B4-BE49-F238E27FC236}">
                <a16:creationId xmlns:a16="http://schemas.microsoft.com/office/drawing/2014/main" id="{7AC178F1-D618-A2BA-85F6-FEBC7564181C}"/>
              </a:ext>
            </a:extLst>
          </p:cNvPr>
          <p:cNvSpPr/>
          <p:nvPr/>
        </p:nvSpPr>
        <p:spPr>
          <a:xfrm>
            <a:off x="1706736" y="41776472"/>
            <a:ext cx="7609558" cy="6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537" dirty="0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Shape. Connect. Accelerate.</a:t>
            </a:r>
            <a:endParaRPr lang="en-US" sz="3537" dirty="0"/>
          </a:p>
        </p:txBody>
      </p:sp>
      <p:sp>
        <p:nvSpPr>
          <p:cNvPr id="264" name="Text 17">
            <a:extLst>
              <a:ext uri="{FF2B5EF4-FFF2-40B4-BE49-F238E27FC236}">
                <a16:creationId xmlns:a16="http://schemas.microsoft.com/office/drawing/2014/main" id="{EE05CC20-EF1B-D80C-38D1-A4FC6826A8E0}"/>
              </a:ext>
            </a:extLst>
          </p:cNvPr>
          <p:cNvSpPr/>
          <p:nvPr/>
        </p:nvSpPr>
        <p:spPr>
          <a:xfrm>
            <a:off x="22747164" y="41776472"/>
            <a:ext cx="5897407" cy="6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3537" dirty="0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September 7–8, 2026</a:t>
            </a:r>
            <a:endParaRPr lang="en-US" sz="3537" dirty="0"/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75F549A5-1965-90D1-336D-595392995972}"/>
              </a:ext>
            </a:extLst>
          </p:cNvPr>
          <p:cNvSpPr txBox="1"/>
          <p:nvPr/>
        </p:nvSpPr>
        <p:spPr>
          <a:xfrm>
            <a:off x="1065834" y="35359904"/>
            <a:ext cx="279806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GB" sz="2800" b="1" dirty="0">
                <a:solidFill>
                  <a:srgbClr val="E31B23"/>
                </a:solidFill>
                <a:latin typeface="Arial"/>
              </a:rPr>
              <a:t>IMPROVEMENT OPPORTUNITY</a:t>
            </a:r>
            <a:endParaRPr sz="2800" b="1" dirty="0">
              <a:solidFill>
                <a:srgbClr val="E31B23"/>
              </a:solidFill>
              <a:latin typeface="Arial"/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7C8A3C8C-91D2-11D7-7DBA-EE63CD911A33}"/>
              </a:ext>
            </a:extLst>
          </p:cNvPr>
          <p:cNvSpPr txBox="1"/>
          <p:nvPr/>
        </p:nvSpPr>
        <p:spPr>
          <a:xfrm>
            <a:off x="991222" y="35965554"/>
            <a:ext cx="2798064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GB" sz="4000" b="1" dirty="0">
                <a:solidFill>
                  <a:srgbClr val="252525"/>
                </a:solidFill>
                <a:latin typeface="Arial"/>
              </a:rPr>
              <a:t>Complete the data &amp; tool platform migration to latest standards (Python, Databricks and Dash), retire Excel</a:t>
            </a:r>
            <a:endParaRPr sz="4000" b="1" dirty="0">
              <a:solidFill>
                <a:srgbClr val="252525"/>
              </a:solidFill>
              <a:latin typeface="Arial"/>
            </a:endParaRPr>
          </a:p>
        </p:txBody>
      </p:sp>
      <p:sp>
        <p:nvSpPr>
          <p:cNvPr id="279" name="Oval 278">
            <a:extLst>
              <a:ext uri="{FF2B5EF4-FFF2-40B4-BE49-F238E27FC236}">
                <a16:creationId xmlns:a16="http://schemas.microsoft.com/office/drawing/2014/main" id="{3BAD9AB6-3FB0-4054-618F-3E5EF0386096}"/>
              </a:ext>
            </a:extLst>
          </p:cNvPr>
          <p:cNvSpPr/>
          <p:nvPr/>
        </p:nvSpPr>
        <p:spPr>
          <a:xfrm>
            <a:off x="1153160" y="37205919"/>
            <a:ext cx="914400" cy="914400"/>
          </a:xfrm>
          <a:prstGeom prst="ellipse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C3B15409-AB62-B95A-B34B-BF13D8169AD8}"/>
              </a:ext>
            </a:extLst>
          </p:cNvPr>
          <p:cNvSpPr txBox="1"/>
          <p:nvPr/>
        </p:nvSpPr>
        <p:spPr>
          <a:xfrm>
            <a:off x="2396794" y="37203716"/>
            <a:ext cx="20678648" cy="984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GB" sz="3200" b="1" dirty="0">
                <a:solidFill>
                  <a:srgbClr val="252525"/>
                </a:solidFill>
                <a:latin typeface="Arial"/>
              </a:rPr>
              <a:t>Increasing market &amp; geopolitical complexity and volatility require faster analytics, testing additional scenarios and making the results available to the business and strategy teams faster and easier.</a:t>
            </a:r>
            <a:endParaRPr sz="3200" b="1" dirty="0">
              <a:solidFill>
                <a:srgbClr val="252525"/>
              </a:solidFill>
              <a:latin typeface="Arial"/>
            </a:endParaRPr>
          </a:p>
        </p:txBody>
      </p:sp>
      <p:sp>
        <p:nvSpPr>
          <p:cNvPr id="282" name="Oval 281">
            <a:extLst>
              <a:ext uri="{FF2B5EF4-FFF2-40B4-BE49-F238E27FC236}">
                <a16:creationId xmlns:a16="http://schemas.microsoft.com/office/drawing/2014/main" id="{0334F20F-F398-2D9E-2D20-C723889EF3D8}"/>
              </a:ext>
            </a:extLst>
          </p:cNvPr>
          <p:cNvSpPr/>
          <p:nvPr/>
        </p:nvSpPr>
        <p:spPr>
          <a:xfrm>
            <a:off x="1115517" y="38535211"/>
            <a:ext cx="914400" cy="914400"/>
          </a:xfrm>
          <a:prstGeom prst="ellipse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84" name="Oval 283">
            <a:extLst>
              <a:ext uri="{FF2B5EF4-FFF2-40B4-BE49-F238E27FC236}">
                <a16:creationId xmlns:a16="http://schemas.microsoft.com/office/drawing/2014/main" id="{EF8366C2-76E4-F962-2BEB-82523DC20E5F}"/>
              </a:ext>
            </a:extLst>
          </p:cNvPr>
          <p:cNvSpPr/>
          <p:nvPr/>
        </p:nvSpPr>
        <p:spPr>
          <a:xfrm>
            <a:off x="1129842" y="39929498"/>
            <a:ext cx="914400" cy="914400"/>
          </a:xfrm>
          <a:prstGeom prst="ellipse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6DB5249C-EE45-8BF3-C074-F6A4A94FC433}"/>
              </a:ext>
            </a:extLst>
          </p:cNvPr>
          <p:cNvSpPr txBox="1"/>
          <p:nvPr/>
        </p:nvSpPr>
        <p:spPr>
          <a:xfrm>
            <a:off x="2396794" y="38500104"/>
            <a:ext cx="20678648" cy="1046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GB" sz="3200" b="1" dirty="0">
                <a:solidFill>
                  <a:srgbClr val="252525"/>
                </a:solidFill>
                <a:latin typeface="Arial"/>
              </a:rPr>
              <a:t>Reduce manual data handling by analysts and enable AI </a:t>
            </a:r>
            <a:r>
              <a:rPr lang="en-GB" sz="3600" b="1" dirty="0">
                <a:solidFill>
                  <a:srgbClr val="252525"/>
                </a:solidFill>
                <a:latin typeface="Arial"/>
              </a:rPr>
              <a:t>LLM</a:t>
            </a:r>
            <a:r>
              <a:rPr lang="en-GB" sz="3200" b="1" dirty="0">
                <a:solidFill>
                  <a:srgbClr val="252525"/>
                </a:solidFill>
                <a:latin typeface="Arial"/>
              </a:rPr>
              <a:t> access to the data to automate data screening and visualisation. Automated data pipelines for consultant data.</a:t>
            </a: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256F7CC8-675C-70D2-A81F-0EAFE004ABA5}"/>
              </a:ext>
            </a:extLst>
          </p:cNvPr>
          <p:cNvSpPr txBox="1"/>
          <p:nvPr/>
        </p:nvSpPr>
        <p:spPr>
          <a:xfrm>
            <a:off x="2313482" y="39903358"/>
            <a:ext cx="151384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6769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b="1" dirty="0">
                <a:solidFill>
                  <a:srgbClr val="252525"/>
                </a:solidFill>
                <a:latin typeface="Arial"/>
              </a:rPr>
              <a:t>Advanced biofuels modelling, working with the Trading desk for RNG and with P&amp;T Data Science for liquid biofuels.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rgbClr val="252525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8351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hell layouts with footer">
  <a:themeElements>
    <a:clrScheme name="Custom 1">
      <a:dk1>
        <a:srgbClr val="595959"/>
      </a:dk1>
      <a:lt1>
        <a:srgbClr val="FFFFFF"/>
      </a:lt1>
      <a:dk2>
        <a:srgbClr val="EAEAEA"/>
      </a:dk2>
      <a:lt2>
        <a:srgbClr val="CCCCCC"/>
      </a:lt2>
      <a:accent1>
        <a:srgbClr val="F7D117"/>
      </a:accent1>
      <a:accent2>
        <a:srgbClr val="D42E12"/>
      </a:accent2>
      <a:accent3>
        <a:srgbClr val="003882"/>
      </a:accent3>
      <a:accent4>
        <a:srgbClr val="611759"/>
      </a:accent4>
      <a:accent5>
        <a:srgbClr val="00824A"/>
      </a:accent5>
      <a:accent6>
        <a:srgbClr val="DE8703"/>
      </a:accent6>
      <a:hlink>
        <a:srgbClr val="000000"/>
      </a:hlink>
      <a:folHlink>
        <a:srgbClr val="000000"/>
      </a:folHlink>
    </a:clrScheme>
    <a:fontScheme name="Shell - Fonts">
      <a:majorFont>
        <a:latin typeface="Futura Medium"/>
        <a:ea typeface=""/>
        <a:cs typeface=""/>
      </a:majorFont>
      <a:minorFont>
        <a:latin typeface="Futura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7800" indent="-177800">
          <a:lnSpc>
            <a:spcPct val="113000"/>
          </a:lnSpc>
          <a:spcAft>
            <a:spcPts val="60"/>
          </a:spcAft>
          <a:buFont typeface="Wingdings"/>
          <a:buChar char="n"/>
          <a:defRPr sz="1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Shell Document" ma:contentTypeID="0x0101006F0A470EEB1140E7AA14F4CE8A50B54C0001CB1477F4DD432AA86DD56CC3887AF400F644A78CBFDAD44983885002DC8B3358" ma:contentTypeVersion="5" ma:contentTypeDescription="Shell Document Content Type" ma:contentTypeScope="" ma:versionID="9972982cb723cf5df02987a4cb397dc7">
  <xsd:schema xmlns:xsd="http://www.w3.org/2001/XMLSchema" xmlns:xs="http://www.w3.org/2001/XMLSchema" xmlns:p="http://schemas.microsoft.com/office/2006/metadata/properties" xmlns:ns1="http://schemas.microsoft.com/sharepoint/v3" xmlns:ns2="5fe9d420-80f7-4ada-bee1-a7a60088c9b2" xmlns:ns3="d897dab9-547b-4d8a-9e98-e2c84c4ab18d" targetNamespace="http://schemas.microsoft.com/office/2006/metadata/properties" ma:root="true" ma:fieldsID="11b7afb5536d3e270a25d7434dfd5e62" ns1:_="" ns2:_="" ns3:_="">
    <xsd:import namespace="http://schemas.microsoft.com/sharepoint/v3"/>
    <xsd:import namespace="5fe9d420-80f7-4ada-bee1-a7a60088c9b2"/>
    <xsd:import namespace="d897dab9-547b-4d8a-9e98-e2c84c4ab18d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1:SAEFSecurityClassificationTaxHTField0" minOccurs="0"/>
                <xsd:element ref="ns2:ice2f7984e9548f9a31773f854109466" minOccurs="0"/>
                <xsd:element ref="ns2:TaxCatchAll" minOccurs="0"/>
                <xsd:element ref="ns2:TaxCatchAllLabel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SAEFSecurityClassificationTaxHTField0" ma:index="11" nillable="true" ma:displayName="Security Classification_0" ma:hidden="true" ma:internalName="SAEFSecurityClassificationTaxHTField0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e9d420-80f7-4ada-bee1-a7a60088c9b2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ice2f7984e9548f9a31773f854109466" ma:index="12" ma:taxonomy="true" ma:internalName="ice2f7984e9548f9a31773f854109466" ma:taxonomyFieldName="SAEFSecurityClassification" ma:displayName="Security Classification" ma:default="5;#Confidential|e4bc29b2-6e76-48cc-b090-8b544c0802ae" ma:fieldId="{2ce2f798-4e95-48f9-a317-73f854109466}" ma:sspId="e3aebf70-341c-4d91-bdd3-aba9df361687" ma:termSetId="daf890f0-167e-4ee2-a9fd-a81536ed816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3" nillable="true" ma:displayName="Taxonomy Catch All Column" ma:hidden="true" ma:list="{c7126bf2-9056-4401-894f-d1136f5f3720}" ma:internalName="TaxCatchAll" ma:showField="CatchAllData" ma:web="5fe9d420-80f7-4ada-bee1-a7a60088c9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4" nillable="true" ma:displayName="Taxonomy Catch All Column1" ma:hidden="true" ma:list="{c7126bf2-9056-4401-894f-d1136f5f3720}" ma:internalName="TaxCatchAllLabel" ma:readOnly="true" ma:showField="CatchAllDataLabel" ma:web="5fe9d420-80f7-4ada-bee1-a7a60088c9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97dab9-547b-4d8a-9e98-e2c84c4ab1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AEFSecurityClassificationTaxHTField0 xmlns="http://schemas.microsoft.com/sharepoint/v3">Restricted21aa7f98-4035-4019-a764-107acb7269af</SAEFSecurityClassificationTaxHTField0>
    <TaxCatchAll xmlns="5fe9d420-80f7-4ada-bee1-a7a60088c9b2">
      <Value>1</Value>
    </TaxCatchAll>
    <_dlc_DocIdUrl xmlns="5fe9d420-80f7-4ada-bee1-a7a60088c9b2">
      <Url>https://eu001-sp.shell.com/sites/SPO002395/_layouts/15/DocIdRedir.aspx?ID=UXD4DQ5FARXZ-1534890728-14</Url>
      <Description>UXD4DQ5FARXZ-1534890728-14</Description>
    </_dlc_DocIdUrl>
    <_dlc_DocId xmlns="5fe9d420-80f7-4ada-bee1-a7a60088c9b2">UXD4DQ5FARXZ-1534890728-14</_dlc_DocId>
    <ice2f7984e9548f9a31773f854109466 xmlns="5fe9d420-80f7-4ada-bee1-a7a60088c9b2">
      <Terms xmlns="http://schemas.microsoft.com/office/infopath/2007/PartnerControls">
        <TermInfo xmlns="http://schemas.microsoft.com/office/infopath/2007/PartnerControls">
          <TermName xmlns="http://schemas.microsoft.com/office/infopath/2007/PartnerControls">Restricted</TermName>
          <TermId xmlns="http://schemas.microsoft.com/office/infopath/2007/PartnerControls">21aa7f98-4035-4019-a764-107acb7269af</TermId>
        </TermInfo>
      </Terms>
    </ice2f7984e9548f9a31773f854109466>
  </documentManagement>
</p:properties>
</file>

<file path=customXml/item5.xml><?xml version="1.0" encoding="utf-8"?>
<ct:contentTypeSchema xmlns:ct="http://schemas.microsoft.com/office/2006/metadata/contentType" xmlns:ma="http://schemas.microsoft.com/office/2006/metadata/properties/metaAttributes" ct:_="" ma:_="" ma:contentTypeName="Shell Document" ma:contentTypeID="0x0101006F0A470EEB1140E7AA14F4CE8A50B54C0001CB1477F4DD432AA86DD56CC3887AF400120AA334C3E07542B5A9DF9552BD51E3" ma:contentTypeVersion="359" ma:contentTypeDescription="Shell Document Content Type" ma:contentTypeScope="" ma:versionID="ef5fcdf0f7b4a3abc3c5d2e7ecf41b7b">
  <xsd:schema xmlns:xsd="http://www.w3.org/2001/XMLSchema" xmlns:xs="http://www.w3.org/2001/XMLSchema" xmlns:p="http://schemas.microsoft.com/office/2006/metadata/properties" xmlns:ns1="http://schemas.microsoft.com/sharepoint/v3" xmlns:ns3="9ef820fd-6db4-47b1-9dcb-1f7c1d9cfe14" xmlns:ns4="ab752767-7ddc-4239-ad6e-f1e8fd869e6d" xmlns:ns5="bb088cd6-f285-401a-9305-b2d9deb619f1" xmlns:ns6="http://schemas.microsoft.com/sharepoint/v4" targetNamespace="http://schemas.microsoft.com/office/2006/metadata/properties" ma:root="true" ma:fieldsID="91fe722c3bd88e7ecd34aa8c44d08582" ns1:_="" ns3:_="" ns4:_="" ns5:_="" ns6:_="">
    <xsd:import namespace="http://schemas.microsoft.com/sharepoint/v3"/>
    <xsd:import namespace="9ef820fd-6db4-47b1-9dcb-1f7c1d9cfe14"/>
    <xsd:import namespace="ab752767-7ddc-4239-ad6e-f1e8fd869e6d"/>
    <xsd:import namespace="bb088cd6-f285-401a-9305-b2d9deb619f1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1:Shell_x0020_SharePoint_x0020_SAEF_x0020_Owner" minOccurs="0"/>
                <xsd:element ref="ns1:Shell_x0020_SharePoint_x0020_SAEF_x0020_SiteCollectionName"/>
                <xsd:element ref="ns1:Shell_x0020_SharePoint_x0020_SAEF_x0020_SiteOwner"/>
                <xsd:element ref="ns1:Shell_x0020_SharePoint_x0020_SAEF_x0020_Collection"/>
                <xsd:element ref="ns1:Shell_x0020_SharePoint_x0020_SAEF_x0020_IsRecord" minOccurs="0"/>
                <xsd:element ref="ns1:Shell_x0020_SharePoint_x0020_SAEF_x0020_TRIMRecordNumber" minOccurs="0"/>
                <xsd:element ref="ns1:Shell_x0020_SharePoint_x0020_SAEF_x0020_GlobalFunctionTaxHTField0" minOccurs="0"/>
                <xsd:element ref="ns1:Shell_x0020_SharePoint_x0020_SAEF_x0020_DocumentTypeTaxHTField0" minOccurs="0"/>
                <xsd:element ref="ns1:Shell_x0020_SharePoint_x0020_SAEF_x0020_LanguageTaxHTField0" minOccurs="0"/>
                <xsd:element ref="ns1:Shell_x0020_SharePoint_x0020_SAEF_x0020_BusinessTaxHTField0" minOccurs="0"/>
                <xsd:element ref="ns1:Shell_x0020_SharePoint_x0020_SAEF_x0020_CountryOfJurisdictionTaxHTField0" minOccurs="0"/>
                <xsd:element ref="ns1:Shell_x0020_SharePoint_x0020_SAEF_x0020_DocumentStatusTaxHTField0" minOccurs="0"/>
                <xsd:element ref="ns1:Shell_x0020_SharePoint_x0020_SAEF_x0020_BusinessUnitRegionTaxHTField0" minOccurs="0"/>
                <xsd:element ref="ns3:_dlc_DocId" minOccurs="0"/>
                <xsd:element ref="ns3:_dlc_DocIdUrl" minOccurs="0"/>
                <xsd:element ref="ns3:_dlc_DocIdPersistId" minOccurs="0"/>
                <xsd:element ref="ns1:Shell_x0020_SharePoint_x0020_SAEF_x0020_BusinessProcessTaxHTField0" minOccurs="0"/>
                <xsd:element ref="ns1:Shell_x0020_SharePoint_x0020_SAEF_x0020_LegalEntityTaxHTField0" minOccurs="0"/>
                <xsd:element ref="ns1:Shell_x0020_SharePoint_x0020_SAEF_x0020_ExportControlClassificationTaxHTField0" minOccurs="0"/>
                <xsd:element ref="ns1:_dlc_Exempt" minOccurs="0"/>
                <xsd:element ref="ns1:_dlc_ExpireDateSaved" minOccurs="0"/>
                <xsd:element ref="ns1:_dlc_ExpireDate" minOccurs="0"/>
                <xsd:element ref="ns1:AverageRating" minOccurs="0"/>
                <xsd:element ref="ns1:RatingCount" minOccurs="0"/>
                <xsd:element ref="ns3:TaxCatchAll" minOccurs="0"/>
                <xsd:element ref="ns3:TaxCatchAllLabel" minOccurs="0"/>
                <xsd:element ref="ns1:Shell_x0020_SharePoint_x0020_SAEF_x0020_AssetIdentifier" minOccurs="0"/>
                <xsd:element ref="ns3:n737336bf77f4bb6bc219f352620e077" minOccurs="0"/>
                <xsd:element ref="ns3:ca0f85b739b04089bd42fc5758e4ace8" minOccurs="0"/>
                <xsd:element ref="ns4:LivelinkID" minOccurs="0"/>
                <xsd:element ref="ns1:RatedBy" minOccurs="0"/>
                <xsd:element ref="ns1:Ratings" minOccurs="0"/>
                <xsd:element ref="ns1:LikesCount" minOccurs="0"/>
                <xsd:element ref="ns1:LikedBy" minOccurs="0"/>
                <xsd:element ref="ns5:Key_x0020_Word_x0020_Selection" minOccurs="0"/>
                <xsd:element ref="ns5:SharedWithUsers" minOccurs="0"/>
                <xsd:element ref="ns5:SharedWithDetails" minOccurs="0"/>
                <xsd:element ref="ns4:MediaServiceMetadata" minOccurs="0"/>
                <xsd:element ref="ns4:MediaServiceFastMetadata" minOccurs="0"/>
                <xsd:element ref="ns4:MediaServiceEventHashCode" minOccurs="0"/>
                <xsd:element ref="ns4:MediaServiceGenerationTime" minOccurs="0"/>
                <xsd:element ref="ns4:MediaServiceAutoTags" minOccurs="0"/>
                <xsd:element ref="ns4:MediaServiceOCR" minOccurs="0"/>
                <xsd:element ref="ns4:MediaServiceDateTaken" minOccurs="0"/>
                <xsd:element ref="ns6:IconOverlay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1:SAEFSecurityClassificationTaxHTField0" minOccurs="0"/>
                <xsd:element ref="ns4:lcf76f155ced4ddcb4097134ff3c332f" minOccurs="0"/>
                <xsd:element ref="ns4:MediaServiceObjectDetectorVersions" minOccurs="0"/>
                <xsd:element ref="ns4:MediaServiceSearchProperties" minOccurs="0"/>
                <xsd:element ref="ns4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Shell_x0020_SharePoint_x0020_SAEF_x0020_Owner" ma:index="6" nillable="true" ma:displayName="Owner" ma:hidden="true" ma:internalName="Shell_x0020_SharePoint_x0020_SAEF_x0020_Owner">
      <xsd:simpleType>
        <xsd:restriction base="dms:Text"/>
      </xsd:simpleType>
    </xsd:element>
    <xsd:element name="Shell_x0020_SharePoint_x0020_SAEF_x0020_SiteCollectionName" ma:index="12" ma:displayName="Site Collection Name" ma:default="DX Portal" ma:hidden="true" ma:internalName="Shell_x0020_SharePoint_x0020_SAEF_x0020_SiteCollectionName">
      <xsd:simpleType>
        <xsd:restriction base="dms:Text"/>
      </xsd:simpleType>
    </xsd:element>
    <xsd:element name="Shell_x0020_SharePoint_x0020_SAEF_x0020_SiteOwner" ma:index="13" ma:displayName="Site Owner" ma:default="europe\ellen.oriordan" ma:hidden="true" ma:internalName="Shell_x0020_SharePoint_x0020_SAEF_x0020_SiteOwner">
      <xsd:simpleType>
        <xsd:restriction base="dms:Text">
          <xsd:maxLength value="255"/>
        </xsd:restriction>
      </xsd:simpleType>
    </xsd:element>
    <xsd:element name="Shell_x0020_SharePoint_x0020_SAEF_x0020_Collection" ma:index="16" ma:displayName="Collection" ma:default="0" ma:hidden="true" ma:internalName="Shell_x0020_SharePoint_x0020_SAEF_x0020_Collection">
      <xsd:simpleType>
        <xsd:restriction base="dms:Boolean"/>
      </xsd:simpleType>
    </xsd:element>
    <xsd:element name="Shell_x0020_SharePoint_x0020_SAEF_x0020_IsRecord" ma:index="18" nillable="true" ma:displayName="Is Archived" ma:hidden="true" ma:indexed="true" ma:internalName="Shell_x0020_SharePoint_x0020_SAEF_x0020_IsRecord">
      <xsd:simpleType>
        <xsd:restriction base="dms:Text">
          <xsd:maxLength value="255"/>
        </xsd:restriction>
      </xsd:simpleType>
    </xsd:element>
    <xsd:element name="Shell_x0020_SharePoint_x0020_SAEF_x0020_TRIMRecordNumber" ma:index="19" nillable="true" ma:displayName="TRIM Record Number" ma:hidden="true" ma:internalName="Shell_x0020_SharePoint_x0020_SAEF_x0020_TRIMRecordNumber">
      <xsd:simpleType>
        <xsd:restriction base="dms:Text">
          <xsd:maxLength value="255"/>
        </xsd:restriction>
      </xsd:simpleType>
    </xsd:element>
    <xsd:element name="Shell_x0020_SharePoint_x0020_SAEF_x0020_GlobalFunctionTaxHTField0" ma:index="20" ma:taxonomy="true" ma:internalName="Shell_x0020_SharePoint_x0020_SAEF_x0020_GlobalFunctionTaxHTField0" ma:taxonomyFieldName="Shell_x0020_SharePoint_x0020_SAEF_x0020_GlobalFunction" ma:displayName="Business Function" ma:default="3;#Not Applicable|ddce64fb-3cb8-4cd9-8e3d-0fe554247fd1" ma:fieldId="{1284211f-8330-48b1-a5cc-ec1f0d9b0f7a}" ma:sspId="e3aebf70-341c-4d91-bdd3-aba9df361687" ma:termSetId="354c4cc3-2d4b-4608-9bbd-a538d7fca2d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ell_x0020_SharePoint_x0020_SAEF_x0020_DocumentTypeTaxHTField0" ma:index="21" ma:taxonomy="true" ma:internalName="Shell_x0020_SharePoint_x0020_SAEF_x0020_DocumentTypeTaxHTField0" ma:taxonomyFieldName="Shell_x0020_SharePoint_x0020_SAEF_x0020_DocumentType" ma:displayName="Document Type" ma:readOnly="false" ma:default="24;#Other [DSB]|3351ceb4-30b3-4432-9805-d2a436a366fc" ma:fieldId="{566fdc14-b4fa-46ee-a88e-e2aac7ad2eac}" ma:sspId="e3aebf70-341c-4d91-bdd3-aba9df361687" ma:termSetId="b02d6ce4-0bfa-4ecb-bc5a-b8d13c1ee04f" ma:anchorId="613654d4-3ef8-4831-9f21-0a1223022364" ma:open="false" ma:isKeyword="false">
      <xsd:complexType>
        <xsd:sequence>
          <xsd:element ref="pc:Terms" minOccurs="0" maxOccurs="1"/>
        </xsd:sequence>
      </xsd:complexType>
    </xsd:element>
    <xsd:element name="Shell_x0020_SharePoint_x0020_SAEF_x0020_LanguageTaxHTField0" ma:index="22" ma:taxonomy="true" ma:internalName="Shell_x0020_SharePoint_x0020_SAEF_x0020_LanguageTaxHTField0" ma:taxonomyFieldName="Shell_x0020_SharePoint_x0020_SAEF_x0020_Language" ma:displayName="Language" ma:default="6;#English|bd3ad5ee-f0c3-40aa-8cc8-36ef09940af3" ma:fieldId="{a99e316a-5158-4b34-9a98-5674ef8a1639}" ma:sspId="e3aebf70-341c-4d91-bdd3-aba9df361687" ma:termSetId="b2561cd2-09b2-4dce-b5be-021768df6da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ell_x0020_SharePoint_x0020_SAEF_x0020_BusinessTaxHTField0" ma:index="23" ma:taxonomy="true" ma:internalName="Shell_x0020_SharePoint_x0020_SAEF_x0020_BusinessTaxHTField0" ma:taxonomyFieldName="Shell_x0020_SharePoint_x0020_SAEF_x0020_Business" ma:displayName="Business" ma:default="1;#Downstream|f377c20d-8416-4aff-9c98-676592444d76" ma:fieldId="{0d7acb72-5c17-4ee6-b184-d60d15597f6a}" ma:sspId="e3aebf70-341c-4d91-bdd3-aba9df361687" ma:termSetId="f928660f-a52c-4d0d-a7a1-af45e8e16dc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ell_x0020_SharePoint_x0020_SAEF_x0020_CountryOfJurisdictionTaxHTField0" ma:index="24" ma:taxonomy="true" ma:internalName="Shell_x0020_SharePoint_x0020_SAEF_x0020_CountryOfJurisdictionTaxHTField0" ma:taxonomyFieldName="Shell_x0020_SharePoint_x0020_SAEF_x0020_CountryOfJurisdiction" ma:displayName="Country of Jurisdiction" ma:default="7;#UNITED KINGDOM|a641b02c-ea62-4b2d-a926-5e7208151dda" ma:fieldId="{dc07035f-7987-48f5-ba88-2d29e2b62c9e}" ma:sspId="e3aebf70-341c-4d91-bdd3-aba9df361687" ma:termSetId="a560ecad-89fd-4dcd-adad-4e15e7baec58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ell_x0020_SharePoint_x0020_SAEF_x0020_DocumentStatusTaxHTField0" ma:index="25" ma:taxonomy="true" ma:internalName="Shell_x0020_SharePoint_x0020_SAEF_x0020_DocumentStatusTaxHTField0" ma:taxonomyFieldName="Shell_x0020_SharePoint_x0020_SAEF_x0020_DocumentStatus" ma:displayName="Document Status" ma:readOnly="false" ma:default="11;#Draft|1c86f377-7d91-4c95-bd5b-c18c83fe0aa5" ma:fieldId="{627a77c6-2170-43dd-a0ef-eb6a3870ea75}" ma:sspId="e3aebf70-341c-4d91-bdd3-aba9df361687" ma:termSetId="935aba77-d2cb-414d-bb70-87b73a0515d8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ell_x0020_SharePoint_x0020_SAEF_x0020_BusinessUnitRegionTaxHTField0" ma:index="26" ma:taxonomy="true" ma:internalName="Shell_x0020_SharePoint_x0020_SAEF_x0020_BusinessUnitRegionTaxHTField0" ma:taxonomyFieldName="Shell_x0020_SharePoint_x0020_SAEF_x0020_BusinessUnitRegion" ma:displayName="Business Unit/Region" ma:default="2;#Business Function or Other|874d49cd-70ad-414d-a612-40638fadccae" ma:fieldId="{98984985-015b-4079-8918-b5a01b45e4b3}" ma:sspId="e3aebf70-341c-4d91-bdd3-aba9df361687" ma:termSetId="f928660f-a52c-4d0d-a7a1-af45e8e16dc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ell_x0020_SharePoint_x0020_SAEF_x0020_BusinessProcessTaxHTField0" ma:index="35" nillable="true" ma:taxonomy="true" ma:internalName="Shell_x0020_SharePoint_x0020_SAEF_x0020_BusinessProcessTaxHTField0" ma:taxonomyFieldName="Shell_x0020_SharePoint_x0020_SAEF_x0020_BusinessProcess" ma:displayName="Business Process" ma:default="8;#Downstream - Business|01822909-88b3-4e55-80b6-f88ee8535dd7" ma:fieldId="{f7493bb9-5348-44de-a787-5c9f505950a2}" ma:sspId="e3aebf70-341c-4d91-bdd3-aba9df361687" ma:termSetId="f105a133-66fc-4406-afa4-8b472c9cdbb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ell_x0020_SharePoint_x0020_SAEF_x0020_LegalEntityTaxHTField0" ma:index="37" ma:taxonomy="true" ma:internalName="Shell_x0020_SharePoint_x0020_SAEF_x0020_LegalEntityTaxHTField0" ma:taxonomyFieldName="Shell_x0020_SharePoint_x0020_SAEF_x0020_LegalEntity" ma:displayName="Legal Entity" ma:default="4;#SIPC|e87a5cd6-5ee1-40fb-a8de-87148f39eb12" ma:fieldId="{529dd253-148e-4d10-9b8c-1444f6695d3b}" ma:sspId="e3aebf70-341c-4d91-bdd3-aba9df361687" ma:termSetId="94b6dd6e-4329-4f68-907b-ed5bdd50f8a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ell_x0020_SharePoint_x0020_SAEF_x0020_ExportControlClassificationTaxHTField0" ma:index="38" nillable="true" ma:taxonomy="true" ma:internalName="Shell_x0020_SharePoint_x0020_SAEF_x0020_ExportControlClassificationTaxHTField0" ma:taxonomyFieldName="Shell_x0020_SharePoint_x0020_SAEF_x0020_ExportControlClassification" ma:displayName="Export Control" ma:readOnly="false" ma:default="9;#Non-US content - Non Controlled|2ac8835e-0587-4096-a6e2-1f68da1e6cb3" ma:fieldId="{334f96ae-8e6f-4bca-bd92-9698e8369ad6}" ma:sspId="e3aebf70-341c-4d91-bdd3-aba9df361687" ma:termSetId="0a37200c-155d-4bd2-8a71-6ee4023d1aa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_dlc_Exempt" ma:index="39" nillable="true" ma:displayName="Exempt from Policy" ma:hidden="true" ma:internalName="_dlc_Exempt" ma:readOnly="true">
      <xsd:simpleType>
        <xsd:restriction base="dms:Unknown"/>
      </xsd:simpleType>
    </xsd:element>
    <xsd:element name="_dlc_ExpireDateSaved" ma:index="40" nillable="true" ma:displayName="Original Expiration Date" ma:hidden="true" ma:internalName="_dlc_ExpireDateSaved" ma:readOnly="true">
      <xsd:simpleType>
        <xsd:restriction base="dms:DateTime"/>
      </xsd:simpleType>
    </xsd:element>
    <xsd:element name="_dlc_ExpireDate" ma:index="41" nillable="true" ma:displayName="Expiration Date" ma:description="" ma:hidden="true" ma:indexed="true" ma:internalName="_dlc_ExpireDate" ma:readOnly="true">
      <xsd:simpleType>
        <xsd:restriction base="dms:DateTime"/>
      </xsd:simpleType>
    </xsd:element>
    <xsd:element name="AverageRating" ma:index="42" nillable="true" ma:displayName="Rating (0-5)" ma:decimals="2" ma:description="Average value of all the ratings that have been submitted" ma:hidden="true" ma:internalName="AverageRating" ma:readOnly="true">
      <xsd:simpleType>
        <xsd:restriction base="dms:Number"/>
      </xsd:simpleType>
    </xsd:element>
    <xsd:element name="RatingCount" ma:index="43" nillable="true" ma:displayName="Number of Ratings" ma:decimals="0" ma:description="Number of ratings submitted" ma:hidden="true" ma:internalName="RatingCount" ma:readOnly="true">
      <xsd:simpleType>
        <xsd:restriction base="dms:Number"/>
      </xsd:simpleType>
    </xsd:element>
    <xsd:element name="Shell_x0020_SharePoint_x0020_SAEF_x0020_AssetIdentifier" ma:index="46" nillable="true" ma:displayName="Asset Identifier" ma:hidden="true" ma:internalName="Shell_x0020_SharePoint_x0020_SAEF_x0020_AssetIdentifier">
      <xsd:simpleType>
        <xsd:restriction base="dms:Text"/>
      </xsd:simpleType>
    </xsd:element>
    <xsd:element name="RatedBy" ma:index="51" nillable="true" ma:displayName="Rated By" ma:description="Users rated the item." ma:hidden="true" ma:list="UserInfo" ma:internalName="Rat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atings" ma:index="52" nillable="true" ma:displayName="User ratings" ma:description="User ratings for the item" ma:hidden="true" ma:internalName="Ratings">
      <xsd:simpleType>
        <xsd:restriction base="dms:Note"/>
      </xsd:simpleType>
    </xsd:element>
    <xsd:element name="LikesCount" ma:index="53" nillable="true" ma:displayName="Number of Likes" ma:internalName="LikesCount">
      <xsd:simpleType>
        <xsd:restriction base="dms:Unknown"/>
      </xsd:simpleType>
    </xsd:element>
    <xsd:element name="LikedBy" ma:index="54" nillable="true" ma:displayName="Liked By" ma:hidden="true" ma:list="UserInfo" ma:internalName="Lik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AEFSecurityClassificationTaxHTField0" ma:index="69" ma:taxonomy="true" ma:internalName="SAEFSecurityClassificationTaxHTField0" ma:taxonomyFieldName="SAEFSecurityClassification" ma:displayName="Security Classification" ma:readOnly="false" ma:default="65;#Confidential|e4bc29b2-6e76-48cc-b090-8b544c0802ae" ma:fieldId="{2ce2f798-4e95-48f9-a317-73f854109466}" ma:sspId="e3aebf70-341c-4d91-bdd3-aba9df361687" ma:termSetId="daf890f0-167e-4ee2-a9fd-a81536ed8167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f820fd-6db4-47b1-9dcb-1f7c1d9cfe14" elementFormDefault="qualified">
    <xsd:import namespace="http://schemas.microsoft.com/office/2006/documentManagement/types"/>
    <xsd:import namespace="http://schemas.microsoft.com/office/infopath/2007/PartnerControls"/>
    <xsd:element name="_dlc_DocId" ma:index="32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33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34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44" nillable="true" ma:displayName="Taxonomy Catch All Column" ma:description="" ma:hidden="true" ma:list="{94779f60-6b41-4f22-9be6-f45034c11779}" ma:internalName="TaxCatchAll" ma:showField="CatchAllData" ma:web="9ef820fd-6db4-47b1-9dcb-1f7c1d9cfe1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45" nillable="true" ma:displayName="Taxonomy Catch All Column1" ma:description="" ma:hidden="true" ma:list="{94779f60-6b41-4f22-9be6-f45034c11779}" ma:internalName="TaxCatchAllLabel" ma:readOnly="true" ma:showField="CatchAllDataLabel" ma:web="9ef820fd-6db4-47b1-9dcb-1f7c1d9cfe1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n737336bf77f4bb6bc219f352620e077" ma:index="48" nillable="true" ma:taxonomy="true" ma:internalName="n737336bf77f4bb6bc219f352620e077" ma:taxonomyFieldName="Shell_x0020_SharePoint_x0020_SIS_x0020_Organization" ma:displayName="Organization" ma:readOnly="false" ma:default="" ma:fieldId="{7737336b-f77f-4bb6-bc21-9f352620e077}" ma:sspId="e3aebf70-341c-4d91-bdd3-aba9df361687" ma:termSetId="b02d6ce4-0bfa-4ecb-bc5a-b8d13c1ee04f" ma:anchorId="54406725-be47-4297-9b7b-c7c4d6d68c36" ma:open="false" ma:isKeyword="false">
      <xsd:complexType>
        <xsd:sequence>
          <xsd:element ref="pc:Terms" minOccurs="0" maxOccurs="1"/>
        </xsd:sequence>
      </xsd:complexType>
    </xsd:element>
    <xsd:element name="ca0f85b739b04089bd42fc5758e4ace8" ma:index="49" nillable="true" ma:taxonomy="true" ma:internalName="ca0f85b739b04089bd42fc5758e4ace8" ma:taxonomyFieldName="Shell_x0020_SharePoint_x0020_SIS_x0020_ProcessArea" ma:displayName="Process Area" ma:readOnly="false" ma:default="" ma:fieldId="{ca0f85b7-39b0-4089-bd42-fc5758e4ace8}" ma:sspId="e3aebf70-341c-4d91-bdd3-aba9df361687" ma:termSetId="b02d6ce4-0bfa-4ecb-bc5a-b8d13c1ee04f" ma:anchorId="59f7833b-8d5e-418a-9b6d-eda64cf1ea9c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752767-7ddc-4239-ad6e-f1e8fd869e6d" elementFormDefault="qualified">
    <xsd:import namespace="http://schemas.microsoft.com/office/2006/documentManagement/types"/>
    <xsd:import namespace="http://schemas.microsoft.com/office/infopath/2007/PartnerControls"/>
    <xsd:element name="LivelinkID" ma:index="50" nillable="true" ma:displayName="LivelinkID" ma:indexed="true" ma:internalName="LivelinkID">
      <xsd:simpleType>
        <xsd:restriction base="dms:Text"/>
      </xsd:simpleType>
    </xsd:element>
    <xsd:element name="MediaServiceMetadata" ma:index="5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5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EventHashCode" ma:index="6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6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Tags" ma:index="62" nillable="true" ma:displayName="MediaServiceAutoTags" ma:internalName="MediaServiceAutoTags" ma:readOnly="true">
      <xsd:simpleType>
        <xsd:restriction base="dms:Text"/>
      </xsd:simpleType>
    </xsd:element>
    <xsd:element name="MediaServiceOCR" ma:index="6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6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6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6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6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72" nillable="true" ma:taxonomy="true" ma:internalName="lcf76f155ced4ddcb4097134ff3c332f" ma:taxonomyFieldName="MediaServiceImageTags" ma:displayName="Image Tags" ma:readOnly="false" ma:fieldId="{5cf76f15-5ced-4ddc-b409-7134ff3c332f}" ma:taxonomyMulti="true" ma:sspId="e3aebf70-341c-4d91-bdd3-aba9df36168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7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7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7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088cd6-f285-401a-9305-b2d9deb619f1" elementFormDefault="qualified">
    <xsd:import namespace="http://schemas.microsoft.com/office/2006/documentManagement/types"/>
    <xsd:import namespace="http://schemas.microsoft.com/office/infopath/2007/PartnerControls"/>
    <xsd:element name="Key_x0020_Word_x0020_Selection" ma:index="55" nillable="true" ma:displayName="Key Word Selection" ma:default="General" ma:description="Document key words" ma:internalName="Key_x0020_Word_x0020_Selection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3D Printing"/>
                    <xsd:enumeration value="Capacity"/>
                    <xsd:enumeration value="Chemicals"/>
                    <xsd:enumeration value="China"/>
                    <xsd:enumeration value="Consultant"/>
                    <xsd:enumeration value="Crude Oil"/>
                    <xsd:enumeration value="Demand"/>
                    <xsd:enumeration value="Economics"/>
                    <xsd:enumeration value="Ethane"/>
                    <xsd:enumeration value="Ethane"/>
                    <xsd:enumeration value="Gas Oil"/>
                    <xsd:enumeration value="Gasoline"/>
                    <xsd:enumeration value="General"/>
                    <xsd:enumeration value="HSSE"/>
                    <xsd:enumeration value="IMO"/>
                    <xsd:enumeration value="KM"/>
                    <xsd:enumeration value="LPG"/>
                    <xsd:enumeration value="Macro Trends"/>
                    <xsd:enumeration value="Naphtha"/>
                    <xsd:enumeration value="Natural Gas"/>
                    <xsd:enumeration value="NGLs"/>
                    <xsd:enumeration value="OCSVs"/>
                    <xsd:enumeration value="Oil Products"/>
                    <xsd:enumeration value="Refining"/>
                    <xsd:enumeration value="Screening Values"/>
                    <xsd:enumeration value="SharePoint"/>
                    <xsd:enumeration value="Supply"/>
                    <xsd:enumeration value="Tools"/>
                    <xsd:enumeration value="VGO"/>
                  </xsd:restriction>
                </xsd:simpleType>
              </xsd:element>
            </xsd:sequence>
          </xsd:extension>
        </xsd:complexContent>
      </xsd:complexType>
    </xsd:element>
    <xsd:element name="SharedWithUsers" ma:index="56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57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65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 ma:index="5" ma:displayName="Author"/>
        <xsd:element ref="dcterms:created" minOccurs="0" maxOccurs="1"/>
        <xsd:element ref="dc:identifier" minOccurs="0" maxOccurs="1"/>
        <xsd:element name="contentType" minOccurs="0" maxOccurs="1" type="xsd:string" ma:index="17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F50C4BF-62CF-48CE-969D-59A5F558C25B}"/>
</file>

<file path=customXml/itemProps2.xml><?xml version="1.0" encoding="utf-8"?>
<ds:datastoreItem xmlns:ds="http://schemas.openxmlformats.org/officeDocument/2006/customXml" ds:itemID="{204CD713-AE01-42BE-9E03-31463CC436BA}"/>
</file>

<file path=customXml/itemProps3.xml><?xml version="1.0" encoding="utf-8"?>
<ds:datastoreItem xmlns:ds="http://schemas.openxmlformats.org/officeDocument/2006/customXml" ds:itemID="{4FE3B36A-2FDB-43C8-A4F8-BA8A83EB3660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6CAE002A-7645-46A2-8C4A-738EDFAA7ED3}">
  <ds:schemaRefs>
    <ds:schemaRef ds:uri="http://purl.org/dc/dcmitype/"/>
    <ds:schemaRef ds:uri="9ef820fd-6db4-47b1-9dcb-1f7c1d9cfe14"/>
    <ds:schemaRef ds:uri="bb088cd6-f285-401a-9305-b2d9deb619f1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ab752767-7ddc-4239-ad6e-f1e8fd869e6d"/>
    <ds:schemaRef ds:uri="http://schemas.microsoft.com/sharepoint/v4"/>
    <ds:schemaRef ds:uri="http://purl.org/dc/elements/1.1/"/>
    <ds:schemaRef ds:uri="http://schemas.microsoft.com/sharepoint/v3"/>
    <ds:schemaRef ds:uri="http://schemas.microsoft.com/office/2006/metadata/properties"/>
    <ds:schemaRef ds:uri="http://www.w3.org/XML/1998/namespace"/>
  </ds:schemaRefs>
</ds:datastoreItem>
</file>

<file path=customXml/itemProps5.xml><?xml version="1.0" encoding="utf-8"?>
<ds:datastoreItem xmlns:ds="http://schemas.openxmlformats.org/officeDocument/2006/customXml" ds:itemID="{45A41A7D-6C5D-4697-86DC-B8CD42E303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9ef820fd-6db4-47b1-9dcb-1f7c1d9cfe14"/>
    <ds:schemaRef ds:uri="ab752767-7ddc-4239-ad6e-f1e8fd869e6d"/>
    <ds:schemaRef ds:uri="bb088cd6-f285-401a-9305-b2d9deb619f1"/>
    <ds:schemaRef ds:uri="http://schemas.microsoft.com/sharepoint/v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d0cb1e24-a0e2-4a4c-9340-733297c9cd7c}" enabled="1" method="Privileged" siteId="{db1e96a8-a3da-442a-930b-235cac24cd5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847</TotalTime>
  <Words>481</Words>
  <Application>Microsoft Office PowerPoint</Application>
  <PresentationFormat>Custom</PresentationFormat>
  <Paragraphs>79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Aptos Display</vt:lpstr>
      <vt:lpstr>ShellHeavy</vt:lpstr>
      <vt:lpstr>Wingdings</vt:lpstr>
      <vt:lpstr>Aptos</vt:lpstr>
      <vt:lpstr>Futura Medium</vt:lpstr>
      <vt:lpstr>ShellMedium</vt:lpstr>
      <vt:lpstr>Shell layouts with footer</vt:lpstr>
      <vt:lpstr>think-cell Slide</vt:lpstr>
      <vt:lpstr>PowerPoint Presentation</vt:lpstr>
    </vt:vector>
  </TitlesOfParts>
  <Company>Shell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CO2 Valuation Challenges</dc:title>
  <dc:creator>Thomas.Lopez@shell.com</dc:creator>
  <cp:keywords>GEC'17</cp:keywords>
  <cp:lastModifiedBy>Kenter, Olivier CH SNV-FR/S/E</cp:lastModifiedBy>
  <cp:revision>16</cp:revision>
  <cp:lastPrinted>2017-04-25T09:06:38Z</cp:lastPrinted>
  <dcterms:created xsi:type="dcterms:W3CDTF">2009-11-25T14:32:06Z</dcterms:created>
  <dcterms:modified xsi:type="dcterms:W3CDTF">2026-08-31T16:00:22Z</dcterms:modified>
  <cp:category>Poster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WizKit Template Type">
    <vt:lpwstr>Widescreen</vt:lpwstr>
  </property>
  <property fmtid="{D5CDD505-2E9C-101B-9397-08002B2CF9AE}" pid="3" name="WizKit Template Version">
    <vt:i4>4</vt:i4>
  </property>
  <property fmtid="{D5CDD505-2E9C-101B-9397-08002B2CF9AE}" pid="4" name="_dlc_policyId">
    <vt:lpwstr/>
  </property>
  <property fmtid="{D5CDD505-2E9C-101B-9397-08002B2CF9AE}" pid="5" name="ItemRetentionFormula">
    <vt:lpwstr/>
  </property>
  <property fmtid="{D5CDD505-2E9C-101B-9397-08002B2CF9AE}" pid="6" name="Shell SharePoint SAEF KeepFileLocal">
    <vt:bool>false</vt:bool>
  </property>
  <property fmtid="{D5CDD505-2E9C-101B-9397-08002B2CF9AE}" pid="7" name="Shell SharePoint SAEF WorkgroupIDTaxHTField0">
    <vt:lpwstr>UIB Commercial, New Business ＆ LNG - 11947|52d8a608-ed1f-401e-8ffb-8cc5334b8b42</vt:lpwstr>
  </property>
  <property fmtid="{D5CDD505-2E9C-101B-9397-08002B2CF9AE}" pid="8" name="Shell SharePoint SAEF SecurityClassificationTaxHTField0">
    <vt:lpwstr>Restricted|21aa7f98-4035-4019-a764-107acb7269af</vt:lpwstr>
  </property>
  <property fmtid="{D5CDD505-2E9C-101B-9397-08002B2CF9AE}" pid="9" name="SME Areas">
    <vt:lpwstr/>
  </property>
  <property fmtid="{D5CDD505-2E9C-101B-9397-08002B2CF9AE}" pid="10" name="Shell SharePoint SAEF DocumentStatus">
    <vt:lpwstr>11;#Draft|1c86f377-7d91-4c95-bd5b-c18c83fe0aa5</vt:lpwstr>
  </property>
  <property fmtid="{D5CDD505-2E9C-101B-9397-08002B2CF9AE}" pid="11" name="SME Keywords">
    <vt:lpwstr/>
  </property>
  <property fmtid="{D5CDD505-2E9C-101B-9397-08002B2CF9AE}" pid="12" name="Shell SharePoint SAEF SiteCollectionName">
    <vt:lpwstr>Global Upstream Economics Portal</vt:lpwstr>
  </property>
  <property fmtid="{D5CDD505-2E9C-101B-9397-08002B2CF9AE}" pid="13" name="Order">
    <vt:r8>284000</vt:r8>
  </property>
  <property fmtid="{D5CDD505-2E9C-101B-9397-08002B2CF9AE}" pid="14" name="xd_Signature">
    <vt:bool>false</vt:bool>
  </property>
  <property fmtid="{D5CDD505-2E9C-101B-9397-08002B2CF9AE}" pid="15" name="Shell SharePoint SAEF GlobalFunctionTaxHTField0">
    <vt:lpwstr>Sustainable Development|2fbcccf5-c9b5-4b2d-984f-9a9b70c47e11</vt:lpwstr>
  </property>
  <property fmtid="{D5CDD505-2E9C-101B-9397-08002B2CF9AE}" pid="16" name="Shell SharePoint SAEF DocumentTypeTaxHTField0">
    <vt:lpwstr>Study results|073ec550-c791-4e3f-9683-953f7d5eb953</vt:lpwstr>
  </property>
  <property fmtid="{D5CDD505-2E9C-101B-9397-08002B2CF9AE}" pid="17" name="xd_ProgID">
    <vt:lpwstr/>
  </property>
  <property fmtid="{D5CDD505-2E9C-101B-9397-08002B2CF9AE}" pid="18" name="Shell SharePoint SAEF SiteOwner">
    <vt:lpwstr>Peter Grieve</vt:lpwstr>
  </property>
  <property fmtid="{D5CDD505-2E9C-101B-9397-08002B2CF9AE}" pid="19" name="Shell SharePoint SAEF LanguageTaxHTField0">
    <vt:lpwstr>English|bd3ad5ee-f0c3-40aa-8cc8-36ef09940af3</vt:lpwstr>
  </property>
  <property fmtid="{D5CDD505-2E9C-101B-9397-08002B2CF9AE}" pid="20" name="Shell SharePoint SAEF CountryOfJurisdictionTaxHTField0">
    <vt:lpwstr>NETHERLANDS|54565ecb-470f-40ea-a584-819150a65a13</vt:lpwstr>
  </property>
  <property fmtid="{D5CDD505-2E9C-101B-9397-08002B2CF9AE}" pid="21" name="ComplianceAssetId">
    <vt:lpwstr/>
  </property>
  <property fmtid="{D5CDD505-2E9C-101B-9397-08002B2CF9AE}" pid="22" name="TemplateUrl">
    <vt:lpwstr/>
  </property>
  <property fmtid="{D5CDD505-2E9C-101B-9397-08002B2CF9AE}" pid="23" name="Shell SharePoint SAEF BusinessUnitRegionTaxHTField0">
    <vt:lpwstr>Upstream International|dabf15d9-4f75-4ed1-b8a1-a0c3e2a85888</vt:lpwstr>
  </property>
  <property fmtid="{D5CDD505-2E9C-101B-9397-08002B2CF9AE}" pid="24" name="Shell SharePoint SAEF DocumentStatusTaxHTField0">
    <vt:lpwstr>Draft|1c86f377-7d91-4c95-bd5b-c18c83fe0aa5</vt:lpwstr>
  </property>
  <property fmtid="{D5CDD505-2E9C-101B-9397-08002B2CF9AE}" pid="25" name="Shell SharePoint SAEF BusinessProcessTaxHTField0">
    <vt:lpwstr>Develop New Business|8f030812-6a49-4616-837f-b8f0f1d07b9c</vt:lpwstr>
  </property>
  <property fmtid="{D5CDD505-2E9C-101B-9397-08002B2CF9AE}" pid="26" name="Shell SharePoint SAEF BusinessTaxHTField0">
    <vt:lpwstr>Upstream International|dabf15d9-4f75-4ed1-b8a1-a0c3e2a85888</vt:lpwstr>
  </property>
  <property fmtid="{D5CDD505-2E9C-101B-9397-08002B2CF9AE}" pid="27" name="Shell SharePoint SAEF Collection">
    <vt:bool>false</vt:bool>
  </property>
  <property fmtid="{D5CDD505-2E9C-101B-9397-08002B2CF9AE}" pid="28" name="_ExtendedDescription">
    <vt:lpwstr/>
  </property>
  <property fmtid="{D5CDD505-2E9C-101B-9397-08002B2CF9AE}" pid="29" name="Shell SharePoint SAEF ExportControlClassificationTaxHTField0">
    <vt:lpwstr>Non-US content - Non Controlled|2ac8835e-0587-4096-a6e2-1f68da1e6cb3</vt:lpwstr>
  </property>
  <property fmtid="{D5CDD505-2E9C-101B-9397-08002B2CF9AE}" pid="30" name="TriggerFlowInfo">
    <vt:lpwstr/>
  </property>
  <property fmtid="{D5CDD505-2E9C-101B-9397-08002B2CF9AE}" pid="31" name="Shell SharePoint SAEF LegalEntityTaxHTField0">
    <vt:lpwstr>SIEP|ca814f84-fd49-4cca-9dd4-ac559012442b</vt:lpwstr>
  </property>
  <property fmtid="{D5CDD505-2E9C-101B-9397-08002B2CF9AE}" pid="32" name="MediaServiceImageTags">
    <vt:lpwstr/>
  </property>
  <property fmtid="{D5CDD505-2E9C-101B-9397-08002B2CF9AE}" pid="33" name="Shell_x0020_SharePoint_x0020_SIS_x0020_ProcessArea">
    <vt:lpwstr/>
  </property>
  <property fmtid="{D5CDD505-2E9C-101B-9397-08002B2CF9AE}" pid="34" name="Shell SharePoint SAEF LegalEntity">
    <vt:lpwstr>137;#SIEP|ca814f84-fd49-4cca-9dd4-ac559012442b</vt:lpwstr>
  </property>
  <property fmtid="{D5CDD505-2E9C-101B-9397-08002B2CF9AE}" pid="35" name="Shell_x0020_SharePoint_x0020_SAEF_x0020_BusinessUnitRegion">
    <vt:lpwstr>82;#Upstream International|dabf15d9-4f75-4ed1-b8a1-a0c3e2a85888</vt:lpwstr>
  </property>
  <property fmtid="{D5CDD505-2E9C-101B-9397-08002B2CF9AE}" pid="36" name="Shell SharePoint SAEF Language">
    <vt:lpwstr>6;#English|bd3ad5ee-f0c3-40aa-8cc8-36ef09940af3</vt:lpwstr>
  </property>
  <property fmtid="{D5CDD505-2E9C-101B-9397-08002B2CF9AE}" pid="37" name="Shell SharePoint SAEF CountryOfJurisdiction">
    <vt:lpwstr>45;#NETHERLANDS|54565ecb-470f-40ea-a584-819150a65a13</vt:lpwstr>
  </property>
  <property fmtid="{D5CDD505-2E9C-101B-9397-08002B2CF9AE}" pid="38" name="Shell SharePoint SAEF BusinessProcess">
    <vt:lpwstr>84;#Develop New Business|8f030812-6a49-4616-837f-b8f0f1d07b9c</vt:lpwstr>
  </property>
  <property fmtid="{D5CDD505-2E9C-101B-9397-08002B2CF9AE}" pid="39" name="Shell_x0020_SharePoint_x0020_SAEF_x0020_DocumentStatus">
    <vt:lpwstr>11;#Draft|1c86f377-7d91-4c95-bd5b-c18c83fe0aa5</vt:lpwstr>
  </property>
  <property fmtid="{D5CDD505-2E9C-101B-9397-08002B2CF9AE}" pid="40" name="Shell_x0020_SharePoint_x0020_SAEF_x0020_DocumentType">
    <vt:lpwstr>278;#Study results|073ec550-c791-4e3f-9683-953f7d5eb953</vt:lpwstr>
  </property>
  <property fmtid="{D5CDD505-2E9C-101B-9397-08002B2CF9AE}" pid="41" name="Shell SharePoint SAEF Business">
    <vt:lpwstr>82;#Upstream International|dabf15d9-4f75-4ed1-b8a1-a0c3e2a85888</vt:lpwstr>
  </property>
  <property fmtid="{D5CDD505-2E9C-101B-9397-08002B2CF9AE}" pid="42" name="Shell_x0020_SharePoint_x0020_SAEF_x0020_ExportControlClassification">
    <vt:lpwstr>9;#Non-US content - Non Controlled|2ac8835e-0587-4096-a6e2-1f68da1e6cb3</vt:lpwstr>
  </property>
  <property fmtid="{D5CDD505-2E9C-101B-9397-08002B2CF9AE}" pid="43" name="Shell_x0020_SharePoint_x0020_SAEF_x0020_GlobalFunction">
    <vt:lpwstr>111;#Sustainable Development|2fbcccf5-c9b5-4b2d-984f-9a9b70c47e11</vt:lpwstr>
  </property>
  <property fmtid="{D5CDD505-2E9C-101B-9397-08002B2CF9AE}" pid="44" name="Shell SharePoint SAEF BusinessUnitRegion">
    <vt:lpwstr>82;#Upstream International|dabf15d9-4f75-4ed1-b8a1-a0c3e2a85888</vt:lpwstr>
  </property>
  <property fmtid="{D5CDD505-2E9C-101B-9397-08002B2CF9AE}" pid="45" name="ContentTypeId">
    <vt:lpwstr>0x0101006F0A470EEB1140E7AA14F4CE8A50B54C0001CB1477F4DD432AA86DD56CC3887AF400F644A78CBFDAD44983885002DC8B3358</vt:lpwstr>
  </property>
  <property fmtid="{D5CDD505-2E9C-101B-9397-08002B2CF9AE}" pid="46" name="Shell SharePoint SAEF ExportControlClassification">
    <vt:lpwstr>9;#Non-US content - Non Controlled|2ac8835e-0587-4096-a6e2-1f68da1e6cb3</vt:lpwstr>
  </property>
  <property fmtid="{D5CDD505-2E9C-101B-9397-08002B2CF9AE}" pid="47" name="Shell_x0020_SharePoint_x0020_SAEF_x0020_LegalEntity">
    <vt:lpwstr>137;#SIEP|ca814f84-fd49-4cca-9dd4-ac559012442b</vt:lpwstr>
  </property>
  <property fmtid="{D5CDD505-2E9C-101B-9397-08002B2CF9AE}" pid="48" name="Shell SharePoint SIS Organization">
    <vt:lpwstr/>
  </property>
  <property fmtid="{D5CDD505-2E9C-101B-9397-08002B2CF9AE}" pid="49" name="Shell SharePoint SAEF DocumentType">
    <vt:lpwstr>278;#Study results|073ec550-c791-4e3f-9683-953f7d5eb953</vt:lpwstr>
  </property>
  <property fmtid="{D5CDD505-2E9C-101B-9397-08002B2CF9AE}" pid="50" name="Shell_x0020_SharePoint_x0020_SAEF_x0020_BusinessProcess">
    <vt:lpwstr>84;#Develop New Business|8f030812-6a49-4616-837f-b8f0f1d07b9c</vt:lpwstr>
  </property>
  <property fmtid="{D5CDD505-2E9C-101B-9397-08002B2CF9AE}" pid="51" name="Shell_x0020_SharePoint_x0020_SAEF_x0020_CountryOfJurisdiction">
    <vt:lpwstr>45;#NETHERLANDS|54565ecb-470f-40ea-a584-819150a65a13</vt:lpwstr>
  </property>
  <property fmtid="{D5CDD505-2E9C-101B-9397-08002B2CF9AE}" pid="52" name="Shell SharePoint SAEF GlobalFunction">
    <vt:lpwstr>111;#Sustainable Development|2fbcccf5-c9b5-4b2d-984f-9a9b70c47e11</vt:lpwstr>
  </property>
  <property fmtid="{D5CDD505-2E9C-101B-9397-08002B2CF9AE}" pid="53" name="Shell_x0020_SharePoint_x0020_SAEF_x0020_Language">
    <vt:lpwstr>6;#English|bd3ad5ee-f0c3-40aa-8cc8-36ef09940af3</vt:lpwstr>
  </property>
  <property fmtid="{D5CDD505-2E9C-101B-9397-08002B2CF9AE}" pid="54" name="SAEFSecurityClassification">
    <vt:lpwstr>1;#Restricted|21aa7f98-4035-4019-a764-107acb7269af</vt:lpwstr>
  </property>
  <property fmtid="{D5CDD505-2E9C-101B-9397-08002B2CF9AE}" pid="55" name="Shell_x0020_SharePoint_x0020_SIS_x0020_Organization">
    <vt:lpwstr/>
  </property>
  <property fmtid="{D5CDD505-2E9C-101B-9397-08002B2CF9AE}" pid="56" name="Shell SharePoint SIS ProcessArea">
    <vt:lpwstr/>
  </property>
  <property fmtid="{D5CDD505-2E9C-101B-9397-08002B2CF9AE}" pid="57" name="Shell_x0020_SharePoint_x0020_SAEF_x0020_Business">
    <vt:lpwstr>82;#Upstream International|dabf15d9-4f75-4ed1-b8a1-a0c3e2a85888</vt:lpwstr>
  </property>
  <property fmtid="{D5CDD505-2E9C-101B-9397-08002B2CF9AE}" pid="58" name="_dlc_DocIdItemGuid">
    <vt:lpwstr>1f30b98f-cdb7-4f73-9576-9211ec138a97</vt:lpwstr>
  </property>
</Properties>
</file>