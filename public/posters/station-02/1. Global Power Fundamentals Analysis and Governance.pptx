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6"/>
  </p:sldMasterIdLst>
  <p:notesMasterIdLst>
    <p:notesMasterId r:id="rId8"/>
  </p:notesMasterIdLst>
  <p:handoutMasterIdLst>
    <p:handoutMasterId r:id="rId9"/>
  </p:handoutMasterIdLst>
  <p:sldIdLst>
    <p:sldId id="359" r:id="rId7"/>
  </p:sldIdLst>
  <p:sldSz cx="30275213" cy="42803763"/>
  <p:notesSz cx="9926638" cy="14355763"/>
  <p:embeddedFontLst>
    <p:embeddedFont>
      <p:font typeface="Futura Medium" panose="00000800000000000000"/>
      <p:regular r:id="rId10"/>
      <p:bold r:id="rId11"/>
      <p:italic r:id="rId12"/>
      <p:boldItalic r:id="rId13"/>
    </p:embeddedFont>
  </p:embeddedFontLst>
  <p:defaultTextStyle>
    <a:defPPr>
      <a:defRPr lang="en-US"/>
    </a:defPPr>
    <a:lvl1pPr marL="0" algn="l" defTabSz="4676973" rtl="0" eaLnBrk="1" latinLnBrk="0" hangingPunct="1">
      <a:defRPr sz="9207" kern="1200">
        <a:solidFill>
          <a:schemeClr val="tx1"/>
        </a:solidFill>
        <a:latin typeface="+mn-lt"/>
        <a:ea typeface="+mn-ea"/>
        <a:cs typeface="+mn-cs"/>
      </a:defRPr>
    </a:lvl1pPr>
    <a:lvl2pPr marL="2338487" algn="l" defTabSz="4676973" rtl="0" eaLnBrk="1" latinLnBrk="0" hangingPunct="1">
      <a:defRPr sz="9207" kern="1200">
        <a:solidFill>
          <a:schemeClr val="tx1"/>
        </a:solidFill>
        <a:latin typeface="+mn-lt"/>
        <a:ea typeface="+mn-ea"/>
        <a:cs typeface="+mn-cs"/>
      </a:defRPr>
    </a:lvl2pPr>
    <a:lvl3pPr marL="4676973" algn="l" defTabSz="4676973" rtl="0" eaLnBrk="1" latinLnBrk="0" hangingPunct="1">
      <a:defRPr sz="9207" kern="1200">
        <a:solidFill>
          <a:schemeClr val="tx1"/>
        </a:solidFill>
        <a:latin typeface="+mn-lt"/>
        <a:ea typeface="+mn-ea"/>
        <a:cs typeface="+mn-cs"/>
      </a:defRPr>
    </a:lvl3pPr>
    <a:lvl4pPr marL="7015460" algn="l" defTabSz="4676973" rtl="0" eaLnBrk="1" latinLnBrk="0" hangingPunct="1">
      <a:defRPr sz="9207" kern="1200">
        <a:solidFill>
          <a:schemeClr val="tx1"/>
        </a:solidFill>
        <a:latin typeface="+mn-lt"/>
        <a:ea typeface="+mn-ea"/>
        <a:cs typeface="+mn-cs"/>
      </a:defRPr>
    </a:lvl4pPr>
    <a:lvl5pPr marL="9353946" algn="l" defTabSz="4676973" rtl="0" eaLnBrk="1" latinLnBrk="0" hangingPunct="1">
      <a:defRPr sz="9207" kern="1200">
        <a:solidFill>
          <a:schemeClr val="tx1"/>
        </a:solidFill>
        <a:latin typeface="+mn-lt"/>
        <a:ea typeface="+mn-ea"/>
        <a:cs typeface="+mn-cs"/>
      </a:defRPr>
    </a:lvl5pPr>
    <a:lvl6pPr marL="11692433" algn="l" defTabSz="4676973" rtl="0" eaLnBrk="1" latinLnBrk="0" hangingPunct="1">
      <a:defRPr sz="9207" kern="1200">
        <a:solidFill>
          <a:schemeClr val="tx1"/>
        </a:solidFill>
        <a:latin typeface="+mn-lt"/>
        <a:ea typeface="+mn-ea"/>
        <a:cs typeface="+mn-cs"/>
      </a:defRPr>
    </a:lvl6pPr>
    <a:lvl7pPr marL="14030919" algn="l" defTabSz="4676973" rtl="0" eaLnBrk="1" latinLnBrk="0" hangingPunct="1">
      <a:defRPr sz="9207" kern="1200">
        <a:solidFill>
          <a:schemeClr val="tx1"/>
        </a:solidFill>
        <a:latin typeface="+mn-lt"/>
        <a:ea typeface="+mn-ea"/>
        <a:cs typeface="+mn-cs"/>
      </a:defRPr>
    </a:lvl7pPr>
    <a:lvl8pPr marL="16369406" algn="l" defTabSz="4676973" rtl="0" eaLnBrk="1" latinLnBrk="0" hangingPunct="1">
      <a:defRPr sz="9207" kern="1200">
        <a:solidFill>
          <a:schemeClr val="tx1"/>
        </a:solidFill>
        <a:latin typeface="+mn-lt"/>
        <a:ea typeface="+mn-ea"/>
        <a:cs typeface="+mn-cs"/>
      </a:defRPr>
    </a:lvl8pPr>
    <a:lvl9pPr marL="18707892" algn="l" defTabSz="4676973" rtl="0" eaLnBrk="1" latinLnBrk="0" hangingPunct="1">
      <a:defRPr sz="920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98" userDrawn="1">
          <p15:clr>
            <a:srgbClr val="A4A3A4"/>
          </p15:clr>
        </p15:guide>
        <p15:guide id="2" orient="horz" pos="890" userDrawn="1">
          <p15:clr>
            <a:srgbClr val="A4A3A4"/>
          </p15:clr>
        </p15:guide>
        <p15:guide id="3" orient="horz" pos="5143" userDrawn="1">
          <p15:clr>
            <a:srgbClr val="A4A3A4"/>
          </p15:clr>
        </p15:guide>
        <p15:guide id="4" orient="horz" pos="2938" userDrawn="1">
          <p15:clr>
            <a:srgbClr val="A4A3A4"/>
          </p15:clr>
        </p15:guide>
        <p15:guide id="5" orient="horz" pos="25141" userDrawn="1">
          <p15:clr>
            <a:srgbClr val="A4A3A4"/>
          </p15:clr>
        </p15:guide>
        <p15:guide id="6" orient="horz" pos="13074" userDrawn="1">
          <p15:clr>
            <a:srgbClr val="A4A3A4"/>
          </p15:clr>
        </p15:guide>
        <p15:guide id="7" pos="18098" userDrawn="1">
          <p15:clr>
            <a:srgbClr val="A4A3A4"/>
          </p15:clr>
        </p15:guide>
        <p15:guide id="8" pos="9244" userDrawn="1">
          <p15:clr>
            <a:srgbClr val="A4A3A4"/>
          </p15:clr>
        </p15:guide>
        <p15:guide id="9" pos="977" userDrawn="1">
          <p15:clr>
            <a:srgbClr val="A4A3A4"/>
          </p15:clr>
        </p15:guide>
        <p15:guide id="10" pos="9843" userDrawn="1">
          <p15:clr>
            <a:srgbClr val="A4A3A4"/>
          </p15:clr>
        </p15:guide>
      </p15:sldGuideLst>
    </p:ext>
    <p:ext uri="{2D200454-40CA-4A62-9FC3-DE9A4176ACB9}">
      <p15:notesGuideLst xmlns:p15="http://schemas.microsoft.com/office/powerpoint/2012/main">
        <p15:guide id="1" orient="horz" pos="4522" userDrawn="1">
          <p15:clr>
            <a:srgbClr val="A4A3A4"/>
          </p15:clr>
        </p15:guide>
        <p15:guide id="2" pos="3127"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B2733F-75F3-D242-A7B9-ED60827E55EB}" name="Heuberger-Austin, Clara F SEPCO-FR/S/N" initials="CH" userId="S::Clara.Heuberger@shell.com::87e57f05-d552-4f73-ae8f-4b5a2dfc607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D117"/>
    <a:srgbClr val="D42E12"/>
    <a:srgbClr val="8FD1E3"/>
    <a:srgbClr val="FFEECA"/>
    <a:srgbClr val="F49600"/>
    <a:srgbClr val="FFFFFF"/>
    <a:srgbClr val="CCE9DB"/>
    <a:srgbClr val="99CDB7"/>
    <a:srgbClr val="66B492"/>
    <a:srgbClr val="339B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6E91C2-81F6-41C9-B4F4-06B0FFBC5A4E}" v="9" dt="2026-08-17T11:02:20.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263" autoAdjust="0"/>
    <p:restoredTop sz="94411" autoAdjust="0"/>
  </p:normalViewPr>
  <p:slideViewPr>
    <p:cSldViewPr snapToGrid="0">
      <p:cViewPr varScale="1">
        <p:scale>
          <a:sx n="15" d="100"/>
          <a:sy n="15" d="100"/>
        </p:scale>
        <p:origin x="2822" y="106"/>
      </p:cViewPr>
      <p:guideLst>
        <p:guide orient="horz" pos="25998"/>
        <p:guide orient="horz" pos="890"/>
        <p:guide orient="horz" pos="5143"/>
        <p:guide orient="horz" pos="2938"/>
        <p:guide orient="horz" pos="25141"/>
        <p:guide orient="horz" pos="13074"/>
        <p:guide pos="18098"/>
        <p:guide pos="9244"/>
        <p:guide pos="977"/>
        <p:guide pos="9843"/>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4522"/>
        <p:guide pos="312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1.fntdata"/><Relationship Id="rId19" Type="http://schemas.microsoft.com/office/2018/10/relationships/authors" Target="authors.xml"/><Relationship Id="rId4" Type="http://schemas.openxmlformats.org/officeDocument/2006/relationships/customXml" Target="../customXml/item4.xml"/><Relationship Id="rId9" Type="http://schemas.openxmlformats.org/officeDocument/2006/relationships/handoutMaster" Target="handoutMasters/handoutMaster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vl1pPr>
          </a:lstStyle>
          <a:p>
            <a:endParaRPr lang="en-GB">
              <a:latin typeface="Futura Medium" pitchFamily="2" charset="0"/>
            </a:endParaRPr>
          </a:p>
        </p:txBody>
      </p:sp>
      <p:sp>
        <p:nvSpPr>
          <p:cNvPr id="3" name="Date Placeholder 2"/>
          <p:cNvSpPr>
            <a:spLocks noGrp="1"/>
          </p:cNvSpPr>
          <p:nvPr>
            <p:ph type="dt" sz="quarter" idx="1"/>
          </p:nvPr>
        </p:nvSpPr>
        <p:spPr>
          <a:xfrm>
            <a:off x="5622802" y="0"/>
            <a:ext cx="4301543" cy="717788"/>
          </a:xfrm>
          <a:prstGeom prst="rect">
            <a:avLst/>
          </a:prstGeom>
        </p:spPr>
        <p:txBody>
          <a:bodyPr vert="horz" lIns="134275" tIns="67137" rIns="134275" bIns="67137" rtlCol="0"/>
          <a:lstStyle>
            <a:lvl1pPr algn="r">
              <a:defRPr sz="1700"/>
            </a:lvl1pPr>
          </a:lstStyle>
          <a:p>
            <a:fld id="{78688C09-A274-4C07-9395-CBE67C0DE912}" type="datetimeFigureOut">
              <a:rPr lang="en-GB" smtClean="0">
                <a:latin typeface="Futura Medium" pitchFamily="2" charset="0"/>
              </a:rPr>
              <a:pPr/>
              <a:t>17/08/2026</a:t>
            </a:fld>
            <a:endParaRPr lang="en-GB">
              <a:latin typeface="Futura Medium" pitchFamily="2" charset="0"/>
            </a:endParaRPr>
          </a:p>
        </p:txBody>
      </p:sp>
      <p:sp>
        <p:nvSpPr>
          <p:cNvPr id="4" name="Footer Placeholder 3"/>
          <p:cNvSpPr>
            <a:spLocks noGrp="1"/>
          </p:cNvSpPr>
          <p:nvPr>
            <p:ph type="ftr" sz="quarter" idx="2"/>
          </p:nvPr>
        </p:nvSpPr>
        <p:spPr>
          <a:xfrm>
            <a:off x="2" y="13635483"/>
            <a:ext cx="4301543" cy="717788"/>
          </a:xfrm>
          <a:prstGeom prst="rect">
            <a:avLst/>
          </a:prstGeom>
        </p:spPr>
        <p:txBody>
          <a:bodyPr vert="horz" lIns="134275" tIns="67137" rIns="134275" bIns="67137" rtlCol="0" anchor="b"/>
          <a:lstStyle>
            <a:lvl1pPr algn="l">
              <a:defRPr sz="1700"/>
            </a:lvl1pPr>
          </a:lstStyle>
          <a:p>
            <a:endParaRPr lang="en-GB">
              <a:latin typeface="Futura Medium" pitchFamily="2" charset="0"/>
            </a:endParaRPr>
          </a:p>
        </p:txBody>
      </p:sp>
      <p:sp>
        <p:nvSpPr>
          <p:cNvPr id="5" name="Slide Number Placeholder 4"/>
          <p:cNvSpPr>
            <a:spLocks noGrp="1"/>
          </p:cNvSpPr>
          <p:nvPr>
            <p:ph type="sldNum" sz="quarter" idx="3"/>
          </p:nvPr>
        </p:nvSpPr>
        <p:spPr>
          <a:xfrm>
            <a:off x="5622802" y="13635483"/>
            <a:ext cx="4301543" cy="717788"/>
          </a:xfrm>
          <a:prstGeom prst="rect">
            <a:avLst/>
          </a:prstGeom>
        </p:spPr>
        <p:txBody>
          <a:bodyPr vert="horz" lIns="134275" tIns="67137" rIns="134275" bIns="67137" rtlCol="0" anchor="b"/>
          <a:lstStyle>
            <a:lvl1pPr algn="r">
              <a:defRPr sz="1700"/>
            </a:lvl1pPr>
          </a:lstStyle>
          <a:p>
            <a:fld id="{18B005D9-1AAC-4E6D-B9B3-BB8CB4FD9D30}" type="slidenum">
              <a:rPr lang="en-GB" smtClean="0">
                <a:latin typeface="Futura Medium" pitchFamily="2" charset="0"/>
              </a:rPr>
              <a:pPr/>
              <a:t>‹#›</a:t>
            </a:fld>
            <a:endParaRPr lang="en-GB">
              <a:latin typeface="Futura Medium" pitchFamily="2"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atin typeface="Futura Medium" pitchFamily="2" charset="0"/>
              </a:defRPr>
            </a:lvl1pPr>
          </a:lstStyle>
          <a:p>
            <a:endParaRPr lang="en-GB"/>
          </a:p>
        </p:txBody>
      </p:sp>
      <p:sp>
        <p:nvSpPr>
          <p:cNvPr id="3" name="Date Placeholder 2"/>
          <p:cNvSpPr>
            <a:spLocks noGrp="1"/>
          </p:cNvSpPr>
          <p:nvPr>
            <p:ph type="dt" idx="1"/>
          </p:nvPr>
        </p:nvSpPr>
        <p:spPr>
          <a:xfrm>
            <a:off x="5622802" y="0"/>
            <a:ext cx="4301543" cy="717788"/>
          </a:xfrm>
          <a:prstGeom prst="rect">
            <a:avLst/>
          </a:prstGeom>
        </p:spPr>
        <p:txBody>
          <a:bodyPr vert="horz" lIns="134275" tIns="67137" rIns="134275" bIns="67137" rtlCol="0"/>
          <a:lstStyle>
            <a:lvl1pPr algn="r">
              <a:defRPr sz="1700">
                <a:latin typeface="Futura Medium" pitchFamily="2" charset="0"/>
              </a:defRPr>
            </a:lvl1pPr>
          </a:lstStyle>
          <a:p>
            <a:fld id="{E8910CE4-810D-4C84-B7AD-48C304FEA169}" type="datetimeFigureOut">
              <a:rPr lang="en-GB" smtClean="0"/>
              <a:pPr/>
              <a:t>17/08/2026</a:t>
            </a:fld>
            <a:endParaRPr lang="en-GB"/>
          </a:p>
        </p:txBody>
      </p:sp>
      <p:sp>
        <p:nvSpPr>
          <p:cNvPr id="4" name="Slide Image Placeholder 3"/>
          <p:cNvSpPr>
            <a:spLocks noGrp="1" noRot="1" noChangeAspect="1"/>
          </p:cNvSpPr>
          <p:nvPr>
            <p:ph type="sldImg" idx="2"/>
          </p:nvPr>
        </p:nvSpPr>
        <p:spPr>
          <a:xfrm>
            <a:off x="3059113" y="1074738"/>
            <a:ext cx="3808412" cy="5386387"/>
          </a:xfrm>
          <a:prstGeom prst="rect">
            <a:avLst/>
          </a:prstGeom>
          <a:noFill/>
          <a:ln w="12700">
            <a:solidFill>
              <a:prstClr val="black"/>
            </a:solidFill>
          </a:ln>
        </p:spPr>
        <p:txBody>
          <a:bodyPr vert="horz" lIns="134275" tIns="67137" rIns="134275" bIns="67137" rtlCol="0" anchor="ctr"/>
          <a:lstStyle/>
          <a:p>
            <a:endParaRPr lang="en-GB"/>
          </a:p>
        </p:txBody>
      </p:sp>
      <p:sp>
        <p:nvSpPr>
          <p:cNvPr id="5" name="Notes Placeholder 4"/>
          <p:cNvSpPr>
            <a:spLocks noGrp="1"/>
          </p:cNvSpPr>
          <p:nvPr>
            <p:ph type="body" sz="quarter" idx="3"/>
          </p:nvPr>
        </p:nvSpPr>
        <p:spPr>
          <a:xfrm>
            <a:off x="992665" y="6818990"/>
            <a:ext cx="7941310" cy="6460093"/>
          </a:xfrm>
          <a:prstGeom prst="rect">
            <a:avLst/>
          </a:prstGeom>
        </p:spPr>
        <p:txBody>
          <a:bodyPr vert="horz" lIns="134275" tIns="67137" rIns="134275" bIns="67137"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2" y="13635483"/>
            <a:ext cx="4301543" cy="717788"/>
          </a:xfrm>
          <a:prstGeom prst="rect">
            <a:avLst/>
          </a:prstGeom>
        </p:spPr>
        <p:txBody>
          <a:bodyPr vert="horz" lIns="134275" tIns="67137" rIns="134275" bIns="67137" rtlCol="0" anchor="b"/>
          <a:lstStyle>
            <a:lvl1pPr algn="l">
              <a:defRPr sz="1700">
                <a:latin typeface="Futura Medium" pitchFamily="2" charset="0"/>
              </a:defRPr>
            </a:lvl1pPr>
          </a:lstStyle>
          <a:p>
            <a:endParaRPr lang="en-GB"/>
          </a:p>
        </p:txBody>
      </p:sp>
      <p:sp>
        <p:nvSpPr>
          <p:cNvPr id="7" name="Slide Number Placeholder 6"/>
          <p:cNvSpPr>
            <a:spLocks noGrp="1"/>
          </p:cNvSpPr>
          <p:nvPr>
            <p:ph type="sldNum" sz="quarter" idx="5"/>
          </p:nvPr>
        </p:nvSpPr>
        <p:spPr>
          <a:xfrm>
            <a:off x="5622802" y="13635483"/>
            <a:ext cx="4301543" cy="717788"/>
          </a:xfrm>
          <a:prstGeom prst="rect">
            <a:avLst/>
          </a:prstGeom>
        </p:spPr>
        <p:txBody>
          <a:bodyPr vert="horz" lIns="134275" tIns="67137" rIns="134275" bIns="67137" rtlCol="0" anchor="b"/>
          <a:lstStyle>
            <a:lvl1pPr algn="r">
              <a:defRPr sz="1700">
                <a:latin typeface="Futura Medium" pitchFamily="2" charset="0"/>
              </a:defRPr>
            </a:lvl1pPr>
          </a:lstStyle>
          <a:p>
            <a:fld id="{DE799493-6412-4470-9830-D005B358D66E}" type="slidenum">
              <a:rPr lang="en-GB" smtClean="0"/>
              <a:pPr/>
              <a:t>‹#›</a:t>
            </a:fld>
            <a:endParaRPr lang="en-GB"/>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4676973" rtl="0" eaLnBrk="1" latinLnBrk="0" hangingPunct="1">
      <a:defRPr sz="6138" kern="1200">
        <a:solidFill>
          <a:schemeClr val="tx1"/>
        </a:solidFill>
        <a:latin typeface="Futura Medium" pitchFamily="2" charset="0"/>
        <a:ea typeface="+mn-ea"/>
        <a:cs typeface="+mn-cs"/>
      </a:defRPr>
    </a:lvl1pPr>
    <a:lvl2pPr marL="2338487" algn="l" defTabSz="4676973" rtl="0" eaLnBrk="1" latinLnBrk="0" hangingPunct="1">
      <a:defRPr sz="6138" kern="1200">
        <a:solidFill>
          <a:schemeClr val="tx1"/>
        </a:solidFill>
        <a:latin typeface="Futura Medium"/>
        <a:ea typeface="+mn-ea"/>
        <a:cs typeface="+mn-cs"/>
      </a:defRPr>
    </a:lvl2pPr>
    <a:lvl3pPr marL="4676973" algn="l" defTabSz="4676973" rtl="0" eaLnBrk="1" latinLnBrk="0" hangingPunct="1">
      <a:defRPr sz="6138" kern="1200">
        <a:solidFill>
          <a:schemeClr val="tx1"/>
        </a:solidFill>
        <a:latin typeface="Futura Medium"/>
        <a:ea typeface="+mn-ea"/>
        <a:cs typeface="+mn-cs"/>
      </a:defRPr>
    </a:lvl3pPr>
    <a:lvl4pPr marL="7015460" algn="l" defTabSz="4676973" rtl="0" eaLnBrk="1" latinLnBrk="0" hangingPunct="1">
      <a:defRPr sz="6138" kern="1200">
        <a:solidFill>
          <a:schemeClr val="tx1"/>
        </a:solidFill>
        <a:latin typeface="Futura Medium"/>
        <a:ea typeface="+mn-ea"/>
        <a:cs typeface="+mn-cs"/>
      </a:defRPr>
    </a:lvl4pPr>
    <a:lvl5pPr marL="9353946" algn="l" defTabSz="4676973" rtl="0" eaLnBrk="1" latinLnBrk="0" hangingPunct="1">
      <a:defRPr sz="6138" kern="1200">
        <a:solidFill>
          <a:schemeClr val="tx1"/>
        </a:solidFill>
        <a:latin typeface="Futura Medium"/>
        <a:ea typeface="+mn-ea"/>
        <a:cs typeface="+mn-cs"/>
      </a:defRPr>
    </a:lvl5pPr>
    <a:lvl6pPr marL="11692433" algn="l" defTabSz="4676973" rtl="0" eaLnBrk="1" latinLnBrk="0" hangingPunct="1">
      <a:defRPr sz="6138" kern="1200">
        <a:solidFill>
          <a:schemeClr val="tx1"/>
        </a:solidFill>
        <a:latin typeface="+mn-lt"/>
        <a:ea typeface="+mn-ea"/>
        <a:cs typeface="+mn-cs"/>
      </a:defRPr>
    </a:lvl6pPr>
    <a:lvl7pPr marL="14030919" algn="l" defTabSz="4676973" rtl="0" eaLnBrk="1" latinLnBrk="0" hangingPunct="1">
      <a:defRPr sz="6138" kern="1200">
        <a:solidFill>
          <a:schemeClr val="tx1"/>
        </a:solidFill>
        <a:latin typeface="+mn-lt"/>
        <a:ea typeface="+mn-ea"/>
        <a:cs typeface="+mn-cs"/>
      </a:defRPr>
    </a:lvl7pPr>
    <a:lvl8pPr marL="16369406" algn="l" defTabSz="4676973" rtl="0" eaLnBrk="1" latinLnBrk="0" hangingPunct="1">
      <a:defRPr sz="6138" kern="1200">
        <a:solidFill>
          <a:schemeClr val="tx1"/>
        </a:solidFill>
        <a:latin typeface="+mn-lt"/>
        <a:ea typeface="+mn-ea"/>
        <a:cs typeface="+mn-cs"/>
      </a:defRPr>
    </a:lvl8pPr>
    <a:lvl9pPr marL="18707892" algn="l" defTabSz="4676973" rtl="0" eaLnBrk="1" latinLnBrk="0" hangingPunct="1">
      <a:defRPr sz="61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BE56-74BB-5F44-F674-7931EF843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DD167-25F8-C03B-AE42-8691BF922976}"/>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6D8D93B6-BAE8-A6B1-882E-E8824E942F8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3B6A320-CAF1-49A5-5248-A6958942A09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407706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ext Box 11" descr="&lt;COMPANY_NAME&gt;{19.13386,233.3002,382.1078,36.87504}"/>
          <p:cNvSpPr txBox="1">
            <a:spLocks noChangeArrowheads="1"/>
          </p:cNvSpPr>
          <p:nvPr userDrawn="1"/>
        </p:nvSpPr>
        <p:spPr bwMode="auto">
          <a:xfrm>
            <a:off x="1550555" y="41650920"/>
            <a:ext cx="9810017" cy="755630"/>
          </a:xfrm>
          <a:prstGeom prst="rect">
            <a:avLst/>
          </a:prstGeom>
          <a:noFill/>
          <a:ln w="9525" algn="ctr">
            <a:noFill/>
            <a:miter lim="800000"/>
            <a:headEnd/>
            <a:tailEnd/>
          </a:ln>
          <a:effectLst/>
        </p:spPr>
        <p:txBody>
          <a:bodyPr wrap="none" lIns="0" tIns="0" rIns="0" anchor="ctr" anchorCtr="0">
            <a:noAutofit/>
          </a:bodyPr>
          <a:lstStyle/>
          <a:p>
            <a:pPr>
              <a:defRPr/>
            </a:pPr>
            <a:r>
              <a:rPr lang="en-GB" sz="2800">
                <a:solidFill>
                  <a:schemeClr val="tx1"/>
                </a:solidFill>
                <a:latin typeface="+mn-lt"/>
                <a:cs typeface="Arial" pitchFamily="34" charset="0"/>
              </a:rPr>
              <a:t>Shape. Connect. Accelerate </a:t>
            </a:r>
          </a:p>
        </p:txBody>
      </p:sp>
      <p:sp>
        <p:nvSpPr>
          <p:cNvPr id="20" name="Text Box 11" descr="&lt;COMPANY_NAME&gt;{19.13386,233.3002,382.1078,36.87504}"/>
          <p:cNvSpPr txBox="1">
            <a:spLocks noChangeArrowheads="1"/>
          </p:cNvSpPr>
          <p:nvPr userDrawn="1"/>
        </p:nvSpPr>
        <p:spPr bwMode="auto">
          <a:xfrm>
            <a:off x="19762355" y="41650920"/>
            <a:ext cx="9810017" cy="755630"/>
          </a:xfrm>
          <a:prstGeom prst="rect">
            <a:avLst/>
          </a:prstGeom>
          <a:noFill/>
          <a:ln w="9525" algn="ctr">
            <a:noFill/>
            <a:miter lim="800000"/>
            <a:headEnd/>
            <a:tailEnd/>
          </a:ln>
          <a:effectLst/>
        </p:spPr>
        <p:txBody>
          <a:bodyPr wrap="none" lIns="0" tIns="0" rIns="0" anchor="ctr" anchorCtr="0">
            <a:noAutofit/>
          </a:bodyPr>
          <a:lstStyle/>
          <a:p>
            <a:pPr algn="r"/>
            <a:r>
              <a:rPr lang="en-GB" sz="2800"/>
              <a:t>September 7-8, 2026</a:t>
            </a:r>
          </a:p>
        </p:txBody>
      </p:sp>
      <p:sp>
        <p:nvSpPr>
          <p:cNvPr id="7" name="Rectangle 6">
            <a:extLst>
              <a:ext uri="{FF2B5EF4-FFF2-40B4-BE49-F238E27FC236}">
                <a16:creationId xmlns:a16="http://schemas.microsoft.com/office/drawing/2014/main" id="{BAD0CE2F-1DFA-1F89-3C04-6693D0E978E9}"/>
              </a:ext>
            </a:extLst>
          </p:cNvPr>
          <p:cNvSpPr/>
          <p:nvPr userDrawn="1"/>
        </p:nvSpPr>
        <p:spPr>
          <a:xfrm>
            <a:off x="-1" y="1"/>
            <a:ext cx="30275213" cy="6827520"/>
          </a:xfrm>
          <a:prstGeom prst="rect">
            <a:avLst/>
          </a:prstGeom>
          <a:solidFill>
            <a:srgbClr val="F7D1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2032B41E-CA7B-293B-0827-739C4AA7C32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2120" r="-991"/>
          <a:stretch/>
        </p:blipFill>
        <p:spPr>
          <a:xfrm>
            <a:off x="24260896" y="1321092"/>
            <a:ext cx="3359440" cy="3255921"/>
          </a:xfrm>
          <a:prstGeom prst="rect">
            <a:avLst/>
          </a:prstGeom>
        </p:spPr>
      </p:pic>
    </p:spTree>
  </p:cSld>
  <p:clrMapOvr>
    <a:masterClrMapping/>
  </p:clrMapOvr>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672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CD8318-F598-F22A-F46C-E91BE846BE7B}"/>
              </a:ext>
            </a:extLst>
          </p:cNvPr>
          <p:cNvGraphicFramePr>
            <a:graphicFrameLocks/>
          </p:cNvGraphicFramePr>
          <p:nvPr userDrawn="1">
            <p:custDataLst>
              <p:tags r:id="rId4"/>
            </p:custDataLst>
            <p:extLst>
              <p:ext uri="{D42A27DB-BD31-4B8C-83A1-F6EECF244321}">
                <p14:modId xmlns:p14="http://schemas.microsoft.com/office/powerpoint/2010/main" val="3000939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2" name="think-cell data - do not delete" hidden="1">
                        <a:extLst>
                          <a:ext uri="{FF2B5EF4-FFF2-40B4-BE49-F238E27FC236}">
                            <a16:creationId xmlns:a16="http://schemas.microsoft.com/office/drawing/2014/main" id="{C1CD8318-F598-F22A-F46C-E91BE846BE7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3" r:id="rId1"/>
    <p:sldLayoutId id="2147483694" r:id="rId2"/>
  </p:sldLayoutIdLst>
  <p:transition>
    <p:fade/>
  </p:transition>
  <p:hf sldNum="0" hdr="0" dt="0"/>
  <p:txStyles>
    <p:titleStyle>
      <a:lvl1pPr algn="l" defTabSz="914400" rtl="0" eaLnBrk="1" latinLnBrk="0" hangingPunct="1">
        <a:spcBef>
          <a:spcPct val="0"/>
        </a:spcBef>
        <a:buNone/>
        <a:defRPr sz="2000" b="1" kern="1200" cap="none" baseline="0">
          <a:solidFill>
            <a:schemeClr val="accent2"/>
          </a:solidFill>
          <a:latin typeface="+mj-lt"/>
          <a:ea typeface="+mj-ea"/>
          <a:cs typeface="+mj-cs"/>
        </a:defRPr>
      </a:lvl1pPr>
    </p:titleStyle>
    <p:body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notesSlide" Target="../notesSlides/notesSlide1.xml"/><Relationship Id="rId7" Type="http://schemas.openxmlformats.org/officeDocument/2006/relationships/image" Target="../media/image5.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2.bin"/><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F13C1-64DB-9B0C-D586-0BBDC3C7490E}"/>
            </a:ext>
          </a:extLst>
        </p:cNvPr>
        <p:cNvGrpSpPr/>
        <p:nvPr/>
      </p:nvGrpSpPr>
      <p:grpSpPr>
        <a:xfrm>
          <a:off x="0" y="0"/>
          <a:ext cx="0" cy="0"/>
          <a:chOff x="0" y="0"/>
          <a:chExt cx="0" cy="0"/>
        </a:xfrm>
      </p:grpSpPr>
      <p:graphicFrame>
        <p:nvGraphicFramePr>
          <p:cNvPr id="66" name="think-cell data - do not delete" hidden="1">
            <a:extLst>
              <a:ext uri="{FF2B5EF4-FFF2-40B4-BE49-F238E27FC236}">
                <a16:creationId xmlns:a16="http://schemas.microsoft.com/office/drawing/2014/main" id="{C157E70B-90BE-500D-69D9-5CE05B69A1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6" name="think-cell data - do not delete" hidden="1">
                        <a:extLst>
                          <a:ext uri="{FF2B5EF4-FFF2-40B4-BE49-F238E27FC236}">
                            <a16:creationId xmlns:a16="http://schemas.microsoft.com/office/drawing/2014/main" id="{C157E70B-90BE-500D-69D9-5CE05B69A1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0" name="Rectangle 69">
            <a:extLst>
              <a:ext uri="{FF2B5EF4-FFF2-40B4-BE49-F238E27FC236}">
                <a16:creationId xmlns:a16="http://schemas.microsoft.com/office/drawing/2014/main" id="{670D00C9-7C96-5BEA-B172-A2E3E14AA799}"/>
              </a:ext>
            </a:extLst>
          </p:cNvPr>
          <p:cNvSpPr/>
          <p:nvPr/>
        </p:nvSpPr>
        <p:spPr>
          <a:xfrm>
            <a:off x="10392230" y="21784112"/>
            <a:ext cx="4787900" cy="2349500"/>
          </a:xfrm>
          <a:prstGeom prst="rect">
            <a:avLst/>
          </a:prstGeom>
          <a:solidFill>
            <a:schemeClr val="accent4">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2599C378-0BB5-D9F7-0322-86200F2130AD}"/>
              </a:ext>
            </a:extLst>
          </p:cNvPr>
          <p:cNvSpPr/>
          <p:nvPr/>
        </p:nvSpPr>
        <p:spPr>
          <a:xfrm>
            <a:off x="5718629" y="21792380"/>
            <a:ext cx="4571999" cy="23495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445D5386-F510-AB43-5EA7-D3BC686267BD}"/>
              </a:ext>
            </a:extLst>
          </p:cNvPr>
          <p:cNvSpPr/>
          <p:nvPr/>
        </p:nvSpPr>
        <p:spPr>
          <a:xfrm>
            <a:off x="1146630" y="21792380"/>
            <a:ext cx="4470400" cy="2349500"/>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0" descr="/mnt/data/48c52803bb.png">
            <a:extLst>
              <a:ext uri="{FF2B5EF4-FFF2-40B4-BE49-F238E27FC236}">
                <a16:creationId xmlns:a16="http://schemas.microsoft.com/office/drawing/2014/main" id="{F2DB038D-1B4B-C485-93B4-104968D25770}"/>
              </a:ext>
            </a:extLst>
          </p:cNvPr>
          <p:cNvPicPr>
            <a:picLocks noChangeAspect="1"/>
          </p:cNvPicPr>
          <p:nvPr/>
        </p:nvPicPr>
        <p:blipFill>
          <a:blip r:embed="rId6"/>
          <a:srcRect t="22800" b="22800"/>
          <a:stretch/>
        </p:blipFill>
        <p:spPr>
          <a:xfrm>
            <a:off x="0" y="0"/>
            <a:ext cx="30275213" cy="10348999"/>
          </a:xfrm>
          <a:prstGeom prst="rect">
            <a:avLst/>
          </a:prstGeom>
        </p:spPr>
      </p:pic>
      <p:sp>
        <p:nvSpPr>
          <p:cNvPr id="3" name="Shape 0">
            <a:extLst>
              <a:ext uri="{FF2B5EF4-FFF2-40B4-BE49-F238E27FC236}">
                <a16:creationId xmlns:a16="http://schemas.microsoft.com/office/drawing/2014/main" id="{3EB2EF37-6B0B-6AB2-6AAA-974F1BE01B62}"/>
              </a:ext>
            </a:extLst>
          </p:cNvPr>
          <p:cNvSpPr/>
          <p:nvPr/>
        </p:nvSpPr>
        <p:spPr>
          <a:xfrm>
            <a:off x="2087215" y="1065338"/>
            <a:ext cx="11286408" cy="1141434"/>
          </a:xfrm>
          <a:prstGeom prst="roundRect">
            <a:avLst>
              <a:gd name="adj" fmla="val 3333"/>
            </a:avLst>
          </a:prstGeom>
          <a:solidFill>
            <a:srgbClr val="D71920"/>
          </a:solidFill>
          <a:ln w="12700">
            <a:solidFill>
              <a:srgbClr val="D71920"/>
            </a:solidFill>
            <a:prstDash val="solid"/>
          </a:ln>
        </p:spPr>
        <p:txBody>
          <a:bodyPr/>
          <a:lstStyle/>
          <a:p>
            <a:endParaRPr lang="en-GB" sz="38310"/>
          </a:p>
        </p:txBody>
      </p:sp>
      <p:sp>
        <p:nvSpPr>
          <p:cNvPr id="4" name="Text 1">
            <a:extLst>
              <a:ext uri="{FF2B5EF4-FFF2-40B4-BE49-F238E27FC236}">
                <a16:creationId xmlns:a16="http://schemas.microsoft.com/office/drawing/2014/main" id="{5F6B9467-1E7A-17B3-2AED-29F8A936914D}"/>
              </a:ext>
            </a:extLst>
          </p:cNvPr>
          <p:cNvSpPr/>
          <p:nvPr/>
        </p:nvSpPr>
        <p:spPr>
          <a:xfrm>
            <a:off x="2467692" y="1369720"/>
            <a:ext cx="11286407" cy="684860"/>
          </a:xfrm>
          <a:prstGeom prst="rect">
            <a:avLst/>
          </a:prstGeom>
          <a:noFill/>
          <a:ln/>
        </p:spPr>
        <p:txBody>
          <a:bodyPr wrap="square" lIns="0" tIns="0" rIns="0" bIns="0" rtlCol="0" anchor="ctr">
            <a:normAutofit fontScale="92500" lnSpcReduction="20000"/>
          </a:bodyPr>
          <a:lstStyle/>
          <a:p>
            <a:r>
              <a:rPr lang="en-US" sz="5617" b="1">
                <a:solidFill>
                  <a:srgbClr val="FFFFFF"/>
                </a:solidFill>
                <a:latin typeface="Aptos Display" pitchFamily="34" charset="0"/>
              </a:rPr>
              <a:t>ENERGY &amp; MARKET FUNDAMENTALS</a:t>
            </a:r>
            <a:endParaRPr lang="en-US" sz="5617"/>
          </a:p>
        </p:txBody>
      </p:sp>
      <p:sp>
        <p:nvSpPr>
          <p:cNvPr id="5" name="Text 2">
            <a:extLst>
              <a:ext uri="{FF2B5EF4-FFF2-40B4-BE49-F238E27FC236}">
                <a16:creationId xmlns:a16="http://schemas.microsoft.com/office/drawing/2014/main" id="{EDD0ECD9-37B9-ED64-61F2-BEAB70D55450}"/>
              </a:ext>
            </a:extLst>
          </p:cNvPr>
          <p:cNvSpPr/>
          <p:nvPr/>
        </p:nvSpPr>
        <p:spPr>
          <a:xfrm>
            <a:off x="2056088" y="2650052"/>
            <a:ext cx="21794461" cy="1788246"/>
          </a:xfrm>
          <a:prstGeom prst="rect">
            <a:avLst/>
          </a:prstGeom>
          <a:noFill/>
          <a:ln/>
        </p:spPr>
        <p:txBody>
          <a:bodyPr wrap="square" lIns="0" tIns="0" rIns="0" bIns="0" rtlCol="0" anchor="ctr">
            <a:normAutofit fontScale="47500" lnSpcReduction="20000"/>
          </a:bodyPr>
          <a:lstStyle/>
          <a:p>
            <a:r>
              <a:rPr lang="en-US" sz="14147" b="1" dirty="0">
                <a:solidFill>
                  <a:srgbClr val="2F3033"/>
                </a:solidFill>
                <a:latin typeface="Aptos Display" pitchFamily="34" charset="0"/>
                <a:ea typeface="Aptos Display" pitchFamily="34" charset="-122"/>
                <a:cs typeface="Aptos Display" pitchFamily="34" charset="-120"/>
              </a:rPr>
              <a:t>Global Power Fundamentals Analysis and Governance</a:t>
            </a:r>
            <a:endParaRPr lang="en-US" sz="14147" dirty="0"/>
          </a:p>
        </p:txBody>
      </p:sp>
      <p:sp>
        <p:nvSpPr>
          <p:cNvPr id="6" name="Text 3">
            <a:extLst>
              <a:ext uri="{FF2B5EF4-FFF2-40B4-BE49-F238E27FC236}">
                <a16:creationId xmlns:a16="http://schemas.microsoft.com/office/drawing/2014/main" id="{F12733AD-E4CF-E5AC-8730-4288B19897C1}"/>
              </a:ext>
            </a:extLst>
          </p:cNvPr>
          <p:cNvSpPr/>
          <p:nvPr/>
        </p:nvSpPr>
        <p:spPr>
          <a:xfrm>
            <a:off x="2118342" y="4427586"/>
            <a:ext cx="21763334" cy="1977375"/>
          </a:xfrm>
          <a:prstGeom prst="rect">
            <a:avLst/>
          </a:prstGeom>
          <a:noFill/>
          <a:ln/>
        </p:spPr>
        <p:txBody>
          <a:bodyPr wrap="square" lIns="0" tIns="0" rIns="0" bIns="0" rtlCol="0" anchor="ctr">
            <a:noAutofit/>
          </a:bodyPr>
          <a:lstStyle/>
          <a:p>
            <a:r>
              <a:rPr lang="en-US" sz="4000" dirty="0">
                <a:solidFill>
                  <a:srgbClr val="2F3033"/>
                </a:solidFill>
                <a:latin typeface="Aptos" pitchFamily="34" charset="0"/>
              </a:rPr>
              <a:t>Or:  A story of how to herd a globally dispersed and unaligned group of power fundamentals experts </a:t>
            </a:r>
          </a:p>
          <a:p>
            <a:r>
              <a:rPr lang="en-US" sz="4000" dirty="0">
                <a:solidFill>
                  <a:srgbClr val="2F3033"/>
                </a:solidFill>
                <a:latin typeface="Aptos" pitchFamily="34" charset="0"/>
              </a:rPr>
              <a:t>to deliver high-quality assured and consistent power price scenarios fit-for-purpose for valuation and capital allocation in Shell.</a:t>
            </a:r>
            <a:endParaRPr lang="en-US" sz="4000" dirty="0"/>
          </a:p>
        </p:txBody>
      </p:sp>
      <p:sp>
        <p:nvSpPr>
          <p:cNvPr id="7" name="Shape 4">
            <a:extLst>
              <a:ext uri="{FF2B5EF4-FFF2-40B4-BE49-F238E27FC236}">
                <a16:creationId xmlns:a16="http://schemas.microsoft.com/office/drawing/2014/main" id="{7259A0E4-E137-B99F-A622-9039BABFE259}"/>
              </a:ext>
            </a:extLst>
          </p:cNvPr>
          <p:cNvSpPr/>
          <p:nvPr/>
        </p:nvSpPr>
        <p:spPr>
          <a:xfrm>
            <a:off x="2087214" y="6772506"/>
            <a:ext cx="19138038" cy="0"/>
          </a:xfrm>
          <a:prstGeom prst="line">
            <a:avLst/>
          </a:prstGeom>
          <a:noFill/>
          <a:ln w="12700">
            <a:solidFill>
              <a:srgbClr val="E9571F"/>
            </a:solidFill>
            <a:prstDash val="solid"/>
          </a:ln>
        </p:spPr>
        <p:txBody>
          <a:bodyPr/>
          <a:lstStyle/>
          <a:p>
            <a:endParaRPr lang="en-GB" sz="38310"/>
          </a:p>
        </p:txBody>
      </p:sp>
      <p:pic>
        <p:nvPicPr>
          <p:cNvPr id="8" name="Image 1" descr="preencoded.png">
            <a:extLst>
              <a:ext uri="{FF2B5EF4-FFF2-40B4-BE49-F238E27FC236}">
                <a16:creationId xmlns:a16="http://schemas.microsoft.com/office/drawing/2014/main" id="{1E1170EF-DC04-B0C7-CAA9-6EA346B498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87214" y="7533462"/>
            <a:ext cx="1255577" cy="837051"/>
          </a:xfrm>
          <a:prstGeom prst="rect">
            <a:avLst/>
          </a:prstGeom>
        </p:spPr>
      </p:pic>
      <p:sp>
        <p:nvSpPr>
          <p:cNvPr id="9" name="Text 5">
            <a:extLst>
              <a:ext uri="{FF2B5EF4-FFF2-40B4-BE49-F238E27FC236}">
                <a16:creationId xmlns:a16="http://schemas.microsoft.com/office/drawing/2014/main" id="{8BF1D2E0-5A25-34E1-5AF9-AA0C4F3E1C41}"/>
              </a:ext>
            </a:extLst>
          </p:cNvPr>
          <p:cNvSpPr/>
          <p:nvPr/>
        </p:nvSpPr>
        <p:spPr>
          <a:xfrm>
            <a:off x="3642009" y="7476390"/>
            <a:ext cx="18262939" cy="1065338"/>
          </a:xfrm>
          <a:prstGeom prst="rect">
            <a:avLst/>
          </a:prstGeom>
          <a:noFill/>
          <a:ln/>
        </p:spPr>
        <p:txBody>
          <a:bodyPr wrap="square" lIns="0" tIns="0" rIns="0" bIns="0" rtlCol="0" anchor="ctr">
            <a:normAutofit/>
          </a:bodyPr>
          <a:lstStyle/>
          <a:p>
            <a:r>
              <a:rPr lang="en-US" sz="4800" b="1" dirty="0">
                <a:solidFill>
                  <a:srgbClr val="2F3033"/>
                </a:solidFill>
                <a:latin typeface="Aptos" pitchFamily="34" charset="0"/>
                <a:ea typeface="Aptos" pitchFamily="34" charset="-122"/>
                <a:cs typeface="Aptos" pitchFamily="34" charset="-120"/>
              </a:rPr>
              <a:t>Marcelo, Clara, Eric, Esther &amp;  Flora</a:t>
            </a:r>
          </a:p>
        </p:txBody>
      </p:sp>
      <p:sp>
        <p:nvSpPr>
          <p:cNvPr id="10" name="Text 6">
            <a:extLst>
              <a:ext uri="{FF2B5EF4-FFF2-40B4-BE49-F238E27FC236}">
                <a16:creationId xmlns:a16="http://schemas.microsoft.com/office/drawing/2014/main" id="{B674E874-8F9B-CCDA-33C8-92765DDEE900}"/>
              </a:ext>
            </a:extLst>
          </p:cNvPr>
          <p:cNvSpPr/>
          <p:nvPr/>
        </p:nvSpPr>
        <p:spPr>
          <a:xfrm>
            <a:off x="2087215" y="8941230"/>
            <a:ext cx="19214133" cy="951195"/>
          </a:xfrm>
          <a:prstGeom prst="rect">
            <a:avLst/>
          </a:prstGeom>
          <a:noFill/>
          <a:ln/>
        </p:spPr>
        <p:txBody>
          <a:bodyPr wrap="square" lIns="0" tIns="0" rIns="0" bIns="0" rtlCol="0" anchor="ctr">
            <a:normAutofit/>
          </a:bodyPr>
          <a:lstStyle/>
          <a:p>
            <a:r>
              <a:rPr lang="en-US" sz="5326">
                <a:solidFill>
                  <a:srgbClr val="2F3033"/>
                </a:solidFill>
                <a:latin typeface="Aptos" pitchFamily="34" charset="0"/>
                <a:ea typeface="Aptos" pitchFamily="34" charset="-122"/>
                <a:cs typeface="Aptos" pitchFamily="34" charset="-120"/>
              </a:rPr>
              <a:t>SCA Global Team F2F 2026   |   7–8 September</a:t>
            </a:r>
            <a:endParaRPr lang="en-US" sz="5326"/>
          </a:p>
        </p:txBody>
      </p:sp>
      <p:sp>
        <p:nvSpPr>
          <p:cNvPr id="12" name="Text 7">
            <a:extLst>
              <a:ext uri="{FF2B5EF4-FFF2-40B4-BE49-F238E27FC236}">
                <a16:creationId xmlns:a16="http://schemas.microsoft.com/office/drawing/2014/main" id="{6978B741-B2EE-3A28-01AD-EC0D521676DF}"/>
              </a:ext>
            </a:extLst>
          </p:cNvPr>
          <p:cNvSpPr/>
          <p:nvPr/>
        </p:nvSpPr>
        <p:spPr>
          <a:xfrm>
            <a:off x="23850549" y="5402786"/>
            <a:ext cx="4565735" cy="2435058"/>
          </a:xfrm>
          <a:prstGeom prst="rect">
            <a:avLst/>
          </a:prstGeom>
          <a:noFill/>
          <a:ln/>
        </p:spPr>
        <p:txBody>
          <a:bodyPr wrap="square" lIns="0" tIns="0" rIns="0" bIns="0" rtlCol="0" anchor="ctr">
            <a:normAutofit lnSpcReduction="10000"/>
          </a:bodyPr>
          <a:lstStyle/>
          <a:p>
            <a:pPr algn="ctr"/>
            <a:r>
              <a:rPr lang="en-US" sz="5409" b="1">
                <a:solidFill>
                  <a:srgbClr val="D71920"/>
                </a:solidFill>
                <a:latin typeface="Aptos Display" pitchFamily="34" charset="0"/>
                <a:ea typeface="Aptos Display" pitchFamily="34" charset="-122"/>
                <a:cs typeface="Aptos Display" pitchFamily="34" charset="-120"/>
              </a:rPr>
              <a:t>SHAPE</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CONNECT</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ACCELERATE</a:t>
            </a:r>
            <a:endParaRPr lang="en-US" sz="5409"/>
          </a:p>
        </p:txBody>
      </p:sp>
      <p:sp>
        <p:nvSpPr>
          <p:cNvPr id="14" name="Shape 9">
            <a:extLst>
              <a:ext uri="{FF2B5EF4-FFF2-40B4-BE49-F238E27FC236}">
                <a16:creationId xmlns:a16="http://schemas.microsoft.com/office/drawing/2014/main" id="{40DD7960-95B9-A460-DD12-03161A07AB7F}"/>
              </a:ext>
            </a:extLst>
          </p:cNvPr>
          <p:cNvSpPr/>
          <p:nvPr/>
        </p:nvSpPr>
        <p:spPr>
          <a:xfrm>
            <a:off x="800100" y="17036837"/>
            <a:ext cx="28803600" cy="1138644"/>
          </a:xfrm>
          <a:prstGeom prst="rect">
            <a:avLst/>
          </a:prstGeom>
          <a:solidFill>
            <a:srgbClr val="E8E8E8"/>
          </a:solidFill>
          <a:ln w="12700">
            <a:solidFill>
              <a:srgbClr val="E8E8E8"/>
            </a:solidFill>
            <a:prstDash val="solid"/>
          </a:ln>
        </p:spPr>
        <p:txBody>
          <a:bodyPr/>
          <a:lstStyle/>
          <a:p>
            <a:endParaRPr lang="en-GB" sz="38310"/>
          </a:p>
        </p:txBody>
      </p:sp>
      <p:sp>
        <p:nvSpPr>
          <p:cNvPr id="15" name="Text 10">
            <a:extLst>
              <a:ext uri="{FF2B5EF4-FFF2-40B4-BE49-F238E27FC236}">
                <a16:creationId xmlns:a16="http://schemas.microsoft.com/office/drawing/2014/main" id="{D33A3342-41D4-67ED-3691-F7D6E01AEE3E}"/>
              </a:ext>
            </a:extLst>
          </p:cNvPr>
          <p:cNvSpPr/>
          <p:nvPr/>
        </p:nvSpPr>
        <p:spPr>
          <a:xfrm>
            <a:off x="1706736" y="17125253"/>
            <a:ext cx="12719837" cy="1050228"/>
          </a:xfrm>
          <a:prstGeom prst="rect">
            <a:avLst/>
          </a:prstGeom>
          <a:noFill/>
          <a:ln/>
        </p:spPr>
        <p:txBody>
          <a:bodyPr wrap="square" lIns="0" tIns="0" rIns="0" bIns="0" rtlCol="0" anchor="ctr">
            <a:normAutofit/>
          </a:bodyPr>
          <a:lstStyle/>
          <a:p>
            <a:pPr algn="ctr"/>
            <a:r>
              <a:rPr lang="en-US" sz="6000" b="1" dirty="0">
                <a:solidFill>
                  <a:srgbClr val="2F3033"/>
                </a:solidFill>
                <a:latin typeface="Aptos Display" pitchFamily="34" charset="0"/>
                <a:ea typeface="Aptos Display" pitchFamily="34" charset="-122"/>
                <a:cs typeface="Aptos Display" pitchFamily="34" charset="-120"/>
              </a:rPr>
              <a:t>Analysis track</a:t>
            </a:r>
            <a:endParaRPr lang="en-US" sz="6000" dirty="0"/>
          </a:p>
        </p:txBody>
      </p:sp>
      <p:sp>
        <p:nvSpPr>
          <p:cNvPr id="17" name="Shape 12">
            <a:extLst>
              <a:ext uri="{FF2B5EF4-FFF2-40B4-BE49-F238E27FC236}">
                <a16:creationId xmlns:a16="http://schemas.microsoft.com/office/drawing/2014/main" id="{0D938BD7-D111-27EF-714C-C3126B12381F}"/>
              </a:ext>
            </a:extLst>
          </p:cNvPr>
          <p:cNvSpPr/>
          <p:nvPr/>
        </p:nvSpPr>
        <p:spPr>
          <a:xfrm>
            <a:off x="796834" y="33058047"/>
            <a:ext cx="28803600" cy="1138644"/>
          </a:xfrm>
          <a:prstGeom prst="rect">
            <a:avLst/>
          </a:prstGeom>
          <a:solidFill>
            <a:srgbClr val="E8E8E8"/>
          </a:solidFill>
          <a:ln w="12700">
            <a:solidFill>
              <a:srgbClr val="E8E8E8"/>
            </a:solidFill>
            <a:prstDash val="solid"/>
          </a:ln>
        </p:spPr>
        <p:txBody>
          <a:bodyPr/>
          <a:lstStyle/>
          <a:p>
            <a:endParaRPr lang="en-GB" sz="38310"/>
          </a:p>
        </p:txBody>
      </p:sp>
      <p:sp>
        <p:nvSpPr>
          <p:cNvPr id="18" name="Text 13">
            <a:extLst>
              <a:ext uri="{FF2B5EF4-FFF2-40B4-BE49-F238E27FC236}">
                <a16:creationId xmlns:a16="http://schemas.microsoft.com/office/drawing/2014/main" id="{7B2C4172-29B7-AC16-5843-66BCEEEC7A84}"/>
              </a:ext>
            </a:extLst>
          </p:cNvPr>
          <p:cNvSpPr/>
          <p:nvPr/>
        </p:nvSpPr>
        <p:spPr>
          <a:xfrm>
            <a:off x="1283064" y="33101716"/>
            <a:ext cx="27774886" cy="1141434"/>
          </a:xfrm>
          <a:prstGeom prst="rect">
            <a:avLst/>
          </a:prstGeom>
          <a:noFill/>
          <a:ln/>
        </p:spPr>
        <p:txBody>
          <a:bodyPr wrap="square" lIns="0" tIns="0" rIns="0" bIns="0" rtlCol="0" anchor="ctr">
            <a:normAutofit/>
          </a:bodyPr>
          <a:lstStyle/>
          <a:p>
            <a:pPr algn="ctr"/>
            <a:r>
              <a:rPr lang="en-US" sz="6000" b="1" dirty="0">
                <a:solidFill>
                  <a:srgbClr val="2F3033"/>
                </a:solidFill>
                <a:latin typeface="Aptos Display" pitchFamily="34" charset="0"/>
                <a:ea typeface="Aptos Display" pitchFamily="34" charset="-122"/>
                <a:cs typeface="Aptos Display" pitchFamily="34" charset="-120"/>
              </a:rPr>
              <a:t>Key Achievements and Learnings</a:t>
            </a:r>
            <a:endParaRPr lang="en-US" sz="6000" dirty="0"/>
          </a:p>
        </p:txBody>
      </p:sp>
      <p:sp>
        <p:nvSpPr>
          <p:cNvPr id="21" name="Text 16">
            <a:extLst>
              <a:ext uri="{FF2B5EF4-FFF2-40B4-BE49-F238E27FC236}">
                <a16:creationId xmlns:a16="http://schemas.microsoft.com/office/drawing/2014/main" id="{720BD6E8-FF52-53B8-471B-B4DC7A4E9994}"/>
              </a:ext>
            </a:extLst>
          </p:cNvPr>
          <p:cNvSpPr/>
          <p:nvPr/>
        </p:nvSpPr>
        <p:spPr>
          <a:xfrm>
            <a:off x="1706736" y="41776472"/>
            <a:ext cx="7609558" cy="684860"/>
          </a:xfrm>
          <a:prstGeom prst="rect">
            <a:avLst/>
          </a:prstGeom>
          <a:noFill/>
          <a:ln/>
        </p:spPr>
        <p:txBody>
          <a:bodyPr wrap="square" lIns="0" tIns="0" rIns="0" bIns="0" rtlCol="0" anchor="ctr">
            <a:normAutofit/>
          </a:bodyPr>
          <a:lstStyle/>
          <a:p>
            <a:r>
              <a:rPr lang="en-US" sz="3537">
                <a:solidFill>
                  <a:srgbClr val="5A5A5A"/>
                </a:solidFill>
                <a:latin typeface="Aptos" pitchFamily="34" charset="0"/>
                <a:ea typeface="Aptos" pitchFamily="34" charset="-122"/>
                <a:cs typeface="Aptos" pitchFamily="34" charset="-120"/>
              </a:rPr>
              <a:t>Shape. Connect. Accelerate.</a:t>
            </a:r>
            <a:endParaRPr lang="en-US" sz="3537"/>
          </a:p>
        </p:txBody>
      </p:sp>
      <p:sp>
        <p:nvSpPr>
          <p:cNvPr id="22" name="Text 17">
            <a:extLst>
              <a:ext uri="{FF2B5EF4-FFF2-40B4-BE49-F238E27FC236}">
                <a16:creationId xmlns:a16="http://schemas.microsoft.com/office/drawing/2014/main" id="{5A2AE6F3-A380-30F2-3BE7-C72B0A26F2DA}"/>
              </a:ext>
            </a:extLst>
          </p:cNvPr>
          <p:cNvSpPr/>
          <p:nvPr/>
        </p:nvSpPr>
        <p:spPr>
          <a:xfrm>
            <a:off x="22747164" y="41776472"/>
            <a:ext cx="5897407" cy="684860"/>
          </a:xfrm>
          <a:prstGeom prst="rect">
            <a:avLst/>
          </a:prstGeom>
          <a:noFill/>
          <a:ln/>
        </p:spPr>
        <p:txBody>
          <a:bodyPr wrap="square" lIns="0" tIns="0" rIns="0" bIns="0" rtlCol="0" anchor="ctr">
            <a:normAutofit/>
          </a:bodyPr>
          <a:lstStyle/>
          <a:p>
            <a:pPr algn="r"/>
            <a:r>
              <a:rPr lang="en-US" sz="3537">
                <a:solidFill>
                  <a:srgbClr val="5A5A5A"/>
                </a:solidFill>
                <a:latin typeface="Aptos" pitchFamily="34" charset="0"/>
                <a:ea typeface="Aptos" pitchFamily="34" charset="-122"/>
                <a:cs typeface="Aptos" pitchFamily="34" charset="-120"/>
              </a:rPr>
              <a:t>September 7–8, 2026</a:t>
            </a:r>
            <a:endParaRPr lang="en-US" sz="3537"/>
          </a:p>
        </p:txBody>
      </p:sp>
      <p:pic>
        <p:nvPicPr>
          <p:cNvPr id="24" name="Picture 23">
            <a:extLst>
              <a:ext uri="{FF2B5EF4-FFF2-40B4-BE49-F238E27FC236}">
                <a16:creationId xmlns:a16="http://schemas.microsoft.com/office/drawing/2014/main" id="{0072AC9A-E125-53D0-B5B7-FF25046AD1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50549" y="1385284"/>
            <a:ext cx="4306322" cy="4306322"/>
          </a:xfrm>
          <a:prstGeom prst="rect">
            <a:avLst/>
          </a:prstGeom>
          <a:ln>
            <a:noFill/>
          </a:ln>
        </p:spPr>
      </p:pic>
      <p:sp>
        <p:nvSpPr>
          <p:cNvPr id="19" name="Text 10">
            <a:extLst>
              <a:ext uri="{FF2B5EF4-FFF2-40B4-BE49-F238E27FC236}">
                <a16:creationId xmlns:a16="http://schemas.microsoft.com/office/drawing/2014/main" id="{53C2D70D-7173-7943-5262-7E6841030A49}"/>
              </a:ext>
            </a:extLst>
          </p:cNvPr>
          <p:cNvSpPr/>
          <p:nvPr/>
        </p:nvSpPr>
        <p:spPr>
          <a:xfrm>
            <a:off x="16056863" y="17036837"/>
            <a:ext cx="12719837" cy="1121548"/>
          </a:xfrm>
          <a:prstGeom prst="rect">
            <a:avLst/>
          </a:prstGeom>
          <a:noFill/>
          <a:ln/>
        </p:spPr>
        <p:txBody>
          <a:bodyPr wrap="square" lIns="0" tIns="0" rIns="0" bIns="0" rtlCol="0" anchor="ctr">
            <a:normAutofit/>
          </a:bodyPr>
          <a:lstStyle/>
          <a:p>
            <a:pPr algn="ctr"/>
            <a:r>
              <a:rPr lang="en-US" sz="6000" b="1" dirty="0">
                <a:solidFill>
                  <a:srgbClr val="2F3033"/>
                </a:solidFill>
                <a:latin typeface="Aptos Display" pitchFamily="34" charset="0"/>
                <a:ea typeface="Aptos Display" pitchFamily="34" charset="-122"/>
                <a:cs typeface="Aptos Display" pitchFamily="34" charset="-120"/>
              </a:rPr>
              <a:t>Governance track</a:t>
            </a:r>
            <a:endParaRPr lang="en-US" sz="6000" dirty="0"/>
          </a:p>
        </p:txBody>
      </p:sp>
      <p:cxnSp>
        <p:nvCxnSpPr>
          <p:cNvPr id="26" name="Straight Connector 25">
            <a:extLst>
              <a:ext uri="{FF2B5EF4-FFF2-40B4-BE49-F238E27FC236}">
                <a16:creationId xmlns:a16="http://schemas.microsoft.com/office/drawing/2014/main" id="{CE23F7C8-949C-8111-6DB9-E51333E1E453}"/>
              </a:ext>
            </a:extLst>
          </p:cNvPr>
          <p:cNvCxnSpPr>
            <a:cxnSpLocks/>
          </p:cNvCxnSpPr>
          <p:nvPr/>
        </p:nvCxnSpPr>
        <p:spPr>
          <a:xfrm>
            <a:off x="15458440" y="18777857"/>
            <a:ext cx="0" cy="13732869"/>
          </a:xfrm>
          <a:prstGeom prst="line">
            <a:avLst/>
          </a:prstGeom>
          <a:ln w="762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Shape 9">
            <a:extLst>
              <a:ext uri="{FF2B5EF4-FFF2-40B4-BE49-F238E27FC236}">
                <a16:creationId xmlns:a16="http://schemas.microsoft.com/office/drawing/2014/main" id="{265286BE-EAF8-1B02-3CD1-A7D3C34EBA92}"/>
              </a:ext>
            </a:extLst>
          </p:cNvPr>
          <p:cNvSpPr/>
          <p:nvPr/>
        </p:nvSpPr>
        <p:spPr>
          <a:xfrm>
            <a:off x="796834" y="10424529"/>
            <a:ext cx="28803600" cy="1404293"/>
          </a:xfrm>
          <a:prstGeom prst="rect">
            <a:avLst/>
          </a:prstGeom>
          <a:solidFill>
            <a:srgbClr val="E8E8E8"/>
          </a:solidFill>
          <a:ln w="12700">
            <a:solidFill>
              <a:srgbClr val="E8E8E8"/>
            </a:solidFill>
            <a:prstDash val="solid"/>
          </a:ln>
        </p:spPr>
        <p:txBody>
          <a:bodyPr/>
          <a:lstStyle/>
          <a:p>
            <a:endParaRPr lang="en-GB" sz="38310"/>
          </a:p>
        </p:txBody>
      </p:sp>
      <p:sp>
        <p:nvSpPr>
          <p:cNvPr id="33" name="Text 13">
            <a:extLst>
              <a:ext uri="{FF2B5EF4-FFF2-40B4-BE49-F238E27FC236}">
                <a16:creationId xmlns:a16="http://schemas.microsoft.com/office/drawing/2014/main" id="{C979866C-8591-0FBC-292D-32F360E5A87B}"/>
              </a:ext>
            </a:extLst>
          </p:cNvPr>
          <p:cNvSpPr/>
          <p:nvPr/>
        </p:nvSpPr>
        <p:spPr>
          <a:xfrm>
            <a:off x="2118342" y="10526580"/>
            <a:ext cx="27774886" cy="1141434"/>
          </a:xfrm>
          <a:prstGeom prst="rect">
            <a:avLst/>
          </a:prstGeom>
          <a:noFill/>
          <a:ln/>
        </p:spPr>
        <p:txBody>
          <a:bodyPr wrap="square" lIns="0" tIns="0" rIns="0" bIns="0" rtlCol="0" anchor="ctr">
            <a:normAutofit/>
          </a:bodyPr>
          <a:lstStyle/>
          <a:p>
            <a:r>
              <a:rPr lang="en-US" sz="6000" b="1" dirty="0">
                <a:solidFill>
                  <a:srgbClr val="2F3033"/>
                </a:solidFill>
                <a:latin typeface="Aptos Display" pitchFamily="34" charset="0"/>
                <a:ea typeface="Aptos Display" pitchFamily="34" charset="-122"/>
                <a:cs typeface="Aptos Display" pitchFamily="34" charset="-120"/>
              </a:rPr>
              <a:t>The Importance of Global Power Fundamentals Scenarios and Analysis for Shell</a:t>
            </a:r>
            <a:endParaRPr lang="en-US" sz="6000" dirty="0"/>
          </a:p>
        </p:txBody>
      </p:sp>
      <p:sp>
        <p:nvSpPr>
          <p:cNvPr id="35" name="Text 14">
            <a:extLst>
              <a:ext uri="{FF2B5EF4-FFF2-40B4-BE49-F238E27FC236}">
                <a16:creationId xmlns:a16="http://schemas.microsoft.com/office/drawing/2014/main" id="{D1DF129E-8884-8B5C-F7D9-F238B0A3C74D}"/>
              </a:ext>
            </a:extLst>
          </p:cNvPr>
          <p:cNvSpPr/>
          <p:nvPr/>
        </p:nvSpPr>
        <p:spPr>
          <a:xfrm>
            <a:off x="1041533" y="12141200"/>
            <a:ext cx="28277194" cy="4635500"/>
          </a:xfrm>
          <a:prstGeom prst="rect">
            <a:avLst/>
          </a:prstGeom>
          <a:noFill/>
          <a:ln/>
        </p:spPr>
        <p:txBody>
          <a:bodyPr wrap="square" lIns="0" tIns="0" rIns="0" bIns="0" rtlCol="0" anchor="ctr"/>
          <a:lstStyle/>
          <a:p>
            <a:pPr marL="685800" indent="-685800">
              <a:buFont typeface="Wingdings" panose="05000000000000000000" pitchFamily="2" charset="2"/>
              <a:buChar char="§"/>
            </a:pPr>
            <a:r>
              <a:rPr lang="en-GB" sz="4000" b="1" dirty="0">
                <a:solidFill>
                  <a:schemeClr val="accent2"/>
                </a:solidFill>
                <a:latin typeface="Aptos" pitchFamily="34" charset="0"/>
                <a:ea typeface="Aptos" pitchFamily="34" charset="-122"/>
                <a:cs typeface="Aptos" pitchFamily="34" charset="-120"/>
              </a:rPr>
              <a:t>The Challenge. </a:t>
            </a:r>
            <a:r>
              <a:rPr lang="en-GB" sz="4000" b="1" dirty="0">
                <a:solidFill>
                  <a:schemeClr val="tx1">
                    <a:lumMod val="75000"/>
                  </a:schemeClr>
                </a:solidFill>
                <a:latin typeface="Aptos" pitchFamily="34" charset="0"/>
                <a:ea typeface="Aptos" pitchFamily="34" charset="-122"/>
                <a:cs typeface="Aptos" pitchFamily="34" charset="-120"/>
              </a:rPr>
              <a:t> </a:t>
            </a:r>
            <a:r>
              <a:rPr lang="en-GB" sz="4000" dirty="0">
                <a:solidFill>
                  <a:schemeClr val="tx1">
                    <a:lumMod val="75000"/>
                  </a:schemeClr>
                </a:solidFill>
                <a:latin typeface="Aptos" pitchFamily="34" charset="0"/>
                <a:ea typeface="Aptos" pitchFamily="34" charset="-122"/>
                <a:cs typeface="Aptos" pitchFamily="34" charset="-120"/>
              </a:rPr>
              <a:t>An internal audit in 2022 concluded that the existing framework of global power fundamentals suffered from serious issues due to inconsistencies in methodologies across the different modelling teams, lack of clarity / alignment on governance, and limited assurance on the work done and the price curves that were delivered. </a:t>
            </a:r>
          </a:p>
          <a:p>
            <a:pPr marL="685800" indent="-685800">
              <a:buFont typeface="Wingdings" panose="05000000000000000000" pitchFamily="2" charset="2"/>
              <a:buChar char="§"/>
            </a:pPr>
            <a:r>
              <a:rPr lang="en-GB" sz="4000" b="1" dirty="0">
                <a:solidFill>
                  <a:schemeClr val="accent2"/>
                </a:solidFill>
                <a:latin typeface="Aptos" pitchFamily="34" charset="0"/>
              </a:rPr>
              <a:t>The Purpose</a:t>
            </a:r>
            <a:r>
              <a:rPr lang="en-GB" sz="4000" b="1" dirty="0">
                <a:solidFill>
                  <a:schemeClr val="accent2"/>
                </a:solidFill>
                <a:latin typeface="Aptos" pitchFamily="34" charset="0"/>
                <a:ea typeface="Aptos" pitchFamily="34" charset="-122"/>
                <a:cs typeface="Aptos" pitchFamily="34" charset="-120"/>
              </a:rPr>
              <a:t>. </a:t>
            </a:r>
            <a:r>
              <a:rPr lang="en-GB" sz="4000" dirty="0">
                <a:solidFill>
                  <a:schemeClr val="tx1">
                    <a:lumMod val="75000"/>
                  </a:schemeClr>
                </a:solidFill>
                <a:latin typeface="Aptos" pitchFamily="34" charset="0"/>
                <a:ea typeface="Aptos" pitchFamily="34" charset="-122"/>
                <a:cs typeface="Aptos" pitchFamily="34" charset="-120"/>
              </a:rPr>
              <a:t>A Project was established in 2023 to create a robust framework for developing consistent long-term power price scenarios, fit-for-purpose, and with an appropriate level of independence from valuation/deal making process. </a:t>
            </a:r>
          </a:p>
          <a:p>
            <a:pPr marL="685800" indent="-685800">
              <a:buFont typeface="Wingdings" panose="05000000000000000000" pitchFamily="2" charset="2"/>
              <a:buChar char="§"/>
            </a:pPr>
            <a:r>
              <a:rPr lang="en-GB" sz="4000" b="1" dirty="0">
                <a:solidFill>
                  <a:schemeClr val="accent2"/>
                </a:solidFill>
                <a:latin typeface="Aptos" pitchFamily="34" charset="0"/>
              </a:rPr>
              <a:t>The Architecture. </a:t>
            </a:r>
            <a:r>
              <a:rPr lang="en-GB" sz="4000" dirty="0">
                <a:solidFill>
                  <a:schemeClr val="tx1">
                    <a:lumMod val="75000"/>
                  </a:schemeClr>
                </a:solidFill>
                <a:latin typeface="Aptos" pitchFamily="34" charset="0"/>
                <a:ea typeface="Aptos" pitchFamily="34" charset="-122"/>
                <a:cs typeface="Aptos" pitchFamily="34" charset="-120"/>
              </a:rPr>
              <a:t>Senior members from Shell Energy, Finance &amp; Strategy formed the DRB, overseeing the work to be implemented in two equally important tracks: </a:t>
            </a:r>
            <a:r>
              <a:rPr lang="en-GB" sz="4000" b="1" dirty="0">
                <a:solidFill>
                  <a:schemeClr val="accent2"/>
                </a:solidFill>
                <a:latin typeface="Aptos" pitchFamily="34" charset="0"/>
              </a:rPr>
              <a:t>Analysis</a:t>
            </a:r>
            <a:r>
              <a:rPr lang="en-GB" sz="4000" b="1" dirty="0">
                <a:solidFill>
                  <a:srgbClr val="C00000"/>
                </a:solidFill>
                <a:latin typeface="Aptos" pitchFamily="34" charset="0"/>
                <a:ea typeface="Aptos" pitchFamily="34" charset="-122"/>
                <a:cs typeface="Aptos" pitchFamily="34" charset="-120"/>
              </a:rPr>
              <a:t> </a:t>
            </a:r>
            <a:r>
              <a:rPr lang="en-GB" sz="4000" dirty="0">
                <a:solidFill>
                  <a:schemeClr val="tx1">
                    <a:lumMod val="75000"/>
                  </a:schemeClr>
                </a:solidFill>
                <a:latin typeface="Aptos" pitchFamily="34" charset="0"/>
                <a:ea typeface="Aptos" pitchFamily="34" charset="-122"/>
                <a:cs typeface="Aptos" pitchFamily="34" charset="-120"/>
              </a:rPr>
              <a:t>and </a:t>
            </a:r>
            <a:r>
              <a:rPr lang="en-GB" sz="4000" b="1" dirty="0">
                <a:solidFill>
                  <a:schemeClr val="accent2"/>
                </a:solidFill>
                <a:latin typeface="Aptos" pitchFamily="34" charset="0"/>
              </a:rPr>
              <a:t>Governance</a:t>
            </a:r>
            <a:r>
              <a:rPr lang="en-GB" sz="4000" dirty="0">
                <a:solidFill>
                  <a:schemeClr val="tx1">
                    <a:lumMod val="75000"/>
                  </a:schemeClr>
                </a:solidFill>
                <a:latin typeface="Aptos" pitchFamily="34" charset="0"/>
                <a:ea typeface="Aptos" pitchFamily="34" charset="-122"/>
                <a:cs typeface="Aptos" pitchFamily="34" charset="-120"/>
              </a:rPr>
              <a:t>.  New structure went live on Jan 2025. </a:t>
            </a:r>
          </a:p>
        </p:txBody>
      </p:sp>
      <p:sp>
        <p:nvSpPr>
          <p:cNvPr id="38" name="Text 14">
            <a:extLst>
              <a:ext uri="{FF2B5EF4-FFF2-40B4-BE49-F238E27FC236}">
                <a16:creationId xmlns:a16="http://schemas.microsoft.com/office/drawing/2014/main" id="{A12D794F-F9FD-CFF5-5DCE-B74DC9D5455A}"/>
              </a:ext>
            </a:extLst>
          </p:cNvPr>
          <p:cNvSpPr/>
          <p:nvPr/>
        </p:nvSpPr>
        <p:spPr>
          <a:xfrm>
            <a:off x="1104208" y="19082693"/>
            <a:ext cx="14192684" cy="12065901"/>
          </a:xfrm>
          <a:prstGeom prst="rect">
            <a:avLst/>
          </a:prstGeom>
          <a:noFill/>
          <a:ln/>
        </p:spPr>
        <p:txBody>
          <a:bodyPr wrap="square" lIns="0" tIns="0" rIns="0" bIns="0" rtlCol="0" anchor="t"/>
          <a:lstStyle/>
          <a:p>
            <a:pPr marL="685800" indent="-685800">
              <a:buFont typeface="Wingdings" panose="05000000000000000000" pitchFamily="2" charset="2"/>
              <a:buChar char="§"/>
            </a:pPr>
            <a:r>
              <a:rPr lang="en-US" sz="4000" b="1" dirty="0">
                <a:solidFill>
                  <a:schemeClr val="accent2"/>
                </a:solidFill>
                <a:latin typeface="Aptos" pitchFamily="34" charset="0"/>
                <a:ea typeface="Aptos" pitchFamily="34" charset="-122"/>
                <a:cs typeface="Aptos" pitchFamily="34" charset="-120"/>
              </a:rPr>
              <a:t>Creation of the Global Shell Power Scenarios</a:t>
            </a:r>
            <a:r>
              <a:rPr lang="en-GB" sz="4000" b="1" dirty="0">
                <a:solidFill>
                  <a:schemeClr val="accent2"/>
                </a:solidFill>
                <a:latin typeface="Aptos" pitchFamily="34" charset="0"/>
                <a:ea typeface="Aptos" pitchFamily="34" charset="-122"/>
                <a:cs typeface="Aptos" pitchFamily="34" charset="-120"/>
              </a:rPr>
              <a:t> </a:t>
            </a:r>
            <a:r>
              <a:rPr lang="en-GB" sz="4000" b="1" dirty="0">
                <a:solidFill>
                  <a:schemeClr val="tx1">
                    <a:lumMod val="75000"/>
                  </a:schemeClr>
                </a:solidFill>
                <a:latin typeface="Aptos" pitchFamily="34" charset="0"/>
                <a:ea typeface="Aptos" pitchFamily="34" charset="-122"/>
                <a:cs typeface="Aptos" pitchFamily="34" charset="-120"/>
              </a:rPr>
              <a:t>Reference</a:t>
            </a:r>
            <a:r>
              <a:rPr lang="en-GB" sz="4000" dirty="0">
                <a:solidFill>
                  <a:schemeClr val="tx1">
                    <a:lumMod val="75000"/>
                  </a:schemeClr>
                </a:solidFill>
                <a:latin typeface="Aptos" pitchFamily="34" charset="0"/>
                <a:ea typeface="Aptos" pitchFamily="34" charset="-122"/>
                <a:cs typeface="Aptos" pitchFamily="34" charset="-120"/>
              </a:rPr>
              <a:t>, </a:t>
            </a:r>
            <a:r>
              <a:rPr lang="en-GB" sz="4000" b="1" dirty="0">
                <a:solidFill>
                  <a:schemeClr val="tx1">
                    <a:lumMod val="75000"/>
                  </a:schemeClr>
                </a:solidFill>
                <a:latin typeface="Aptos" pitchFamily="34" charset="0"/>
                <a:ea typeface="Aptos" pitchFamily="34" charset="-122"/>
                <a:cs typeface="Aptos" pitchFamily="34" charset="-120"/>
              </a:rPr>
              <a:t>Ambition</a:t>
            </a:r>
            <a:r>
              <a:rPr lang="en-GB" sz="4000" dirty="0">
                <a:solidFill>
                  <a:schemeClr val="tx1">
                    <a:lumMod val="75000"/>
                  </a:schemeClr>
                </a:solidFill>
                <a:latin typeface="Aptos" pitchFamily="34" charset="0"/>
                <a:ea typeface="Aptos" pitchFamily="34" charset="-122"/>
                <a:cs typeface="Aptos" pitchFamily="34" charset="-120"/>
              </a:rPr>
              <a:t> and </a:t>
            </a:r>
            <a:r>
              <a:rPr lang="en-GB" sz="4000" b="1" dirty="0">
                <a:solidFill>
                  <a:schemeClr val="tx1">
                    <a:lumMod val="75000"/>
                  </a:schemeClr>
                </a:solidFill>
                <a:latin typeface="Aptos" pitchFamily="34" charset="0"/>
                <a:ea typeface="Aptos" pitchFamily="34" charset="-122"/>
                <a:cs typeface="Aptos" pitchFamily="34" charset="-120"/>
              </a:rPr>
              <a:t>Endurance</a:t>
            </a:r>
            <a:r>
              <a:rPr lang="en-GB" sz="4000" dirty="0">
                <a:solidFill>
                  <a:schemeClr val="tx1">
                    <a:lumMod val="75000"/>
                  </a:schemeClr>
                </a:solidFill>
                <a:latin typeface="Aptos" pitchFamily="34" charset="0"/>
                <a:ea typeface="Aptos" pitchFamily="34" charset="-122"/>
                <a:cs typeface="Aptos" pitchFamily="34" charset="-120"/>
              </a:rPr>
              <a:t> as </a:t>
            </a:r>
            <a:r>
              <a:rPr lang="en-US" sz="4000" dirty="0">
                <a:solidFill>
                  <a:schemeClr val="tx1">
                    <a:lumMod val="75000"/>
                  </a:schemeClr>
                </a:solidFill>
                <a:latin typeface="Aptos" pitchFamily="34" charset="0"/>
                <a:ea typeface="Aptos" pitchFamily="34" charset="-122"/>
                <a:cs typeface="Aptos" pitchFamily="34" charset="-120"/>
              </a:rPr>
              <a:t>comprehensive narratives to ensure global consistency while allowing for regional specificity.</a:t>
            </a: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r>
              <a:rPr lang="en-US" sz="4000" b="1" dirty="0">
                <a:solidFill>
                  <a:schemeClr val="accent2"/>
                </a:solidFill>
                <a:latin typeface="Aptos" pitchFamily="34" charset="0"/>
              </a:rPr>
              <a:t>Close collaboration </a:t>
            </a:r>
            <a:r>
              <a:rPr lang="en-US" sz="4000" dirty="0">
                <a:solidFill>
                  <a:schemeClr val="tx1">
                    <a:lumMod val="75000"/>
                  </a:schemeClr>
                </a:solidFill>
                <a:latin typeface="Aptos" pitchFamily="34" charset="0"/>
              </a:rPr>
              <a:t>between SIS Power Fundamentals and regional Shell Energy teams ensures global consistency and local specificities are aligned.</a:t>
            </a:r>
            <a:endParaRPr lang="en-GB" sz="4000" dirty="0">
              <a:solidFill>
                <a:schemeClr val="tx1">
                  <a:lumMod val="75000"/>
                </a:schemeClr>
              </a:solidFill>
              <a:latin typeface="Aptos" pitchFamily="34" charset="0"/>
              <a:ea typeface="Aptos" pitchFamily="34" charset="-122"/>
              <a:cs typeface="Aptos" pitchFamily="34" charset="-120"/>
            </a:endParaRPr>
          </a:p>
          <a:p>
            <a:pPr marL="685800" indent="-685800">
              <a:buFont typeface="Wingdings" panose="05000000000000000000" pitchFamily="2" charset="2"/>
              <a:buChar char="§"/>
            </a:pPr>
            <a:r>
              <a:rPr lang="en-US" sz="4000" b="1" dirty="0">
                <a:solidFill>
                  <a:schemeClr val="accent2"/>
                </a:solidFill>
                <a:latin typeface="Aptos" pitchFamily="34" charset="0"/>
              </a:rPr>
              <a:t>Clear and fit-for-purpose deliverables </a:t>
            </a:r>
            <a:r>
              <a:rPr lang="en-US" sz="4000" dirty="0">
                <a:solidFill>
                  <a:schemeClr val="tx1">
                    <a:lumMod val="75000"/>
                  </a:schemeClr>
                </a:solidFill>
                <a:latin typeface="Aptos" pitchFamily="34" charset="0"/>
              </a:rPr>
              <a:t>agreed with the Global/Regional Power Sounding Boards and</a:t>
            </a:r>
            <a:r>
              <a:rPr lang="en-US" sz="4000" b="1" dirty="0">
                <a:solidFill>
                  <a:schemeClr val="accent2"/>
                </a:solidFill>
                <a:latin typeface="Aptos" pitchFamily="34" charset="0"/>
              </a:rPr>
              <a:t> </a:t>
            </a:r>
            <a:r>
              <a:rPr lang="en-US" sz="4000" dirty="0">
                <a:solidFill>
                  <a:schemeClr val="tx1">
                    <a:lumMod val="75000"/>
                  </a:schemeClr>
                </a:solidFill>
                <a:latin typeface="Aptos" pitchFamily="34" charset="0"/>
              </a:rPr>
              <a:t>published in the economics PSV portal (power prices, RES generation, grid emissions, etc. )</a:t>
            </a:r>
            <a:endParaRPr lang="en-US" sz="4000" b="1" dirty="0">
              <a:solidFill>
                <a:schemeClr val="accent2"/>
              </a:solidFill>
              <a:latin typeface="Aptos" pitchFamily="34" charset="0"/>
            </a:endParaRPr>
          </a:p>
          <a:p>
            <a:pPr marL="685800" indent="-685800">
              <a:buFont typeface="Wingdings" panose="05000000000000000000" pitchFamily="2" charset="2"/>
              <a:buChar char="§"/>
            </a:pPr>
            <a:r>
              <a:rPr lang="en-US" sz="4000" b="1" dirty="0">
                <a:solidFill>
                  <a:schemeClr val="accent2"/>
                </a:solidFill>
                <a:latin typeface="Aptos" pitchFamily="34" charset="0"/>
              </a:rPr>
              <a:t>Globally consistent and aligned improvement roadmaps </a:t>
            </a:r>
            <a:r>
              <a:rPr lang="en-US" sz="4000" dirty="0">
                <a:solidFill>
                  <a:schemeClr val="tx1">
                    <a:lumMod val="75000"/>
                  </a:schemeClr>
                </a:solidFill>
                <a:latin typeface="Aptos" pitchFamily="34" charset="0"/>
              </a:rPr>
              <a:t>including e.g., detailed modeling of battery duration, weather years, demand flexibility, e-mobility, data centers, version control, validation, non-energy markets, etc.</a:t>
            </a:r>
          </a:p>
          <a:p>
            <a:pPr marL="685800" indent="-685800">
              <a:buFont typeface="Wingdings" panose="05000000000000000000" pitchFamily="2" charset="2"/>
              <a:buChar char="§"/>
            </a:pPr>
            <a:endParaRPr lang="en-US" sz="4000" dirty="0">
              <a:solidFill>
                <a:schemeClr val="tx1">
                  <a:lumMod val="75000"/>
                </a:schemeClr>
              </a:solidFill>
              <a:latin typeface="Aptos" pitchFamily="34" charset="0"/>
              <a:ea typeface="Aptos" pitchFamily="34" charset="-122"/>
              <a:cs typeface="Aptos" pitchFamily="34" charset="-120"/>
            </a:endParaRPr>
          </a:p>
        </p:txBody>
      </p:sp>
      <p:sp>
        <p:nvSpPr>
          <p:cNvPr id="40" name="Text 14">
            <a:extLst>
              <a:ext uri="{FF2B5EF4-FFF2-40B4-BE49-F238E27FC236}">
                <a16:creationId xmlns:a16="http://schemas.microsoft.com/office/drawing/2014/main" id="{AA48F099-3B06-1827-9864-7070F58A5540}"/>
              </a:ext>
            </a:extLst>
          </p:cNvPr>
          <p:cNvSpPr/>
          <p:nvPr/>
        </p:nvSpPr>
        <p:spPr>
          <a:xfrm>
            <a:off x="15651126" y="19058538"/>
            <a:ext cx="14005914" cy="5718751"/>
          </a:xfrm>
          <a:prstGeom prst="rect">
            <a:avLst/>
          </a:prstGeom>
          <a:noFill/>
          <a:ln/>
        </p:spPr>
        <p:txBody>
          <a:bodyPr wrap="square" lIns="0" tIns="0" rIns="0" bIns="0" rtlCol="0" anchor="t"/>
          <a:lstStyle/>
          <a:p>
            <a:pPr marL="685800" indent="-685800">
              <a:buFont typeface="Wingdings" panose="05000000000000000000" pitchFamily="2" charset="2"/>
              <a:buChar char="§"/>
            </a:pPr>
            <a:r>
              <a:rPr lang="en-GB" sz="4000" b="1" dirty="0">
                <a:solidFill>
                  <a:schemeClr val="accent2"/>
                </a:solidFill>
                <a:latin typeface="Aptos" pitchFamily="34" charset="0"/>
              </a:rPr>
              <a:t>Governance structure in two-layers </a:t>
            </a:r>
            <a:r>
              <a:rPr lang="en-GB" sz="4000" dirty="0">
                <a:solidFill>
                  <a:schemeClr val="tx1">
                    <a:lumMod val="75000"/>
                  </a:schemeClr>
                </a:solidFill>
                <a:latin typeface="Aptos" pitchFamily="34" charset="0"/>
              </a:rPr>
              <a:t>allows for </a:t>
            </a:r>
            <a:r>
              <a:rPr lang="en-GB" sz="4000" b="1" dirty="0">
                <a:solidFill>
                  <a:schemeClr val="tx1">
                    <a:lumMod val="75000"/>
                  </a:schemeClr>
                </a:solidFill>
                <a:latin typeface="Aptos" pitchFamily="34" charset="0"/>
              </a:rPr>
              <a:t>global alignment </a:t>
            </a:r>
            <a:r>
              <a:rPr lang="en-GB" sz="4000" dirty="0">
                <a:solidFill>
                  <a:schemeClr val="tx1">
                    <a:lumMod val="75000"/>
                  </a:schemeClr>
                </a:solidFill>
                <a:latin typeface="Aptos" pitchFamily="34" charset="0"/>
              </a:rPr>
              <a:t>while exploiting </a:t>
            </a:r>
            <a:r>
              <a:rPr lang="en-GB" sz="4000" b="1" dirty="0">
                <a:solidFill>
                  <a:schemeClr val="tx1">
                    <a:lumMod val="75000"/>
                  </a:schemeClr>
                </a:solidFill>
                <a:latin typeface="Aptos" pitchFamily="34" charset="0"/>
              </a:rPr>
              <a:t>regional expertise</a:t>
            </a:r>
            <a:r>
              <a:rPr lang="en-GB" sz="4000" dirty="0">
                <a:solidFill>
                  <a:schemeClr val="tx1">
                    <a:lumMod val="75000"/>
                  </a:schemeClr>
                </a:solidFill>
                <a:latin typeface="Aptos" pitchFamily="34" charset="0"/>
              </a:rPr>
              <a:t>:</a:t>
            </a:r>
          </a:p>
          <a:p>
            <a:pPr marL="1857150" lvl="1" indent="-742950">
              <a:buFont typeface="+mj-lt"/>
              <a:buAutoNum type="arabicPeriod"/>
            </a:pPr>
            <a:r>
              <a:rPr lang="en-GB" sz="4000" b="1" dirty="0">
                <a:solidFill>
                  <a:schemeClr val="accent2"/>
                </a:solidFill>
                <a:latin typeface="Aptos" pitchFamily="34" charset="0"/>
              </a:rPr>
              <a:t>Global Power Sounding Board </a:t>
            </a:r>
            <a:r>
              <a:rPr lang="en-US" sz="4000" dirty="0">
                <a:solidFill>
                  <a:schemeClr val="tx1">
                    <a:lumMod val="75000"/>
                  </a:schemeClr>
                </a:solidFill>
                <a:latin typeface="Aptos" pitchFamily="34" charset="0"/>
                <a:ea typeface="Aptos" pitchFamily="34" charset="-122"/>
                <a:cs typeface="Aptos" pitchFamily="34" charset="-120"/>
              </a:rPr>
              <a:t>(GPSB, chaired by Laszlo) establishes implementation of best practices and a joint roadmap. </a:t>
            </a:r>
          </a:p>
          <a:p>
            <a:pPr marL="1857150" lvl="1" indent="-742950">
              <a:buFont typeface="+mj-lt"/>
              <a:buAutoNum type="arabicPeriod"/>
            </a:pPr>
            <a:r>
              <a:rPr lang="en-US" sz="4000" b="1" dirty="0">
                <a:solidFill>
                  <a:schemeClr val="accent2"/>
                </a:solidFill>
                <a:latin typeface="Aptos" pitchFamily="34" charset="0"/>
              </a:rPr>
              <a:t>Regional Power Sounding Boards </a:t>
            </a:r>
            <a:r>
              <a:rPr lang="en-US" sz="4000" dirty="0">
                <a:solidFill>
                  <a:schemeClr val="tx1">
                    <a:lumMod val="75000"/>
                  </a:schemeClr>
                </a:solidFill>
                <a:latin typeface="Aptos" pitchFamily="34" charset="0"/>
                <a:ea typeface="Aptos" pitchFamily="34" charset="-122"/>
                <a:cs typeface="Aptos" pitchFamily="34" charset="-120"/>
              </a:rPr>
              <a:t>(RPSBs, chaired by VP Shell Energy for Asia, Australia, Americas, Europe) apply regional expertise to challenge and approve power scenarios and prices.</a:t>
            </a:r>
          </a:p>
          <a:p>
            <a:endParaRPr lang="en-US" sz="4000" dirty="0">
              <a:solidFill>
                <a:schemeClr val="tx1">
                  <a:lumMod val="75000"/>
                </a:schemeClr>
              </a:solidFill>
              <a:latin typeface="Aptos" pitchFamily="34" charset="0"/>
              <a:ea typeface="Aptos" pitchFamily="34" charset="-122"/>
              <a:cs typeface="Aptos" pitchFamily="34" charset="-120"/>
            </a:endParaRPr>
          </a:p>
        </p:txBody>
      </p:sp>
      <p:sp>
        <p:nvSpPr>
          <p:cNvPr id="42" name="Text 14">
            <a:extLst>
              <a:ext uri="{FF2B5EF4-FFF2-40B4-BE49-F238E27FC236}">
                <a16:creationId xmlns:a16="http://schemas.microsoft.com/office/drawing/2014/main" id="{6EDED78D-CBC5-700E-5323-A554AE897C90}"/>
              </a:ext>
            </a:extLst>
          </p:cNvPr>
          <p:cNvSpPr/>
          <p:nvPr/>
        </p:nvSpPr>
        <p:spPr>
          <a:xfrm>
            <a:off x="956486" y="34683405"/>
            <a:ext cx="8080466" cy="6939695"/>
          </a:xfrm>
          <a:prstGeom prst="rect">
            <a:avLst/>
          </a:prstGeom>
          <a:noFill/>
          <a:ln>
            <a:noFill/>
          </a:ln>
        </p:spPr>
        <p:txBody>
          <a:bodyPr wrap="square" lIns="0" tIns="0" rIns="0" bIns="0" rtlCol="0" anchor="t"/>
          <a:lstStyle/>
          <a:p>
            <a:pPr algn="just"/>
            <a:r>
              <a:rPr lang="en-US" sz="4000" b="1" dirty="0">
                <a:solidFill>
                  <a:schemeClr val="accent2"/>
                </a:solidFill>
                <a:latin typeface="Aptos" pitchFamily="34" charset="0"/>
              </a:rPr>
              <a:t>Globally consistent power price scenarios. </a:t>
            </a:r>
            <a:r>
              <a:rPr lang="en-US" sz="4000" dirty="0">
                <a:solidFill>
                  <a:schemeClr val="tx1">
                    <a:lumMod val="75000"/>
                  </a:schemeClr>
                </a:solidFill>
                <a:latin typeface="Aptos" pitchFamily="34" charset="0"/>
              </a:rPr>
              <a:t>S</a:t>
            </a:r>
            <a:r>
              <a:rPr lang="en-US" sz="4000" dirty="0">
                <a:solidFill>
                  <a:schemeClr val="tx1">
                    <a:lumMod val="75000"/>
                  </a:schemeClr>
                </a:solidFill>
                <a:latin typeface="Aptos" pitchFamily="34" charset="0"/>
                <a:ea typeface="Aptos" pitchFamily="34" charset="-122"/>
                <a:cs typeface="Aptos" pitchFamily="34" charset="-120"/>
              </a:rPr>
              <a:t>ince 2025 Q2, the framework has delivered power price scenarios that are globally consistent, built over a common narrative, considering regional specificities and local business needs across Australia, Asia, Europe, and the Americas. </a:t>
            </a:r>
          </a:p>
        </p:txBody>
      </p:sp>
      <p:sp>
        <p:nvSpPr>
          <p:cNvPr id="50" name="Text 14">
            <a:extLst>
              <a:ext uri="{FF2B5EF4-FFF2-40B4-BE49-F238E27FC236}">
                <a16:creationId xmlns:a16="http://schemas.microsoft.com/office/drawing/2014/main" id="{5CA13E24-9537-D8D3-AB9E-B899AB6B43B5}"/>
              </a:ext>
            </a:extLst>
          </p:cNvPr>
          <p:cNvSpPr/>
          <p:nvPr/>
        </p:nvSpPr>
        <p:spPr>
          <a:xfrm>
            <a:off x="23881676" y="25429352"/>
            <a:ext cx="5159829" cy="7634176"/>
          </a:xfrm>
          <a:prstGeom prst="rect">
            <a:avLst/>
          </a:prstGeom>
          <a:noFill/>
          <a:ln/>
        </p:spPr>
        <p:txBody>
          <a:bodyPr wrap="square" lIns="0" tIns="0" rIns="0" bIns="0" rtlCol="0" anchor="t"/>
          <a:lstStyle/>
          <a:p>
            <a:r>
              <a:rPr lang="en-GB" sz="3200" i="1" dirty="0">
                <a:solidFill>
                  <a:srgbClr val="A0A0A0"/>
                </a:solidFill>
                <a:latin typeface="Aptos" pitchFamily="34" charset="0"/>
                <a:ea typeface="Aptos" pitchFamily="34" charset="-122"/>
                <a:cs typeface="Aptos" pitchFamily="34" charset="-120"/>
              </a:rPr>
              <a:t>Schedule of GPSBs and RPSBs that took place over the course of 2025 and 2026 (so far) which led to the delivery and approval of Power scenarios and Power PSVs (Project Screening Values) in 2025 Q2, 2025 Q4, 2026 Q2 for all Shell Energy regions: 6 markets in Europe, 6 markets in the Americas, 2 in Australia, 3 in Asia.</a:t>
            </a:r>
            <a:endParaRPr lang="en-US" sz="3200" i="1" dirty="0">
              <a:solidFill>
                <a:srgbClr val="A0A0A0"/>
              </a:solidFill>
              <a:latin typeface="Aptos" pitchFamily="34" charset="0"/>
              <a:ea typeface="Aptos" pitchFamily="34" charset="-122"/>
              <a:cs typeface="Aptos" pitchFamily="34" charset="-120"/>
            </a:endParaRPr>
          </a:p>
        </p:txBody>
      </p:sp>
      <p:sp>
        <p:nvSpPr>
          <p:cNvPr id="52" name="Rectangle 51">
            <a:extLst>
              <a:ext uri="{FF2B5EF4-FFF2-40B4-BE49-F238E27FC236}">
                <a16:creationId xmlns:a16="http://schemas.microsoft.com/office/drawing/2014/main" id="{5C63628D-341B-2587-9A61-FD579F490C45}"/>
              </a:ext>
            </a:extLst>
          </p:cNvPr>
          <p:cNvSpPr/>
          <p:nvPr/>
        </p:nvSpPr>
        <p:spPr>
          <a:xfrm>
            <a:off x="1299030" y="21942850"/>
            <a:ext cx="4172977" cy="608776"/>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800" b="1"/>
              <a:t>Ambition</a:t>
            </a:r>
          </a:p>
        </p:txBody>
      </p:sp>
      <p:sp>
        <p:nvSpPr>
          <p:cNvPr id="54" name="Rectangle 53">
            <a:extLst>
              <a:ext uri="{FF2B5EF4-FFF2-40B4-BE49-F238E27FC236}">
                <a16:creationId xmlns:a16="http://schemas.microsoft.com/office/drawing/2014/main" id="{F126DD67-E308-BB4C-6FC0-87DCA5B6A017}"/>
              </a:ext>
            </a:extLst>
          </p:cNvPr>
          <p:cNvSpPr/>
          <p:nvPr/>
        </p:nvSpPr>
        <p:spPr>
          <a:xfrm>
            <a:off x="10506530" y="21942850"/>
            <a:ext cx="4533899" cy="608776"/>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800" b="1"/>
              <a:t>Endurance</a:t>
            </a:r>
          </a:p>
        </p:txBody>
      </p:sp>
      <p:sp>
        <p:nvSpPr>
          <p:cNvPr id="56" name="Rectangle 55">
            <a:extLst>
              <a:ext uri="{FF2B5EF4-FFF2-40B4-BE49-F238E27FC236}">
                <a16:creationId xmlns:a16="http://schemas.microsoft.com/office/drawing/2014/main" id="{30BACD18-D6FB-4701-7229-6C4B66431150}"/>
              </a:ext>
            </a:extLst>
          </p:cNvPr>
          <p:cNvSpPr/>
          <p:nvPr/>
        </p:nvSpPr>
        <p:spPr>
          <a:xfrm>
            <a:off x="5938009" y="21942850"/>
            <a:ext cx="4178781" cy="6087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a:solidFill>
                  <a:schemeClr val="tx1"/>
                </a:solidFill>
              </a:rPr>
              <a:t>Reference</a:t>
            </a:r>
          </a:p>
        </p:txBody>
      </p:sp>
      <p:sp>
        <p:nvSpPr>
          <p:cNvPr id="60" name="TextBox 59">
            <a:extLst>
              <a:ext uri="{FF2B5EF4-FFF2-40B4-BE49-F238E27FC236}">
                <a16:creationId xmlns:a16="http://schemas.microsoft.com/office/drawing/2014/main" id="{C1E0EDE3-5E6D-5031-1607-75F15DB4ABB5}"/>
              </a:ext>
            </a:extLst>
          </p:cNvPr>
          <p:cNvSpPr txBox="1"/>
          <p:nvPr/>
        </p:nvSpPr>
        <p:spPr bwMode="auto">
          <a:xfrm>
            <a:off x="1286330" y="22691176"/>
            <a:ext cx="4171212" cy="1231106"/>
          </a:xfrm>
          <a:prstGeom prst="rect">
            <a:avLst/>
          </a:prstGeom>
          <a:noFill/>
          <a:ln w="9525" algn="ctr">
            <a:noFill/>
            <a:miter lim="800000"/>
            <a:headEnd/>
            <a:tailEnd/>
          </a:ln>
        </p:spPr>
        <p:txBody>
          <a:bodyPr vert="horz" wrap="square" lIns="0" tIns="0" rIns="0" bIns="0" numCol="1" rtlCol="0" anchor="t" anchorCtr="0" compatLnSpc="1">
            <a:prstTxWarp prst="textNoShape">
              <a:avLst/>
            </a:prstTxWarp>
            <a:spAutoFit/>
          </a:bodyPr>
          <a:lstStyle/>
          <a:p>
            <a:pPr defTabSz="357708">
              <a:buClr>
                <a:schemeClr val="accent2"/>
              </a:buClr>
              <a:buSzPct val="85000"/>
            </a:pPr>
            <a:r>
              <a:rPr lang="en-GB" sz="2000" dirty="0"/>
              <a:t>Successful implementation of ambitious policies drive technology innovation and give the power system a central position in society. </a:t>
            </a:r>
          </a:p>
        </p:txBody>
      </p:sp>
      <p:sp>
        <p:nvSpPr>
          <p:cNvPr id="62" name="TextBox 61">
            <a:extLst>
              <a:ext uri="{FF2B5EF4-FFF2-40B4-BE49-F238E27FC236}">
                <a16:creationId xmlns:a16="http://schemas.microsoft.com/office/drawing/2014/main" id="{6E799456-25DA-EAE9-C1B0-6A0528506C08}"/>
              </a:ext>
            </a:extLst>
          </p:cNvPr>
          <p:cNvSpPr txBox="1"/>
          <p:nvPr/>
        </p:nvSpPr>
        <p:spPr bwMode="auto">
          <a:xfrm>
            <a:off x="10519230" y="22692356"/>
            <a:ext cx="4597400" cy="1231106"/>
          </a:xfrm>
          <a:prstGeom prst="rect">
            <a:avLst/>
          </a:prstGeom>
          <a:noFill/>
          <a:ln w="9525" algn="ctr">
            <a:noFill/>
            <a:miter lim="800000"/>
            <a:headEnd/>
            <a:tailEnd/>
          </a:ln>
        </p:spPr>
        <p:txBody>
          <a:bodyPr vert="horz" wrap="square" lIns="0" tIns="0" rIns="0" bIns="0" numCol="1" rtlCol="0" anchor="t" anchorCtr="0" compatLnSpc="1">
            <a:prstTxWarp prst="textNoShape">
              <a:avLst/>
            </a:prstTxWarp>
            <a:spAutoFit/>
          </a:bodyPr>
          <a:lstStyle/>
          <a:p>
            <a:pPr defTabSz="357708">
              <a:buClr>
                <a:schemeClr val="accent2"/>
              </a:buClr>
              <a:buSzPct val="85000"/>
            </a:pPr>
            <a:r>
              <a:rPr lang="en-GB" sz="2000" dirty="0"/>
              <a:t>A fragmented and messy evolution guided by market forces and powerful incumbents rather than policy. Geopolitical tensions result in a focus on national security.</a:t>
            </a:r>
          </a:p>
        </p:txBody>
      </p:sp>
      <p:sp>
        <p:nvSpPr>
          <p:cNvPr id="64" name="TextBox 63">
            <a:extLst>
              <a:ext uri="{FF2B5EF4-FFF2-40B4-BE49-F238E27FC236}">
                <a16:creationId xmlns:a16="http://schemas.microsoft.com/office/drawing/2014/main" id="{A43D65C2-F3E4-D717-D690-4FAFF564541A}"/>
              </a:ext>
            </a:extLst>
          </p:cNvPr>
          <p:cNvSpPr txBox="1"/>
          <p:nvPr/>
        </p:nvSpPr>
        <p:spPr bwMode="auto">
          <a:xfrm>
            <a:off x="5957545" y="22646283"/>
            <a:ext cx="4284157" cy="1231106"/>
          </a:xfrm>
          <a:prstGeom prst="rect">
            <a:avLst/>
          </a:prstGeom>
          <a:noFill/>
          <a:ln w="9525" algn="ctr">
            <a:noFill/>
            <a:miter lim="800000"/>
            <a:headEnd/>
            <a:tailEnd/>
          </a:ln>
        </p:spPr>
        <p:txBody>
          <a:bodyPr vert="horz" wrap="square" lIns="0" tIns="0" rIns="0" bIns="0" numCol="1" rtlCol="0" anchor="t" anchorCtr="0" compatLnSpc="1">
            <a:prstTxWarp prst="textNoShape">
              <a:avLst/>
            </a:prstTxWarp>
            <a:spAutoFit/>
          </a:bodyPr>
          <a:lstStyle/>
          <a:p>
            <a:pPr defTabSz="357708">
              <a:buClr>
                <a:schemeClr val="accent2"/>
              </a:buClr>
              <a:buSzPct val="85000"/>
            </a:pPr>
            <a:r>
              <a:rPr lang="en-GB" sz="2000" dirty="0"/>
              <a:t>Central view on current trends and policies balancing competing concerns on cost, climate and security with most likely technological improvements.</a:t>
            </a:r>
          </a:p>
        </p:txBody>
      </p:sp>
      <p:sp>
        <p:nvSpPr>
          <p:cNvPr id="71" name="Rectangle 70">
            <a:extLst>
              <a:ext uri="{FF2B5EF4-FFF2-40B4-BE49-F238E27FC236}">
                <a16:creationId xmlns:a16="http://schemas.microsoft.com/office/drawing/2014/main" id="{61006057-2104-5814-2E87-D1A8FFC7B2C6}"/>
              </a:ext>
            </a:extLst>
          </p:cNvPr>
          <p:cNvSpPr/>
          <p:nvPr/>
        </p:nvSpPr>
        <p:spPr>
          <a:xfrm>
            <a:off x="1153313" y="24240138"/>
            <a:ext cx="4475748" cy="7122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RV</a:t>
            </a:r>
            <a:r>
              <a:rPr lang="en-US" sz="2000" dirty="0">
                <a:solidFill>
                  <a:schemeClr val="tx1"/>
                </a:solidFill>
              </a:rPr>
              <a:t> Gas, Coal, CO2 PSVs</a:t>
            </a:r>
          </a:p>
        </p:txBody>
      </p:sp>
      <p:sp>
        <p:nvSpPr>
          <p:cNvPr id="73" name="Rectangle 72">
            <a:extLst>
              <a:ext uri="{FF2B5EF4-FFF2-40B4-BE49-F238E27FC236}">
                <a16:creationId xmlns:a16="http://schemas.microsoft.com/office/drawing/2014/main" id="{ECA704FF-570C-EF5C-90BA-5DEA585FD614}"/>
              </a:ext>
            </a:extLst>
          </p:cNvPr>
          <p:cNvSpPr/>
          <p:nvPr/>
        </p:nvSpPr>
        <p:spPr>
          <a:xfrm>
            <a:off x="5704458" y="24228909"/>
            <a:ext cx="4602480" cy="7234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RV </a:t>
            </a:r>
            <a:r>
              <a:rPr lang="en-US" sz="2000" dirty="0">
                <a:solidFill>
                  <a:schemeClr val="tx1"/>
                </a:solidFill>
              </a:rPr>
              <a:t>Gas, Coal, CO2 PSVs </a:t>
            </a:r>
          </a:p>
          <a:p>
            <a:pPr algn="ctr"/>
            <a:r>
              <a:rPr lang="en-US" sz="2000" dirty="0">
                <a:solidFill>
                  <a:schemeClr val="tx1"/>
                </a:solidFill>
              </a:rPr>
              <a:t>&amp; </a:t>
            </a:r>
            <a:r>
              <a:rPr lang="en-US" sz="2000" b="1" dirty="0">
                <a:solidFill>
                  <a:schemeClr val="tx1"/>
                </a:solidFill>
              </a:rPr>
              <a:t>HV, SV</a:t>
            </a:r>
            <a:r>
              <a:rPr lang="en-US" sz="2000" dirty="0">
                <a:solidFill>
                  <a:schemeClr val="tx1"/>
                </a:solidFill>
              </a:rPr>
              <a:t> Sensitivities</a:t>
            </a:r>
          </a:p>
        </p:txBody>
      </p:sp>
      <p:sp>
        <p:nvSpPr>
          <p:cNvPr id="75" name="Rectangle 74">
            <a:extLst>
              <a:ext uri="{FF2B5EF4-FFF2-40B4-BE49-F238E27FC236}">
                <a16:creationId xmlns:a16="http://schemas.microsoft.com/office/drawing/2014/main" id="{27A8D977-3C06-A25E-504F-F4115718DB51}"/>
              </a:ext>
            </a:extLst>
          </p:cNvPr>
          <p:cNvSpPr/>
          <p:nvPr/>
        </p:nvSpPr>
        <p:spPr>
          <a:xfrm>
            <a:off x="10401586" y="24200033"/>
            <a:ext cx="4794985" cy="7523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RV</a:t>
            </a:r>
            <a:r>
              <a:rPr lang="en-US" sz="2000" dirty="0">
                <a:solidFill>
                  <a:schemeClr val="tx1"/>
                </a:solidFill>
              </a:rPr>
              <a:t> Gas, Coal, CO2 PSVs</a:t>
            </a:r>
          </a:p>
        </p:txBody>
      </p:sp>
      <p:pic>
        <p:nvPicPr>
          <p:cNvPr id="85" name="Picture 84">
            <a:extLst>
              <a:ext uri="{FF2B5EF4-FFF2-40B4-BE49-F238E27FC236}">
                <a16:creationId xmlns:a16="http://schemas.microsoft.com/office/drawing/2014/main" id="{1F234FFB-150C-C885-2F4F-5A74B6915A3B}"/>
              </a:ext>
            </a:extLst>
          </p:cNvPr>
          <p:cNvPicPr>
            <a:picLocks noChangeAspect="1"/>
          </p:cNvPicPr>
          <p:nvPr/>
        </p:nvPicPr>
        <p:blipFill>
          <a:blip r:embed="rId9"/>
          <a:stretch>
            <a:fillRect/>
          </a:stretch>
        </p:blipFill>
        <p:spPr>
          <a:xfrm>
            <a:off x="16056863" y="25110171"/>
            <a:ext cx="7754125" cy="7401664"/>
          </a:xfrm>
          <a:prstGeom prst="rect">
            <a:avLst/>
          </a:prstGeom>
        </p:spPr>
      </p:pic>
      <p:sp>
        <p:nvSpPr>
          <p:cNvPr id="20" name="Text 14">
            <a:extLst>
              <a:ext uri="{FF2B5EF4-FFF2-40B4-BE49-F238E27FC236}">
                <a16:creationId xmlns:a16="http://schemas.microsoft.com/office/drawing/2014/main" id="{A653F643-6B2F-7DA5-D230-121F0079A16E}"/>
              </a:ext>
            </a:extLst>
          </p:cNvPr>
          <p:cNvSpPr/>
          <p:nvPr/>
        </p:nvSpPr>
        <p:spPr>
          <a:xfrm>
            <a:off x="11049000" y="34725935"/>
            <a:ext cx="8481472" cy="6708108"/>
          </a:xfrm>
          <a:prstGeom prst="rect">
            <a:avLst/>
          </a:prstGeom>
          <a:noFill/>
          <a:ln/>
        </p:spPr>
        <p:txBody>
          <a:bodyPr wrap="square" lIns="0" tIns="0" rIns="0" bIns="0" rtlCol="0" anchor="t"/>
          <a:lstStyle/>
          <a:p>
            <a:pPr algn="just"/>
            <a:r>
              <a:rPr lang="en-GB" sz="4000" b="1" dirty="0">
                <a:solidFill>
                  <a:schemeClr val="accent2"/>
                </a:solidFill>
                <a:latin typeface="Aptos" pitchFamily="34" charset="0"/>
              </a:rPr>
              <a:t>Strong and Fluid Governance helps. </a:t>
            </a:r>
            <a:r>
              <a:rPr lang="en-GB" sz="4000" dirty="0">
                <a:solidFill>
                  <a:schemeClr val="tx1">
                    <a:lumMod val="75000"/>
                  </a:schemeClr>
                </a:solidFill>
                <a:latin typeface="Aptos" pitchFamily="34" charset="0"/>
              </a:rPr>
              <a:t>A key learning is that </a:t>
            </a:r>
            <a:r>
              <a:rPr lang="en-US" sz="4000" dirty="0">
                <a:solidFill>
                  <a:schemeClr val="tx1">
                    <a:lumMod val="75000"/>
                  </a:schemeClr>
                </a:solidFill>
                <a:latin typeface="Aptos" pitchFamily="34" charset="0"/>
              </a:rPr>
              <a:t>a </a:t>
            </a:r>
            <a:r>
              <a:rPr lang="en-US" sz="4000" dirty="0">
                <a:solidFill>
                  <a:schemeClr val="tx1">
                    <a:lumMod val="75000"/>
                  </a:schemeClr>
                </a:solidFill>
                <a:latin typeface="Aptos" pitchFamily="34" charset="0"/>
                <a:ea typeface="Aptos" pitchFamily="34" charset="-122"/>
                <a:cs typeface="Aptos" pitchFamily="34" charset="-120"/>
              </a:rPr>
              <a:t>fluid governance process that allows dynamic improvements on a global scale and flexibility to capture local specificities provides a very good framework to produce quantitative results that are fit-for-purpose and methodologically sound. </a:t>
            </a:r>
          </a:p>
        </p:txBody>
      </p:sp>
      <p:sp>
        <p:nvSpPr>
          <p:cNvPr id="25" name="Text 14">
            <a:extLst>
              <a:ext uri="{FF2B5EF4-FFF2-40B4-BE49-F238E27FC236}">
                <a16:creationId xmlns:a16="http://schemas.microsoft.com/office/drawing/2014/main" id="{26B27CCA-A737-9DD4-8834-84E474FF4590}"/>
              </a:ext>
            </a:extLst>
          </p:cNvPr>
          <p:cNvSpPr/>
          <p:nvPr/>
        </p:nvSpPr>
        <p:spPr>
          <a:xfrm>
            <a:off x="20974050" y="34789730"/>
            <a:ext cx="8344677" cy="6441495"/>
          </a:xfrm>
          <a:prstGeom prst="rect">
            <a:avLst/>
          </a:prstGeom>
          <a:noFill/>
          <a:ln/>
        </p:spPr>
        <p:txBody>
          <a:bodyPr wrap="square" lIns="0" tIns="0" rIns="0" bIns="0" rtlCol="0" anchor="t"/>
          <a:lstStyle/>
          <a:p>
            <a:r>
              <a:rPr lang="en-US" sz="4000" b="1" dirty="0">
                <a:solidFill>
                  <a:schemeClr val="accent2"/>
                </a:solidFill>
                <a:latin typeface="Aptos" pitchFamily="34" charset="0"/>
              </a:rPr>
              <a:t>Engine for continuous improvement and learning across teams and regions. </a:t>
            </a:r>
            <a:r>
              <a:rPr lang="en-US" sz="4000" dirty="0">
                <a:solidFill>
                  <a:schemeClr val="tx1">
                    <a:lumMod val="75000"/>
                  </a:schemeClr>
                </a:solidFill>
                <a:latin typeface="Aptos" pitchFamily="34" charset="0"/>
                <a:ea typeface="Aptos" pitchFamily="34" charset="-122"/>
                <a:cs typeface="Aptos" pitchFamily="34" charset="-120"/>
              </a:rPr>
              <a:t>The framework provides the engine to improve and learn across the global community with the SCA Power team as center of global expertise.</a:t>
            </a:r>
          </a:p>
        </p:txBody>
      </p:sp>
      <p:cxnSp>
        <p:nvCxnSpPr>
          <p:cNvPr id="27" name="Straight Connector 26">
            <a:extLst>
              <a:ext uri="{FF2B5EF4-FFF2-40B4-BE49-F238E27FC236}">
                <a16:creationId xmlns:a16="http://schemas.microsoft.com/office/drawing/2014/main" id="{B779A2A8-76A2-57BA-F90E-BA00466F22B4}"/>
              </a:ext>
            </a:extLst>
          </p:cNvPr>
          <p:cNvCxnSpPr>
            <a:cxnSpLocks/>
          </p:cNvCxnSpPr>
          <p:nvPr/>
        </p:nvCxnSpPr>
        <p:spPr>
          <a:xfrm>
            <a:off x="10116790" y="34742903"/>
            <a:ext cx="0" cy="6160175"/>
          </a:xfrm>
          <a:prstGeom prst="line">
            <a:avLst/>
          </a:prstGeom>
          <a:ln w="762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181A169-EB3D-0541-3C16-B688FFC7A20C}"/>
              </a:ext>
            </a:extLst>
          </p:cNvPr>
          <p:cNvCxnSpPr>
            <a:cxnSpLocks/>
          </p:cNvCxnSpPr>
          <p:nvPr/>
        </p:nvCxnSpPr>
        <p:spPr>
          <a:xfrm>
            <a:off x="20312168" y="34742903"/>
            <a:ext cx="0" cy="6160175"/>
          </a:xfrm>
          <a:prstGeom prst="line">
            <a:avLst/>
          </a:prstGeom>
          <a:ln w="762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29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hell layouts with footer">
  <a:themeElements>
    <a:clrScheme name="Custom 1">
      <a:dk1>
        <a:srgbClr val="595959"/>
      </a:dk1>
      <a:lt1>
        <a:srgbClr val="FFFFFF"/>
      </a:lt1>
      <a:dk2>
        <a:srgbClr val="EAEAEA"/>
      </a:dk2>
      <a:lt2>
        <a:srgbClr val="CCCCCC"/>
      </a:lt2>
      <a:accent1>
        <a:srgbClr val="F7D117"/>
      </a:accent1>
      <a:accent2>
        <a:srgbClr val="D42E12"/>
      </a:accent2>
      <a:accent3>
        <a:srgbClr val="003882"/>
      </a:accent3>
      <a:accent4>
        <a:srgbClr val="611759"/>
      </a:accent4>
      <a:accent5>
        <a:srgbClr val="00824A"/>
      </a:accent5>
      <a:accent6>
        <a:srgbClr val="DE8703"/>
      </a:accent6>
      <a:hlink>
        <a:srgbClr val="000000"/>
      </a:hlink>
      <a:folHlink>
        <a:srgbClr val="000000"/>
      </a:folHlink>
    </a:clrScheme>
    <a:fontScheme name="Shell - Fonts">
      <a:majorFont>
        <a:latin typeface="Futura Medium"/>
        <a:ea typeface=""/>
        <a:cs typeface=""/>
      </a:majorFont>
      <a:minorFont>
        <a:latin typeface="Futura 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7800" indent="-177800">
          <a:lnSpc>
            <a:spcPct val="113000"/>
          </a:lnSpc>
          <a:spcAft>
            <a:spcPts val="60"/>
          </a:spcAft>
          <a:buFont typeface="Wingdings"/>
          <a:buChar char="n"/>
          <a:defRPr sz="16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SAEFSecurityClassificationTaxHTField0 xmlns="http://schemas.microsoft.com/sharepoint/v3">Restricted21aa7f98-4035-4019-a764-107acb7269af</SAEFSecurityClassificationTaxHTField0>
    <TaxCatchAll xmlns="5fe9d420-80f7-4ada-bee1-a7a60088c9b2">
      <Value>1</Value>
    </TaxCatchAll>
    <_dlc_DocId xmlns="5fe9d420-80f7-4ada-bee1-a7a60088c9b2">UXD4DQ5FARXZ-1534890728-4</_dlc_DocId>
    <_dlc_DocIdUrl xmlns="5fe9d420-80f7-4ada-bee1-a7a60088c9b2">
      <Url>https://eu001-sp.shell.com/sites/SPO002395/_layouts/15/DocIdRedir.aspx?ID=UXD4DQ5FARXZ-1534890728-4</Url>
      <Description>UXD4DQ5FARXZ-1534890728-4</Description>
    </_dlc_DocIdUrl>
    <ice2f7984e9548f9a31773f854109466 xmlns="5fe9d420-80f7-4ada-bee1-a7a60088c9b2">
      <Terms xmlns="http://schemas.microsoft.com/office/infopath/2007/PartnerControls">
        <TermInfo xmlns="http://schemas.microsoft.com/office/infopath/2007/PartnerControls">
          <TermName xmlns="http://schemas.microsoft.com/office/infopath/2007/PartnerControls">Restricted</TermName>
          <TermId xmlns="http://schemas.microsoft.com/office/infopath/2007/PartnerControls">21aa7f98-4035-4019-a764-107acb7269af</TermId>
        </TermInfo>
      </Terms>
    </ice2f7984e9548f9a31773f854109466>
  </documentManagement>
</p:properties>
</file>

<file path=customXml/item3.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F644A78CBFDAD44983885002DC8B3358" ma:contentTypeVersion="5" ma:contentTypeDescription="Shell Document Content Type" ma:contentTypeScope="" ma:versionID="9972982cb723cf5df02987a4cb397dc7">
  <xsd:schema xmlns:xsd="http://www.w3.org/2001/XMLSchema" xmlns:xs="http://www.w3.org/2001/XMLSchema" xmlns:p="http://schemas.microsoft.com/office/2006/metadata/properties" xmlns:ns1="http://schemas.microsoft.com/sharepoint/v3" xmlns:ns2="5fe9d420-80f7-4ada-bee1-a7a60088c9b2" xmlns:ns3="d897dab9-547b-4d8a-9e98-e2c84c4ab18d" targetNamespace="http://schemas.microsoft.com/office/2006/metadata/properties" ma:root="true" ma:fieldsID="11b7afb5536d3e270a25d7434dfd5e62" ns1:_="" ns2:_="" ns3:_="">
    <xsd:import namespace="http://schemas.microsoft.com/sharepoint/v3"/>
    <xsd:import namespace="5fe9d420-80f7-4ada-bee1-a7a60088c9b2"/>
    <xsd:import namespace="d897dab9-547b-4d8a-9e98-e2c84c4ab18d"/>
    <xsd:element name="properties">
      <xsd:complexType>
        <xsd:sequence>
          <xsd:element name="documentManagement">
            <xsd:complexType>
              <xsd:all>
                <xsd:element ref="ns2:_dlc_DocId" minOccurs="0"/>
                <xsd:element ref="ns2:_dlc_DocIdUrl" minOccurs="0"/>
                <xsd:element ref="ns2:_dlc_DocIdPersistId" minOccurs="0"/>
                <xsd:element ref="ns1:SAEFSecurityClassificationTaxHTField0" minOccurs="0"/>
                <xsd:element ref="ns2:ice2f7984e9548f9a31773f854109466" minOccurs="0"/>
                <xsd:element ref="ns2:TaxCatchAll" minOccurs="0"/>
                <xsd:element ref="ns2:TaxCatchAllLabel"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AEFSecurityClassificationTaxHTField0" ma:index="11" nillable="true" ma:displayName="Security Classification_0" ma:hidden="true" ma:internalName="SAEFSecurityClassification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420-80f7-4ada-bee1-a7a60088c9b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ice2f7984e9548f9a31773f854109466" ma:index="12" ma:taxonomy="true" ma:internalName="ice2f7984e9548f9a31773f854109466" ma:taxonomyFieldName="SAEFSecurityClassification" ma:displayName="Security Classification" ma:default="5;#Confidential|e4bc29b2-6e76-48cc-b090-8b544c0802ae"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TaxCatchAll" ma:index="13" nillable="true" ma:displayName="Taxonomy Catch All Column" ma:hidden="true" ma:list="{c7126bf2-9056-4401-894f-d1136f5f3720}" ma:internalName="TaxCatchAll" ma:showField="CatchAllData" ma:web="5fe9d420-80f7-4ada-bee1-a7a60088c9b2">
      <xsd:complexType>
        <xsd:complexContent>
          <xsd:extension base="dms:MultiChoiceLookup">
            <xsd:sequence>
              <xsd:element name="Value" type="dms:Lookup" maxOccurs="unbounded" minOccurs="0" nillable="true"/>
            </xsd:sequence>
          </xsd:extension>
        </xsd:complexContent>
      </xsd:complexType>
    </xsd:element>
    <xsd:element name="TaxCatchAllLabel" ma:index="14" nillable="true" ma:displayName="Taxonomy Catch All Column1" ma:hidden="true" ma:list="{c7126bf2-9056-4401-894f-d1136f5f3720}" ma:internalName="TaxCatchAllLabel" ma:readOnly="true" ma:showField="CatchAllDataLabel" ma:web="5fe9d420-80f7-4ada-bee1-a7a60088c9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897dab9-547b-4d8a-9e98-e2c84c4ab18d"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61660E5EC0DE1B4DAD6C926031D8653A" ma:contentTypeVersion="32" ma:contentTypeDescription="Shell Document Content Type" ma:contentTypeScope="" ma:versionID="4a7d4a4d6a76c91e4815906e76f5191f">
  <xsd:schema xmlns:xsd="http://www.w3.org/2001/XMLSchema" xmlns:xs="http://www.w3.org/2001/XMLSchema" xmlns:p="http://schemas.microsoft.com/office/2006/metadata/properties" xmlns:ns1="http://schemas.microsoft.com/sharepoint/v3" xmlns:ns3="9ef820fd-6db4-47b1-9dcb-1f7c1d9cfe14" xmlns:ns4="746761f9-fe31-4837-8dd0-5ad6c6b443af" targetNamespace="http://schemas.microsoft.com/office/2006/metadata/properties" ma:root="true" ma:fieldsID="aa4a173a92109ec83e98cf5453ec9649" ns1:_="" ns3:_="" ns4:_="">
    <xsd:import namespace="http://schemas.microsoft.com/sharepoint/v3"/>
    <xsd:import namespace="9ef820fd-6db4-47b1-9dcb-1f7c1d9cfe14"/>
    <xsd:import namespace="746761f9-fe31-4837-8dd0-5ad6c6b443af"/>
    <xsd:element name="properties">
      <xsd:complexType>
        <xsd:sequence>
          <xsd:element name="documentManagement">
            <xsd:complexType>
              <xsd:all>
                <xsd:element ref="ns1:Shell_x0020_SharePoint_x0020_SAEF_x0020_Owner" minOccurs="0"/>
                <xsd:element ref="ns1:Shell_x0020_SharePoint_x0020_SAEF_x0020_SiteCollectionName"/>
                <xsd:element ref="ns1:Shell_x0020_SharePoint_x0020_SAEF_x0020_SiteOwner"/>
                <xsd:element ref="ns1:Shell_x0020_SharePoint_x0020_SAEF_x0020_Collection"/>
                <xsd:element ref="ns1:Shell_x0020_SharePoint_x0020_SAEF_x0020_IsRecord" minOccurs="0"/>
                <xsd:element ref="ns1:Shell_x0020_SharePoint_x0020_SAEF_x0020_TRIMRecordNumber" minOccurs="0"/>
                <xsd:element ref="ns1:SAEFSecurityClassificationTaxHTField0" minOccurs="0"/>
                <xsd:element ref="ns1:Shell_x0020_SharePoint_x0020_SAEF_x0020_GlobalFunctionTaxHTField0" minOccurs="0"/>
                <xsd:element ref="ns1:Shell_x0020_SharePoint_x0020_SAEF_x0020_DocumentTypeTaxHTField0" minOccurs="0"/>
                <xsd:element ref="ns1:Shell_x0020_SharePoint_x0020_SAEF_x0020_LanguageTaxHTField0" minOccurs="0"/>
                <xsd:element ref="ns1:Shell_x0020_SharePoint_x0020_SAEF_x0020_BusinessTaxHTField0" minOccurs="0"/>
                <xsd:element ref="ns1:Shell_x0020_SharePoint_x0020_SAEF_x0020_CountryOfJurisdictionTaxHTField0" minOccurs="0"/>
                <xsd:element ref="ns1:Shell_x0020_SharePoint_x0020_SAEF_x0020_DocumentStatusTaxHTField0" minOccurs="0"/>
                <xsd:element ref="ns1:Shell_x0020_SharePoint_x0020_SAEF_x0020_BusinessUnitRegionTaxHTField0" minOccurs="0"/>
                <xsd:element ref="ns1:Shell_x0020_SharePoint_x0020_SAEF_x0020_AssetIdentifier" minOccurs="0"/>
                <xsd:element ref="ns3:_dlc_DocId" minOccurs="0"/>
                <xsd:element ref="ns3:_dlc_DocIdUrl" minOccurs="0"/>
                <xsd:element ref="ns3:_dlc_DocIdPersistId" minOccurs="0"/>
                <xsd:element ref="ns3:TaxCatchAll" minOccurs="0"/>
                <xsd:element ref="ns3:TaxCatchAllLabel" minOccurs="0"/>
                <xsd:element ref="ns3:n737336bf77f4bb6bc219f352620e077" minOccurs="0"/>
                <xsd:element ref="ns3:ca0f85b739b04089bd42fc5758e4ace8" minOccurs="0"/>
                <xsd:element ref="ns1:Shell_x0020_SharePoint_x0020_SAEF_x0020_BusinessProcessTaxHTField0" minOccurs="0"/>
                <xsd:element ref="ns1:Shell_x0020_SharePoint_x0020_SAEF_x0020_LegalEntityTaxHTField0" minOccurs="0"/>
                <xsd:element ref="ns1:Shell_x0020_SharePoint_x0020_SAEF_x0020_ExportControlClassificationTaxHTField0" minOccurs="0"/>
                <xsd:element ref="ns1:_dlc_Exempt" minOccurs="0"/>
                <xsd:element ref="ns1:_dlc_ExpireDateSaved" minOccurs="0"/>
                <xsd:element ref="ns1:_dlc_ExpireDate" minOccurs="0"/>
                <xsd:element ref="ns4:MediaServiceMetadata" minOccurs="0"/>
                <xsd:element ref="ns4:MediaServiceFastMetadata" minOccurs="0"/>
                <xsd:element ref="ns4:MediaServiceAutoKeyPoints" minOccurs="0"/>
                <xsd:element ref="ns4:MediaServiceKeyPoints" minOccurs="0"/>
                <xsd:element ref="ns3:SharedWithUsers" minOccurs="0"/>
                <xsd:element ref="ns3:SharedWithDetails" minOccurs="0"/>
                <xsd:element ref="ns4:MediaServiceObjectDetectorVersions" minOccurs="0"/>
                <xsd:element ref="ns4:MediaServiceSearchProperties" minOccurs="0"/>
                <xsd:element ref="ns4:lcf76f155ced4ddcb4097134ff3c332f" minOccurs="0"/>
                <xsd:element ref="ns4:MediaServiceOCR" minOccurs="0"/>
                <xsd:element ref="ns4:MediaServiceGenerationTime" minOccurs="0"/>
                <xsd:element ref="ns4:MediaServiceEventHashCode"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hell_x0020_SharePoint_x0020_SAEF_x0020_Owner" ma:index="7" nillable="true" ma:displayName="Owner" ma:hidden="true" ma:internalName="Shell_x0020_SharePoint_x0020_SAEF_x0020_Owner" ma:readOnly="false">
      <xsd:simpleType>
        <xsd:restriction base="dms:Text"/>
      </xsd:simpleType>
    </xsd:element>
    <xsd:element name="Shell_x0020_SharePoint_x0020_SAEF_x0020_SiteCollectionName" ma:index="13" ma:displayName="Site Collection Name" ma:default="New Energies Community site" ma:hidden="true" ma:internalName="Shell_x0020_SharePoint_x0020_SAEF_x0020_SiteCollectionName" ma:readOnly="false">
      <xsd:simpleType>
        <xsd:restriction base="dms:Text"/>
      </xsd:simpleType>
    </xsd:element>
    <xsd:element name="Shell_x0020_SharePoint_x0020_SAEF_x0020_SiteOwner" ma:index="14" ma:displayName="Site Owner" ma:default="i:0#.w|europe\gbx962-f" ma:hidden="true" ma:internalName="Shell_x0020_SharePoint_x0020_SAEF_x0020_SiteOwner" ma:readOnly="false">
      <xsd:simpleType>
        <xsd:restriction base="dms:Text">
          <xsd:maxLength value="255"/>
        </xsd:restriction>
      </xsd:simpleType>
    </xsd:element>
    <xsd:element name="Shell_x0020_SharePoint_x0020_SAEF_x0020_Collection" ma:index="17" ma:displayName="Collection" ma:default="0" ma:hidden="true" ma:internalName="Shell_x0020_SharePoint_x0020_SAEF_x0020_Collection" ma:readOnly="false">
      <xsd:simpleType>
        <xsd:restriction base="dms:Boolean"/>
      </xsd:simpleType>
    </xsd:element>
    <xsd:element name="Shell_x0020_SharePoint_x0020_SAEF_x0020_IsRecord" ma:index="19" nillable="true" ma:displayName="Is Archived" ma:hidden="true" ma:internalName="Shell_x0020_SharePoint_x0020_SAEF_x0020_IsRecord" ma:readOnly="false">
      <xsd:simpleType>
        <xsd:restriction base="dms:Text">
          <xsd:maxLength value="255"/>
        </xsd:restriction>
      </xsd:simpleType>
    </xsd:element>
    <xsd:element name="Shell_x0020_SharePoint_x0020_SAEF_x0020_TRIMRecordNumber" ma:index="20" nillable="true" ma:displayName="TRIM Record Number" ma:hidden="true" ma:internalName="Shell_x0020_SharePoint_x0020_SAEF_x0020_TRIMRecordNumber" ma:readOnly="false">
      <xsd:simpleType>
        <xsd:restriction base="dms:Text">
          <xsd:maxLength value="255"/>
        </xsd:restriction>
      </xsd:simpleType>
    </xsd:element>
    <xsd:element name="SAEFSecurityClassificationTaxHTField0" ma:index="21" ma:taxonomy="true" ma:internalName="SAEFSecurityClassificationTaxHTField0" ma:taxonomyFieldName="SAEFSecurityClassification" ma:displayName="Security Classification" ma:readOnly="false" ma:default="65;#Confidential|e4bc29b2-6e76-48cc-b090-8b544c0802ae"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Shell_x0020_SharePoint_x0020_SAEF_x0020_GlobalFunctionTaxHTField0" ma:index="22" ma:taxonomy="true" ma:internalName="Shell_x0020_SharePoint_x0020_SAEF_x0020_GlobalFunctionTaxHTField0" ma:taxonomyFieldName="Shell_x0020_SharePoint_x0020_SAEF_x0020_GlobalFunction" ma:displayName="Business Function" ma:readOnly="false" ma:default="-1;#Sustainable Development|2fbcccf5-c9b5-4b2d-984f-9a9b70c47e11" ma:fieldId="{1284211f-8330-48b1-a5cc-ec1f0d9b0f7a}" ma:sspId="e3aebf70-341c-4d91-bdd3-aba9df361687" ma:termSetId="354c4cc3-2d4b-4608-9bbd-a538d7fca2d9" ma:anchorId="00000000-0000-0000-0000-000000000000" ma:open="false" ma:isKeyword="false">
      <xsd:complexType>
        <xsd:sequence>
          <xsd:element ref="pc:Terms" minOccurs="0" maxOccurs="1"/>
        </xsd:sequence>
      </xsd:complexType>
    </xsd:element>
    <xsd:element name="Shell_x0020_SharePoint_x0020_SAEF_x0020_DocumentTypeTaxHTField0" ma:index="23" ma:taxonomy="true" ma:internalName="Shell_x0020_SharePoint_x0020_SAEF_x0020_DocumentTypeTaxHTField0" ma:taxonomyFieldName="Shell_x0020_SharePoint_x0020_SAEF_x0020_DocumentType" ma:displayName="Document Type" ma:readOnly="false" ma:default="-1;#Business Research, Analysis and Strategies [ARM]|0b8348bb-c07f-4d43-a5af-482b17134a45" ma:fieldId="{566fdc14-b4fa-46ee-a88e-e2aac7ad2eac}" ma:sspId="e3aebf70-341c-4d91-bdd3-aba9df361687" ma:termSetId="c44bbaaa-530b-481e-814c-1a89fe9de40e" ma:anchorId="352dd3f6-c8ee-4c48-93af-e62c944275c3" ma:open="false" ma:isKeyword="false">
      <xsd:complexType>
        <xsd:sequence>
          <xsd:element ref="pc:Terms" minOccurs="0" maxOccurs="1"/>
        </xsd:sequence>
      </xsd:complexType>
    </xsd:element>
    <xsd:element name="Shell_x0020_SharePoint_x0020_SAEF_x0020_LanguageTaxHTField0" ma:index="24" ma:taxonomy="true" ma:internalName="Shell_x0020_SharePoint_x0020_SAEF_x0020_LanguageTaxHTField0" ma:taxonomyFieldName="Shell_x0020_SharePoint_x0020_SAEF_x0020_Language" ma:displayName="Language" ma:readOnly="false" ma:default="-1;#English|bd3ad5ee-f0c3-40aa-8cc8-36ef09940af3" ma:fieldId="{a99e316a-5158-4b34-9a98-5674ef8a1639}" ma:sspId="e3aebf70-341c-4d91-bdd3-aba9df361687" ma:termSetId="b2561cd2-09b2-4dce-b5be-021768df6dab" ma:anchorId="00000000-0000-0000-0000-000000000000" ma:open="false" ma:isKeyword="false">
      <xsd:complexType>
        <xsd:sequence>
          <xsd:element ref="pc:Terms" minOccurs="0" maxOccurs="1"/>
        </xsd:sequence>
      </xsd:complexType>
    </xsd:element>
    <xsd:element name="Shell_x0020_SharePoint_x0020_SAEF_x0020_BusinessTaxHTField0" ma:index="25" ma:taxonomy="true" ma:internalName="Shell_x0020_SharePoint_x0020_SAEF_x0020_BusinessTaxHTField0" ma:taxonomyFieldName="Shell_x0020_SharePoint_x0020_SAEF_x0020_Business" ma:displayName="Business" ma:readOnly="false" ma:default="-1;#Upstream International|dabf15d9-4f75-4ed1-b8a1-a0c3e2a85888" ma:fieldId="{0d7acb72-5c17-4ee6-b184-d60d15597f6a}" ma:sspId="e3aebf70-341c-4d91-bdd3-aba9df361687" ma:termSetId="f928660f-a52c-4d0d-a7a1-af45e8e16dc6" ma:anchorId="00000000-0000-0000-0000-000000000000" ma:open="false" ma:isKeyword="false">
      <xsd:complexType>
        <xsd:sequence>
          <xsd:element ref="pc:Terms" minOccurs="0" maxOccurs="1"/>
        </xsd:sequence>
      </xsd:complexType>
    </xsd:element>
    <xsd:element name="Shell_x0020_SharePoint_x0020_SAEF_x0020_CountryOfJurisdictionTaxHTField0" ma:index="26" ma:taxonomy="true" ma:internalName="Shell_x0020_SharePoint_x0020_SAEF_x0020_CountryOfJurisdictionTaxHTField0" ma:taxonomyFieldName="Shell_x0020_SharePoint_x0020_SAEF_x0020_CountryOfJurisdiction" ma:displayName="Country of Jurisdiction" ma:readOnly="false" ma:default="-1;#NETHERLANDS|54565ecb-470f-40ea-a584-819150a65a13" ma:fieldId="{dc07035f-7987-48f5-ba88-2d29e2b62c9e}" ma:sspId="e3aebf70-341c-4d91-bdd3-aba9df361687" ma:termSetId="a560ecad-89fd-4dcd-adad-4e15e7baec58" ma:anchorId="00000000-0000-0000-0000-000000000000" ma:open="false" ma:isKeyword="false">
      <xsd:complexType>
        <xsd:sequence>
          <xsd:element ref="pc:Terms" minOccurs="0" maxOccurs="1"/>
        </xsd:sequence>
      </xsd:complexType>
    </xsd:element>
    <xsd:element name="Shell_x0020_SharePoint_x0020_SAEF_x0020_DocumentStatusTaxHTField0" ma:index="27" ma:taxonomy="true" ma:internalName="Shell_x0020_SharePoint_x0020_SAEF_x0020_DocumentStatusTaxHTField0" ma:taxonomyFieldName="Shell_x0020_SharePoint_x0020_SAEF_x0020_DocumentStatus" ma:displayName="Document Status" ma:readOnly="false" ma:default="11;#Draft|1c86f377-7d91-4c95-bd5b-c18c83fe0aa5" ma:fieldId="{627a77c6-2170-43dd-a0ef-eb6a3870ea75}" ma:sspId="e3aebf70-341c-4d91-bdd3-aba9df361687" ma:termSetId="935aba77-d2cb-414d-bb70-87b73a0515d8" ma:anchorId="00000000-0000-0000-0000-000000000000" ma:open="false" ma:isKeyword="false">
      <xsd:complexType>
        <xsd:sequence>
          <xsd:element ref="pc:Terms" minOccurs="0" maxOccurs="1"/>
        </xsd:sequence>
      </xsd:complexType>
    </xsd:element>
    <xsd:element name="Shell_x0020_SharePoint_x0020_SAEF_x0020_BusinessUnitRegionTaxHTField0" ma:index="28" ma:taxonomy="true" ma:internalName="Shell_x0020_SharePoint_x0020_SAEF_x0020_BusinessUnitRegionTaxHTField0" ma:taxonomyFieldName="Shell_x0020_SharePoint_x0020_SAEF_x0020_BusinessUnitRegion" ma:displayName="Business Unit/Region" ma:readOnly="false" ma:default="-1;#Integrated Gas and New Energies (IG)|b24d7756-098e-45bb-b74b-9e38f624bd27" ma:fieldId="{98984985-015b-4079-8918-b5a01b45e4b3}" ma:sspId="e3aebf70-341c-4d91-bdd3-aba9df361687" ma:termSetId="f928660f-a52c-4d0d-a7a1-af45e8e16dc6" ma:anchorId="00000000-0000-0000-0000-000000000000" ma:open="false" ma:isKeyword="false">
      <xsd:complexType>
        <xsd:sequence>
          <xsd:element ref="pc:Terms" minOccurs="0" maxOccurs="1"/>
        </xsd:sequence>
      </xsd:complexType>
    </xsd:element>
    <xsd:element name="Shell_x0020_SharePoint_x0020_SAEF_x0020_AssetIdentifier" ma:index="30" nillable="true" ma:displayName="Asset Identifier" ma:hidden="true" ma:internalName="Shell_x0020_SharePoint_x0020_SAEF_x0020_AssetIdentifier">
      <xsd:simpleType>
        <xsd:restriction base="dms:Text"/>
      </xsd:simpleType>
    </xsd:element>
    <xsd:element name="Shell_x0020_SharePoint_x0020_SAEF_x0020_BusinessProcessTaxHTField0" ma:index="43" nillable="true" ma:taxonomy="true" ma:internalName="Shell_x0020_SharePoint_x0020_SAEF_x0020_BusinessProcessTaxHTField0" ma:taxonomyFieldName="Shell_x0020_SharePoint_x0020_SAEF_x0020_BusinessProcess" ma:displayName="Business Process" ma:readOnly="false" ma:default="-1;#All - Records Management|1f68a0f2-47ab-4887-8df5-7c0616d5ad90" ma:fieldId="{f7493bb9-5348-44de-a787-5c9f505950a2}" ma:sspId="e3aebf70-341c-4d91-bdd3-aba9df361687" ma:termSetId="f105a133-66fc-4406-afa4-8b472c9cdbbb" ma:anchorId="00000000-0000-0000-0000-000000000000" ma:open="false" ma:isKeyword="false">
      <xsd:complexType>
        <xsd:sequence>
          <xsd:element ref="pc:Terms" minOccurs="0" maxOccurs="1"/>
        </xsd:sequence>
      </xsd:complexType>
    </xsd:element>
    <xsd:element name="Shell_x0020_SharePoint_x0020_SAEF_x0020_LegalEntityTaxHTField0" ma:index="45" ma:taxonomy="true" ma:internalName="Shell_x0020_SharePoint_x0020_SAEF_x0020_LegalEntityTaxHTField0" ma:taxonomyFieldName="Shell_x0020_SharePoint_x0020_SAEF_x0020_LegalEntity" ma:displayName="Legal Entity" ma:readOnly="false" ma:default="-1;#Shell International Exploration And Production B.V.|cbb4860b-b2d9-440c-a66e-143cae63fc13" ma:fieldId="{529dd253-148e-4d10-9b8c-1444f6695d3b}" ma:sspId="e3aebf70-341c-4d91-bdd3-aba9df361687" ma:termSetId="94b6dd6e-4329-4f68-907b-ed5bdd50f8ac" ma:anchorId="00000000-0000-0000-0000-000000000000" ma:open="false" ma:isKeyword="false">
      <xsd:complexType>
        <xsd:sequence>
          <xsd:element ref="pc:Terms" minOccurs="0" maxOccurs="1"/>
        </xsd:sequence>
      </xsd:complexType>
    </xsd:element>
    <xsd:element name="Shell_x0020_SharePoint_x0020_SAEF_x0020_ExportControlClassificationTaxHTField0" ma:index="46" nillable="true" ma:taxonomy="true" ma:internalName="Shell_x0020_SharePoint_x0020_SAEF_x0020_ExportControlClassificationTaxHTField0" ma:taxonomyFieldName="Shell_x0020_SharePoint_x0020_SAEF_x0020_ExportControlClassification" ma:displayName="Export Control" ma:readOnly="false" ma:default="-1;#US content - Non Controlled (EAR99)|28f925a0-3150-42d2-9202-9af8bad33ffa" ma:fieldId="{334f96ae-8e6f-4bca-bd92-9698e8369ad6}" ma:sspId="e3aebf70-341c-4d91-bdd3-aba9df361687" ma:termSetId="0a37200c-155d-4bd2-8a71-6ee4023d1aad" ma:anchorId="00000000-0000-0000-0000-000000000000" ma:open="false" ma:isKeyword="false">
      <xsd:complexType>
        <xsd:sequence>
          <xsd:element ref="pc:Terms" minOccurs="0" maxOccurs="1"/>
        </xsd:sequence>
      </xsd:complexType>
    </xsd:element>
    <xsd:element name="_dlc_Exempt" ma:index="47" nillable="true" ma:displayName="Exempt from Policy" ma:hidden="true" ma:internalName="_dlc_Exempt" ma:readOnly="true">
      <xsd:simpleType>
        <xsd:restriction base="dms:Unknown"/>
      </xsd:simpleType>
    </xsd:element>
    <xsd:element name="_dlc_ExpireDateSaved" ma:index="48" nillable="true" ma:displayName="Original Expiration Date" ma:hidden="true" ma:internalName="_dlc_ExpireDateSaved" ma:readOnly="true">
      <xsd:simpleType>
        <xsd:restriction base="dms:DateTime"/>
      </xsd:simpleType>
    </xsd:element>
    <xsd:element name="_dlc_ExpireDate" ma:index="49" nillable="true" ma:displayName="Expiration Date" ma:hidden="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9ef820fd-6db4-47b1-9dcb-1f7c1d9cfe14" elementFormDefault="qualified">
    <xsd:import namespace="http://schemas.microsoft.com/office/2006/documentManagement/types"/>
    <xsd:import namespace="http://schemas.microsoft.com/office/infopath/2007/PartnerControls"/>
    <xsd:element name="_dlc_DocId" ma:index="34" nillable="true" ma:displayName="Document ID Value" ma:description="The value of the document ID assigned to this item." ma:indexed="true" ma:internalName="_dlc_DocId" ma:readOnly="true">
      <xsd:simpleType>
        <xsd:restriction base="dms:Text"/>
      </xsd:simpleType>
    </xsd:element>
    <xsd:element name="_dlc_DocIdUrl" ma:index="3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6" nillable="true" ma:displayName="Persist ID" ma:description="Keep ID on add." ma:hidden="true" ma:internalName="_dlc_DocIdPersistId" ma:readOnly="true">
      <xsd:simpleType>
        <xsd:restriction base="dms:Boolean"/>
      </xsd:simpleType>
    </xsd:element>
    <xsd:element name="TaxCatchAll" ma:index="37" nillable="true" ma:displayName="Taxonomy Catch All Column" ma:hidden="true" ma:list="{94779f60-6b41-4f22-9be6-f45034c11779}" ma:internalName="TaxCatchAll" ma:showField="CatchAllData" ma:web="9ef820fd-6db4-47b1-9dcb-1f7c1d9cfe14">
      <xsd:complexType>
        <xsd:complexContent>
          <xsd:extension base="dms:MultiChoiceLookup">
            <xsd:sequence>
              <xsd:element name="Value" type="dms:Lookup" maxOccurs="unbounded" minOccurs="0" nillable="true"/>
            </xsd:sequence>
          </xsd:extension>
        </xsd:complexContent>
      </xsd:complexType>
    </xsd:element>
    <xsd:element name="TaxCatchAllLabel" ma:index="38" nillable="true" ma:displayName="Taxonomy Catch All Column1" ma:hidden="true" ma:list="{94779f60-6b41-4f22-9be6-f45034c11779}" ma:internalName="TaxCatchAllLabel" ma:readOnly="true" ma:showField="CatchAllDataLabel" ma:web="9ef820fd-6db4-47b1-9dcb-1f7c1d9cfe14">
      <xsd:complexType>
        <xsd:complexContent>
          <xsd:extension base="dms:MultiChoiceLookup">
            <xsd:sequence>
              <xsd:element name="Value" type="dms:Lookup" maxOccurs="unbounded" minOccurs="0" nillable="true"/>
            </xsd:sequence>
          </xsd:extension>
        </xsd:complexContent>
      </xsd:complexType>
    </xsd:element>
    <xsd:element name="n737336bf77f4bb6bc219f352620e077" ma:index="39" nillable="true" ma:taxonomy="true" ma:internalName="n737336bf77f4bb6bc219f352620e077" ma:taxonomyFieldName="Shell_x0020_SharePoint_x0020_SIS_x0020_Organization" ma:displayName="Organization" ma:readOnly="false" ma:default="" ma:fieldId="{7737336b-f77f-4bb6-bc21-9f352620e077}" ma:sspId="e3aebf70-341c-4d91-bdd3-aba9df361687" ma:termSetId="b02d6ce4-0bfa-4ecb-bc5a-b8d13c1ee04f" ma:anchorId="54406725-be47-4297-9b7b-c7c4d6d68c36" ma:open="false" ma:isKeyword="false">
      <xsd:complexType>
        <xsd:sequence>
          <xsd:element ref="pc:Terms" minOccurs="0" maxOccurs="1"/>
        </xsd:sequence>
      </xsd:complexType>
    </xsd:element>
    <xsd:element name="ca0f85b739b04089bd42fc5758e4ace8" ma:index="41" nillable="true" ma:taxonomy="true" ma:internalName="ca0f85b739b04089bd42fc5758e4ace8" ma:taxonomyFieldName="Shell_x0020_SharePoint_x0020_SIS_x0020_ProcessArea" ma:displayName="Process Area" ma:readOnly="false" ma:default="" ma:fieldId="{ca0f85b7-39b0-4089-bd42-fc5758e4ace8}" ma:sspId="e3aebf70-341c-4d91-bdd3-aba9df361687" ma:termSetId="b02d6ce4-0bfa-4ecb-bc5a-b8d13c1ee04f" ma:anchorId="59f7833b-8d5e-418a-9b6d-eda64cf1ea9c" ma:open="false" ma:isKeyword="false">
      <xsd:complexType>
        <xsd:sequence>
          <xsd:element ref="pc:Terms" minOccurs="0" maxOccurs="1"/>
        </xsd:sequence>
      </xsd:complexType>
    </xsd:element>
    <xsd:element name="SharedWithUsers" ma:index="5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5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46761f9-fe31-4837-8dd0-5ad6c6b443af" elementFormDefault="qualified">
    <xsd:import namespace="http://schemas.microsoft.com/office/2006/documentManagement/types"/>
    <xsd:import namespace="http://schemas.microsoft.com/office/infopath/2007/PartnerControls"/>
    <xsd:element name="MediaServiceMetadata" ma:index="50" nillable="true" ma:displayName="MediaServiceMetadata" ma:hidden="true" ma:internalName="MediaServiceMetadata" ma:readOnly="true">
      <xsd:simpleType>
        <xsd:restriction base="dms:Note"/>
      </xsd:simpleType>
    </xsd:element>
    <xsd:element name="MediaServiceFastMetadata" ma:index="51" nillable="true" ma:displayName="MediaServiceFastMetadata" ma:hidden="true" ma:internalName="MediaServiceFastMetadata" ma:readOnly="true">
      <xsd:simpleType>
        <xsd:restriction base="dms:Note"/>
      </xsd:simpleType>
    </xsd:element>
    <xsd:element name="MediaServiceAutoKeyPoints" ma:index="52" nillable="true" ma:displayName="MediaServiceAutoKeyPoints" ma:hidden="true" ma:internalName="MediaServiceAutoKeyPoints" ma:readOnly="true">
      <xsd:simpleType>
        <xsd:restriction base="dms:Note"/>
      </xsd:simpleType>
    </xsd:element>
    <xsd:element name="MediaServiceKeyPoints" ma:index="53" nillable="true" ma:displayName="KeyPoints" ma:internalName="MediaServiceKeyPoints" ma:readOnly="true">
      <xsd:simpleType>
        <xsd:restriction base="dms:Note">
          <xsd:maxLength value="255"/>
        </xsd:restriction>
      </xsd:simpleType>
    </xsd:element>
    <xsd:element name="MediaServiceObjectDetectorVersions" ma:index="56" nillable="true" ma:displayName="MediaServiceObjectDetectorVersions" ma:hidden="true" ma:indexed="true" ma:internalName="MediaServiceObjectDetectorVersions" ma:readOnly="true">
      <xsd:simpleType>
        <xsd:restriction base="dms:Text"/>
      </xsd:simpleType>
    </xsd:element>
    <xsd:element name="MediaServiceSearchProperties" ma:index="57" nillable="true" ma:displayName="MediaServiceSearchProperties" ma:hidden="true" ma:internalName="MediaServiceSearchProperties" ma:readOnly="true">
      <xsd:simpleType>
        <xsd:restriction base="dms:Note"/>
      </xsd:simpleType>
    </xsd:element>
    <xsd:element name="lcf76f155ced4ddcb4097134ff3c332f" ma:index="59" nillable="true" ma:taxonomy="true" ma:internalName="lcf76f155ced4ddcb4097134ff3c332f" ma:taxonomyFieldName="MediaServiceImageTags" ma:displayName="Image Tags" ma:readOnly="false" ma:fieldId="{5cf76f15-5ced-4ddc-b409-7134ff3c332f}" ma:taxonomyMulti="true" ma:sspId="e3aebf70-341c-4d91-bdd3-aba9df361687" ma:termSetId="09814cd3-568e-fe90-9814-8d621ff8fb84" ma:anchorId="fba54fb3-c3e1-fe81-a776-ca4b69148c4d" ma:open="true" ma:isKeyword="false">
      <xsd:complexType>
        <xsd:sequence>
          <xsd:element ref="pc:Terms" minOccurs="0" maxOccurs="1"/>
        </xsd:sequence>
      </xsd:complexType>
    </xsd:element>
    <xsd:element name="MediaServiceOCR" ma:index="60" nillable="true" ma:displayName="Extracted Text" ma:internalName="MediaServiceOCR" ma:readOnly="true">
      <xsd:simpleType>
        <xsd:restriction base="dms:Note">
          <xsd:maxLength value="255"/>
        </xsd:restriction>
      </xsd:simpleType>
    </xsd:element>
    <xsd:element name="MediaServiceGenerationTime" ma:index="61" nillable="true" ma:displayName="MediaServiceGenerationTime" ma:hidden="true" ma:internalName="MediaServiceGenerationTime" ma:readOnly="true">
      <xsd:simpleType>
        <xsd:restriction base="dms:Text"/>
      </xsd:simpleType>
    </xsd:element>
    <xsd:element name="MediaServiceEventHashCode" ma:index="62" nillable="true" ma:displayName="MediaServiceEventHashCode" ma:hidden="true" ma:internalName="MediaServiceEventHashCode" ma:readOnly="true">
      <xsd:simpleType>
        <xsd:restriction base="dms:Text"/>
      </xsd:simpleType>
    </xsd:element>
    <xsd:element name="MediaServiceDateTaken" ma:index="6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6" ma:displayName="Author"/>
        <xsd:element ref="dcterms:created" minOccurs="0" maxOccurs="1"/>
        <xsd:element ref="dc:identifier" minOccurs="0" maxOccurs="1"/>
        <xsd:element name="contentType" minOccurs="0" maxOccurs="1" type="xsd:string" ma:index="18" ma:displayName="Content Type" ma:readOnly="tru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E97B50-7F53-4957-8B96-1D634B6999FD}"/>
</file>

<file path=customXml/itemProps2.xml><?xml version="1.0" encoding="utf-8"?>
<ds:datastoreItem xmlns:ds="http://schemas.openxmlformats.org/officeDocument/2006/customXml" ds:itemID="{6CAE002A-7645-46A2-8C4A-738EDFAA7ED3}">
  <ds:schemaRefs>
    <ds:schemaRef ds:uri="http://www.w3.org/XML/1998/namespace"/>
    <ds:schemaRef ds:uri="http://purl.org/dc/terms/"/>
    <ds:schemaRef ds:uri="http://purl.org/dc/elements/1.1/"/>
    <ds:schemaRef ds:uri="http://schemas.openxmlformats.org/package/2006/metadata/core-properties"/>
    <ds:schemaRef ds:uri="http://schemas.microsoft.com/sharepoint/v3"/>
    <ds:schemaRef ds:uri="9ef820fd-6db4-47b1-9dcb-1f7c1d9cfe14"/>
    <ds:schemaRef ds:uri="http://schemas.microsoft.com/office/2006/documentManagement/types"/>
    <ds:schemaRef ds:uri="http://schemas.microsoft.com/office/2006/metadata/properties"/>
    <ds:schemaRef ds:uri="http://schemas.microsoft.com/office/infopath/2007/PartnerControls"/>
    <ds:schemaRef ds:uri="746761f9-fe31-4837-8dd0-5ad6c6b443af"/>
    <ds:schemaRef ds:uri="http://purl.org/dc/dcmitype/"/>
  </ds:schemaRefs>
</ds:datastoreItem>
</file>

<file path=customXml/itemProps3.xml><?xml version="1.0" encoding="utf-8"?>
<ds:datastoreItem xmlns:ds="http://schemas.openxmlformats.org/officeDocument/2006/customXml" ds:itemID="{6E56D8B8-0AB9-4135-9E5F-8FF8AE0C5DD3}"/>
</file>

<file path=customXml/itemProps4.xml><?xml version="1.0" encoding="utf-8"?>
<ds:datastoreItem xmlns:ds="http://schemas.openxmlformats.org/officeDocument/2006/customXml" ds:itemID="{4FE3B36A-2FDB-43C8-A4F8-BA8A83EB3660}">
  <ds:schemaRefs>
    <ds:schemaRef ds:uri="http://schemas.microsoft.com/sharepoint/v3/contenttype/forms"/>
  </ds:schemaRefs>
</ds:datastoreItem>
</file>

<file path=customXml/itemProps5.xml><?xml version="1.0" encoding="utf-8"?>
<ds:datastoreItem xmlns:ds="http://schemas.openxmlformats.org/officeDocument/2006/customXml" ds:itemID="{52D95060-B20B-4575-AA85-6F930050CF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f820fd-6db4-47b1-9dcb-1f7c1d9cfe14"/>
    <ds:schemaRef ds:uri="746761f9-fe31-4837-8dd0-5ad6c6b443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emplate/>
  <TotalTime>541</TotalTime>
  <Words>705</Words>
  <Application>Microsoft Office PowerPoint</Application>
  <PresentationFormat>Custom</PresentationFormat>
  <Paragraphs>47</Paragraphs>
  <Slides>1</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Aptos Display</vt:lpstr>
      <vt:lpstr>Arial</vt:lpstr>
      <vt:lpstr>Wingdings</vt:lpstr>
      <vt:lpstr>Aptos</vt:lpstr>
      <vt:lpstr>Futura Medium</vt:lpstr>
      <vt:lpstr>Shell layouts with footer</vt:lpstr>
      <vt:lpstr>think-cell Slide</vt:lpstr>
      <vt:lpstr>PowerPoint Presentation</vt:lpstr>
    </vt:vector>
  </TitlesOfParts>
  <Company>Shell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Valuation Challenges</dc:title>
  <dc:creator>Thomas.Lopez@shell.com</dc:creator>
  <cp:keywords>GEC'17</cp:keywords>
  <cp:lastModifiedBy>Espinoza, Marcelo R SIBV-FR/S</cp:lastModifiedBy>
  <cp:revision>6</cp:revision>
  <cp:lastPrinted>2017-04-25T09:06:38Z</cp:lastPrinted>
  <dcterms:created xsi:type="dcterms:W3CDTF">2009-11-25T14:32:06Z</dcterms:created>
  <dcterms:modified xsi:type="dcterms:W3CDTF">2026-08-17T13:51:27Z</dcterms:modified>
  <cp:category>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4</vt:i4>
  </property>
  <property fmtid="{D5CDD505-2E9C-101B-9397-08002B2CF9AE}" pid="4" name="ContentTypeId">
    <vt:lpwstr>0x0101006F0A470EEB1140E7AA14F4CE8A50B54C0001CB1477F4DD432AA86DD56CC3887AF400F644A78CBFDAD44983885002DC8B3358</vt:lpwstr>
  </property>
  <property fmtid="{D5CDD505-2E9C-101B-9397-08002B2CF9AE}" pid="5" name="_dlc_policyId">
    <vt:lpwstr/>
  </property>
  <property fmtid="{D5CDD505-2E9C-101B-9397-08002B2CF9AE}" pid="6" name="ItemRetentionFormula">
    <vt:lpwstr/>
  </property>
  <property fmtid="{D5CDD505-2E9C-101B-9397-08002B2CF9AE}" pid="7" name="_dlc_DocIdItemGuid">
    <vt:lpwstr>60bf0ab4-cb0e-45b4-b0b8-cebfd85e89f8</vt:lpwstr>
  </property>
  <property fmtid="{D5CDD505-2E9C-101B-9397-08002B2CF9AE}" pid="8" name="Shell SharePoint SAEF KeepFileLocal">
    <vt:bool>false</vt:bool>
  </property>
  <property fmtid="{D5CDD505-2E9C-101B-9397-08002B2CF9AE}" pid="9" name="Shell SharePoint SAEF WorkgroupIDTaxHTField0">
    <vt:lpwstr>UIB Commercial, New Business ＆ LNG - 11947|52d8a608-ed1f-401e-8ffb-8cc5334b8b42</vt:lpwstr>
  </property>
  <property fmtid="{D5CDD505-2E9C-101B-9397-08002B2CF9AE}" pid="10" name="Shell SharePoint SAEF SecurityClassificationTaxHTField0">
    <vt:lpwstr>Restricted|21aa7f98-4035-4019-a764-107acb7269af</vt:lpwstr>
  </property>
  <property fmtid="{D5CDD505-2E9C-101B-9397-08002B2CF9AE}" pid="11" name="Shell SharePoint SAEF LegalEntity">
    <vt:lpwstr>137;#SIEP|ca814f84-fd49-4cca-9dd4-ac559012442b</vt:lpwstr>
  </property>
  <property fmtid="{D5CDD505-2E9C-101B-9397-08002B2CF9AE}" pid="12" name="Shell SharePoint SAEF CountryOfJurisdiction">
    <vt:lpwstr>45;#NETHERLANDS|54565ecb-470f-40ea-a584-819150a65a13</vt:lpwstr>
  </property>
  <property fmtid="{D5CDD505-2E9C-101B-9397-08002B2CF9AE}" pid="13" name="Shell SharePoint SAEF ExportControlClassification">
    <vt:lpwstr>9;#Non-US content - Non Controlled|2ac8835e-0587-4096-a6e2-1f68da1e6cb3</vt:lpwstr>
  </property>
  <property fmtid="{D5CDD505-2E9C-101B-9397-08002B2CF9AE}" pid="14" name="SME Areas">
    <vt:lpwstr/>
  </property>
  <property fmtid="{D5CDD505-2E9C-101B-9397-08002B2CF9AE}" pid="15" name="SAEFSecurityClassification">
    <vt:lpwstr>1;#Restricted|21aa7f98-4035-4019-a764-107acb7269af</vt:lpwstr>
  </property>
  <property fmtid="{D5CDD505-2E9C-101B-9397-08002B2CF9AE}" pid="16" name="Shell SharePoint SAEF DocumentStatus">
    <vt:lpwstr>11;#Draft|1c86f377-7d91-4c95-bd5b-c18c83fe0aa5</vt:lpwstr>
  </property>
  <property fmtid="{D5CDD505-2E9C-101B-9397-08002B2CF9AE}" pid="17" name="Shell SharePoint SAEF Language">
    <vt:lpwstr>6;#English|bd3ad5ee-f0c3-40aa-8cc8-36ef09940af3</vt:lpwstr>
  </property>
  <property fmtid="{D5CDD505-2E9C-101B-9397-08002B2CF9AE}" pid="18" name="Shell SharePoint SAEF Business">
    <vt:lpwstr>82;#Upstream International|dabf15d9-4f75-4ed1-b8a1-a0c3e2a85888</vt:lpwstr>
  </property>
  <property fmtid="{D5CDD505-2E9C-101B-9397-08002B2CF9AE}" pid="19" name="Shell SharePoint SAEF BusinessProcess">
    <vt:lpwstr>84;#Develop New Business|8f030812-6a49-4616-837f-b8f0f1d07b9c</vt:lpwstr>
  </property>
  <property fmtid="{D5CDD505-2E9C-101B-9397-08002B2CF9AE}" pid="20" name="Shell SharePoint SAEF DocumentType">
    <vt:lpwstr>1534;#Study results|073ec550-c791-4e3f-9683-953f7d5eb953</vt:lpwstr>
  </property>
  <property fmtid="{D5CDD505-2E9C-101B-9397-08002B2CF9AE}" pid="21" name="SME Keywords">
    <vt:lpwstr/>
  </property>
  <property fmtid="{D5CDD505-2E9C-101B-9397-08002B2CF9AE}" pid="22" name="Shell SharePoint SAEF BusinessUnitRegion">
    <vt:lpwstr>82;#Upstream International|dabf15d9-4f75-4ed1-b8a1-a0c3e2a85888</vt:lpwstr>
  </property>
  <property fmtid="{D5CDD505-2E9C-101B-9397-08002B2CF9AE}" pid="23" name="Shell SharePoint SAEF GlobalFunction">
    <vt:lpwstr>111;#Sustainable Development|2fbcccf5-c9b5-4b2d-984f-9a9b70c47e11</vt:lpwstr>
  </property>
  <property fmtid="{D5CDD505-2E9C-101B-9397-08002B2CF9AE}" pid="24" name="Shell SharePoint SAEF SiteCollectionName">
    <vt:lpwstr>Global Upstream Economics Portal</vt:lpwstr>
  </property>
  <property fmtid="{D5CDD505-2E9C-101B-9397-08002B2CF9AE}" pid="25" name="Order">
    <vt:r8>284000</vt:r8>
  </property>
  <property fmtid="{D5CDD505-2E9C-101B-9397-08002B2CF9AE}" pid="26" name="xd_Signature">
    <vt:bool>false</vt:bool>
  </property>
  <property fmtid="{D5CDD505-2E9C-101B-9397-08002B2CF9AE}" pid="27" name="Shell SharePoint SAEF GlobalFunctionTaxHTField0">
    <vt:lpwstr>Sustainable Development|2fbcccf5-c9b5-4b2d-984f-9a9b70c47e11</vt:lpwstr>
  </property>
  <property fmtid="{D5CDD505-2E9C-101B-9397-08002B2CF9AE}" pid="28" name="Shell SharePoint SAEF DocumentTypeTaxHTField0">
    <vt:lpwstr>Study results|073ec550-c791-4e3f-9683-953f7d5eb953</vt:lpwstr>
  </property>
  <property fmtid="{D5CDD505-2E9C-101B-9397-08002B2CF9AE}" pid="29" name="xd_ProgID">
    <vt:lpwstr/>
  </property>
  <property fmtid="{D5CDD505-2E9C-101B-9397-08002B2CF9AE}" pid="30" name="Shell SharePoint SAEF SiteOwner">
    <vt:lpwstr>Peter Grieve</vt:lpwstr>
  </property>
  <property fmtid="{D5CDD505-2E9C-101B-9397-08002B2CF9AE}" pid="31" name="Shell SharePoint SAEF LanguageTaxHTField0">
    <vt:lpwstr>English|bd3ad5ee-f0c3-40aa-8cc8-36ef09940af3</vt:lpwstr>
  </property>
  <property fmtid="{D5CDD505-2E9C-101B-9397-08002B2CF9AE}" pid="32" name="Shell SharePoint SAEF CountryOfJurisdictionTaxHTField0">
    <vt:lpwstr>NETHERLANDS|54565ecb-470f-40ea-a584-819150a65a13</vt:lpwstr>
  </property>
  <property fmtid="{D5CDD505-2E9C-101B-9397-08002B2CF9AE}" pid="33" name="ComplianceAssetId">
    <vt:lpwstr/>
  </property>
  <property fmtid="{D5CDD505-2E9C-101B-9397-08002B2CF9AE}" pid="34" name="TemplateUrl">
    <vt:lpwstr/>
  </property>
  <property fmtid="{D5CDD505-2E9C-101B-9397-08002B2CF9AE}" pid="35" name="Shell SharePoint SAEF BusinessUnitRegionTaxHTField0">
    <vt:lpwstr>Upstream International|dabf15d9-4f75-4ed1-b8a1-a0c3e2a85888</vt:lpwstr>
  </property>
  <property fmtid="{D5CDD505-2E9C-101B-9397-08002B2CF9AE}" pid="36" name="Shell SharePoint SAEF DocumentStatusTaxHTField0">
    <vt:lpwstr>Draft|1c86f377-7d91-4c95-bd5b-c18c83fe0aa5</vt:lpwstr>
  </property>
  <property fmtid="{D5CDD505-2E9C-101B-9397-08002B2CF9AE}" pid="37" name="Shell SharePoint SAEF BusinessProcessTaxHTField0">
    <vt:lpwstr>Develop New Business|8f030812-6a49-4616-837f-b8f0f1d07b9c</vt:lpwstr>
  </property>
  <property fmtid="{D5CDD505-2E9C-101B-9397-08002B2CF9AE}" pid="38" name="Shell SharePoint SAEF BusinessTaxHTField0">
    <vt:lpwstr>Upstream International|dabf15d9-4f75-4ed1-b8a1-a0c3e2a85888</vt:lpwstr>
  </property>
  <property fmtid="{D5CDD505-2E9C-101B-9397-08002B2CF9AE}" pid="39" name="Shell SharePoint SAEF Collection">
    <vt:bool>false</vt:bool>
  </property>
  <property fmtid="{D5CDD505-2E9C-101B-9397-08002B2CF9AE}" pid="40" name="_ExtendedDescription">
    <vt:lpwstr/>
  </property>
  <property fmtid="{D5CDD505-2E9C-101B-9397-08002B2CF9AE}" pid="41" name="Shell SharePoint SAEF ExportControlClassificationTaxHTField0">
    <vt:lpwstr>Non-US content - Non Controlled|2ac8835e-0587-4096-a6e2-1f68da1e6cb3</vt:lpwstr>
  </property>
  <property fmtid="{D5CDD505-2E9C-101B-9397-08002B2CF9AE}" pid="42" name="TriggerFlowInfo">
    <vt:lpwstr/>
  </property>
  <property fmtid="{D5CDD505-2E9C-101B-9397-08002B2CF9AE}" pid="43" name="Shell SharePoint SAEF LegalEntityTaxHTField0">
    <vt:lpwstr>SIEP|ca814f84-fd49-4cca-9dd4-ac559012442b</vt:lpwstr>
  </property>
  <property fmtid="{D5CDD505-2E9C-101B-9397-08002B2CF9AE}" pid="44" name="MediaServiceImageTags">
    <vt:lpwstr/>
  </property>
  <property fmtid="{D5CDD505-2E9C-101B-9397-08002B2CF9AE}" pid="45" name="Shell_x0020_SharePoint_x0020_SAEF_x0020_DocumentType">
    <vt:lpwstr>1534;#Study results|073ec550-c791-4e3f-9683-953f7d5eb953</vt:lpwstr>
  </property>
  <property fmtid="{D5CDD505-2E9C-101B-9397-08002B2CF9AE}" pid="46" name="Shell_x0020_SharePoint_x0020_SAEF_x0020_DocumentStatus">
    <vt:lpwstr>11;#Draft|1c86f377-7d91-4c95-bd5b-c18c83fe0aa5</vt:lpwstr>
  </property>
  <property fmtid="{D5CDD505-2E9C-101B-9397-08002B2CF9AE}" pid="47" name="Shell_x0020_SharePoint_x0020_SAEF_x0020_ExportControlClassification">
    <vt:lpwstr>9;#Non-US content - Non Controlled|2ac8835e-0587-4096-a6e2-1f68da1e6cb3</vt:lpwstr>
  </property>
  <property fmtid="{D5CDD505-2E9C-101B-9397-08002B2CF9AE}" pid="48" name="Shell_x0020_SharePoint_x0020_SAEF_x0020_CountryOfJurisdiction">
    <vt:lpwstr>45;#NETHERLANDS|54565ecb-470f-40ea-a584-819150a65a13</vt:lpwstr>
  </property>
  <property fmtid="{D5CDD505-2E9C-101B-9397-08002B2CF9AE}" pid="49" name="Shell_x0020_SharePoint_x0020_SAEF_x0020_BusinessProcess">
    <vt:lpwstr>84;#Develop New Business|8f030812-6a49-4616-837f-b8f0f1d07b9c</vt:lpwstr>
  </property>
  <property fmtid="{D5CDD505-2E9C-101B-9397-08002B2CF9AE}" pid="50" name="Shell_x0020_SharePoint_x0020_SAEF_x0020_BusinessUnitRegion">
    <vt:lpwstr>82;#Upstream International|dabf15d9-4f75-4ed1-b8a1-a0c3e2a85888</vt:lpwstr>
  </property>
  <property fmtid="{D5CDD505-2E9C-101B-9397-08002B2CF9AE}" pid="51" name="Shell_x0020_SharePoint_x0020_SAEF_x0020_Language">
    <vt:lpwstr>6;#English|bd3ad5ee-f0c3-40aa-8cc8-36ef09940af3</vt:lpwstr>
  </property>
  <property fmtid="{D5CDD505-2E9C-101B-9397-08002B2CF9AE}" pid="52" name="Shell_x0020_SharePoint_x0020_SAEF_x0020_Business">
    <vt:lpwstr>82;#Upstream International|dabf15d9-4f75-4ed1-b8a1-a0c3e2a85888</vt:lpwstr>
  </property>
  <property fmtid="{D5CDD505-2E9C-101B-9397-08002B2CF9AE}" pid="53" name="Shell_x0020_SharePoint_x0020_SAEF_x0020_LegalEntity">
    <vt:lpwstr>137;#SIEP|ca814f84-fd49-4cca-9dd4-ac559012442b</vt:lpwstr>
  </property>
  <property fmtid="{D5CDD505-2E9C-101B-9397-08002B2CF9AE}" pid="54" name="Shell_x0020_SharePoint_x0020_SAEF_x0020_GlobalFunction">
    <vt:lpwstr>111;#Sustainable Development|2fbcccf5-c9b5-4b2d-984f-9a9b70c47e11</vt:lpwstr>
  </property>
  <property fmtid="{D5CDD505-2E9C-101B-9397-08002B2CF9AE}" pid="55" name="Shell SharePoint SIS Organization">
    <vt:lpwstr/>
  </property>
  <property fmtid="{D5CDD505-2E9C-101B-9397-08002B2CF9AE}" pid="56" name="Shell_x0020_SharePoint_x0020_SIS_x0020_ProcessArea">
    <vt:lpwstr/>
  </property>
  <property fmtid="{D5CDD505-2E9C-101B-9397-08002B2CF9AE}" pid="57" name="Shell SharePoint SIS ProcessArea">
    <vt:lpwstr/>
  </property>
  <property fmtid="{D5CDD505-2E9C-101B-9397-08002B2CF9AE}" pid="58" name="Shell_x0020_SharePoint_x0020_SIS_x0020_Organization">
    <vt:lpwstr/>
  </property>
</Properties>
</file>