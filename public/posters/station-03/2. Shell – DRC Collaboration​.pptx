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5"/>
  </p:sldMasterIdLst>
  <p:notesMasterIdLst>
    <p:notesMasterId r:id="rId7"/>
  </p:notesMasterIdLst>
  <p:handoutMasterIdLst>
    <p:handoutMasterId r:id="rId8"/>
  </p:handoutMasterIdLst>
  <p:sldIdLst>
    <p:sldId id="349" r:id="rId6"/>
  </p:sldIdLst>
  <p:sldSz cx="30275213" cy="42803763"/>
  <p:notesSz cx="9926638" cy="14355763"/>
  <p:embeddedFontLst>
    <p:embeddedFont>
      <p:font typeface="Futura Medium" panose="00000800000000000000"/>
      <p:regular r:id="rId9"/>
      <p:bold r:id="rId10"/>
      <p:italic r:id="rId11"/>
      <p:boldItalic r:id="rId12"/>
    </p:embeddedFont>
  </p:embeddedFontLst>
  <p:defaultTextStyle>
    <a:defPPr>
      <a:defRPr lang="en-US"/>
    </a:defPPr>
    <a:lvl1pPr marL="0" algn="l" defTabSz="4676973" rtl="0" eaLnBrk="1" latinLnBrk="0" hangingPunct="1">
      <a:defRPr sz="9207" kern="1200">
        <a:solidFill>
          <a:schemeClr val="tx1"/>
        </a:solidFill>
        <a:latin typeface="+mn-lt"/>
        <a:ea typeface="+mn-ea"/>
        <a:cs typeface="+mn-cs"/>
      </a:defRPr>
    </a:lvl1pPr>
    <a:lvl2pPr marL="2338487" algn="l" defTabSz="4676973" rtl="0" eaLnBrk="1" latinLnBrk="0" hangingPunct="1">
      <a:defRPr sz="9207" kern="1200">
        <a:solidFill>
          <a:schemeClr val="tx1"/>
        </a:solidFill>
        <a:latin typeface="+mn-lt"/>
        <a:ea typeface="+mn-ea"/>
        <a:cs typeface="+mn-cs"/>
      </a:defRPr>
    </a:lvl2pPr>
    <a:lvl3pPr marL="4676973" algn="l" defTabSz="4676973" rtl="0" eaLnBrk="1" latinLnBrk="0" hangingPunct="1">
      <a:defRPr sz="9207" kern="1200">
        <a:solidFill>
          <a:schemeClr val="tx1"/>
        </a:solidFill>
        <a:latin typeface="+mn-lt"/>
        <a:ea typeface="+mn-ea"/>
        <a:cs typeface="+mn-cs"/>
      </a:defRPr>
    </a:lvl3pPr>
    <a:lvl4pPr marL="7015460" algn="l" defTabSz="4676973" rtl="0" eaLnBrk="1" latinLnBrk="0" hangingPunct="1">
      <a:defRPr sz="9207" kern="1200">
        <a:solidFill>
          <a:schemeClr val="tx1"/>
        </a:solidFill>
        <a:latin typeface="+mn-lt"/>
        <a:ea typeface="+mn-ea"/>
        <a:cs typeface="+mn-cs"/>
      </a:defRPr>
    </a:lvl4pPr>
    <a:lvl5pPr marL="9353946" algn="l" defTabSz="4676973" rtl="0" eaLnBrk="1" latinLnBrk="0" hangingPunct="1">
      <a:defRPr sz="9207" kern="1200">
        <a:solidFill>
          <a:schemeClr val="tx1"/>
        </a:solidFill>
        <a:latin typeface="+mn-lt"/>
        <a:ea typeface="+mn-ea"/>
        <a:cs typeface="+mn-cs"/>
      </a:defRPr>
    </a:lvl5pPr>
    <a:lvl6pPr marL="11692433" algn="l" defTabSz="4676973" rtl="0" eaLnBrk="1" latinLnBrk="0" hangingPunct="1">
      <a:defRPr sz="9207" kern="1200">
        <a:solidFill>
          <a:schemeClr val="tx1"/>
        </a:solidFill>
        <a:latin typeface="+mn-lt"/>
        <a:ea typeface="+mn-ea"/>
        <a:cs typeface="+mn-cs"/>
      </a:defRPr>
    </a:lvl6pPr>
    <a:lvl7pPr marL="14030919" algn="l" defTabSz="4676973" rtl="0" eaLnBrk="1" latinLnBrk="0" hangingPunct="1">
      <a:defRPr sz="9207" kern="1200">
        <a:solidFill>
          <a:schemeClr val="tx1"/>
        </a:solidFill>
        <a:latin typeface="+mn-lt"/>
        <a:ea typeface="+mn-ea"/>
        <a:cs typeface="+mn-cs"/>
      </a:defRPr>
    </a:lvl7pPr>
    <a:lvl8pPr marL="16369406" algn="l" defTabSz="4676973" rtl="0" eaLnBrk="1" latinLnBrk="0" hangingPunct="1">
      <a:defRPr sz="9207" kern="1200">
        <a:solidFill>
          <a:schemeClr val="tx1"/>
        </a:solidFill>
        <a:latin typeface="+mn-lt"/>
        <a:ea typeface="+mn-ea"/>
        <a:cs typeface="+mn-cs"/>
      </a:defRPr>
    </a:lvl8pPr>
    <a:lvl9pPr marL="18707892" algn="l" defTabSz="4676973" rtl="0" eaLnBrk="1" latinLnBrk="0" hangingPunct="1">
      <a:defRPr sz="9207"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998" userDrawn="1">
          <p15:clr>
            <a:srgbClr val="A4A3A4"/>
          </p15:clr>
        </p15:guide>
        <p15:guide id="2" orient="horz" pos="890" userDrawn="1">
          <p15:clr>
            <a:srgbClr val="A4A3A4"/>
          </p15:clr>
        </p15:guide>
        <p15:guide id="3" orient="horz" pos="5143" userDrawn="1">
          <p15:clr>
            <a:srgbClr val="A4A3A4"/>
          </p15:clr>
        </p15:guide>
        <p15:guide id="4" orient="horz" pos="2938" userDrawn="1">
          <p15:clr>
            <a:srgbClr val="A4A3A4"/>
          </p15:clr>
        </p15:guide>
        <p15:guide id="5" orient="horz" pos="25141" userDrawn="1">
          <p15:clr>
            <a:srgbClr val="A4A3A4"/>
          </p15:clr>
        </p15:guide>
        <p15:guide id="6" orient="horz" pos="13074" userDrawn="1">
          <p15:clr>
            <a:srgbClr val="A4A3A4"/>
          </p15:clr>
        </p15:guide>
        <p15:guide id="7" pos="18098" userDrawn="1">
          <p15:clr>
            <a:srgbClr val="A4A3A4"/>
          </p15:clr>
        </p15:guide>
        <p15:guide id="8" pos="9244" userDrawn="1">
          <p15:clr>
            <a:srgbClr val="A4A3A4"/>
          </p15:clr>
        </p15:guide>
        <p15:guide id="9" pos="977" userDrawn="1">
          <p15:clr>
            <a:srgbClr val="A4A3A4"/>
          </p15:clr>
        </p15:guide>
        <p15:guide id="10" pos="9843" userDrawn="1">
          <p15:clr>
            <a:srgbClr val="A4A3A4"/>
          </p15:clr>
        </p15:guide>
      </p15:sldGuideLst>
    </p:ext>
    <p:ext uri="{2D200454-40CA-4A62-9FC3-DE9A4176ACB9}">
      <p15:notesGuideLst xmlns:p15="http://schemas.microsoft.com/office/powerpoint/2012/main">
        <p15:guide id="1" orient="horz" pos="4522" userDrawn="1">
          <p15:clr>
            <a:srgbClr val="A4A3A4"/>
          </p15:clr>
        </p15:guide>
        <p15:guide id="2" pos="3127"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4E9ED"/>
    <a:srgbClr val="CCD5E2"/>
    <a:srgbClr val="F7D117"/>
    <a:srgbClr val="D42E12"/>
    <a:srgbClr val="8FD1E3"/>
    <a:srgbClr val="FFEECA"/>
    <a:srgbClr val="F49600"/>
    <a:srgbClr val="FFFFFF"/>
    <a:srgbClr val="CCE9DB"/>
    <a:srgbClr val="99CD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651E3A8-0014-8234-9FAB-E9E8B7E47FC4}" v="5" dt="2026-08-17T08:18:15.06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46" autoAdjust="0"/>
    <p:restoredTop sz="95039" autoAdjust="0"/>
  </p:normalViewPr>
  <p:slideViewPr>
    <p:cSldViewPr snapToGrid="0">
      <p:cViewPr varScale="1">
        <p:scale>
          <a:sx n="22" d="100"/>
          <a:sy n="22" d="100"/>
        </p:scale>
        <p:origin x="756" y="100"/>
      </p:cViewPr>
      <p:guideLst>
        <p:guide orient="horz" pos="25998"/>
        <p:guide orient="horz" pos="890"/>
        <p:guide orient="horz" pos="5143"/>
        <p:guide orient="horz" pos="2938"/>
        <p:guide orient="horz" pos="25141"/>
        <p:guide orient="horz" pos="13074"/>
        <p:guide pos="18098"/>
        <p:guide pos="9244"/>
        <p:guide pos="977"/>
        <p:guide pos="9843"/>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4522"/>
        <p:guide pos="3127"/>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font" Target="fonts/font4.fntdata"/><Relationship Id="rId17"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font" Target="fonts/font3.fntdata"/><Relationship Id="rId5" Type="http://schemas.openxmlformats.org/officeDocument/2006/relationships/slideMaster" Target="slideMasters/slideMaster1.xml"/><Relationship Id="rId15" Type="http://schemas.openxmlformats.org/officeDocument/2006/relationships/theme" Target="theme/theme1.xml"/><Relationship Id="rId10" Type="http://schemas.openxmlformats.org/officeDocument/2006/relationships/font" Target="fonts/font2.fntdata"/><Relationship Id="rId4" Type="http://schemas.openxmlformats.org/officeDocument/2006/relationships/customXml" Target="../customXml/item4.xml"/><Relationship Id="rId9" Type="http://schemas.openxmlformats.org/officeDocument/2006/relationships/font" Target="fonts/font1.fntdata"/><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ing, William SI-FR/S/B" userId="S::william.king2@shell.com::3bf0d958-19ff-498d-8238-e431eaff4950" providerId="AD" clId="Web-{D651E3A8-0014-8234-9FAB-E9E8B7E47FC4}"/>
    <pc:docChg chg="modSld">
      <pc:chgData name="King, William SI-FR/S/B" userId="S::william.king2@shell.com::3bf0d958-19ff-498d-8238-e431eaff4950" providerId="AD" clId="Web-{D651E3A8-0014-8234-9FAB-E9E8B7E47FC4}" dt="2026-08-17T08:18:15.064" v="4" actId="20577"/>
      <pc:docMkLst>
        <pc:docMk/>
      </pc:docMkLst>
      <pc:sldChg chg="modSp">
        <pc:chgData name="King, William SI-FR/S/B" userId="S::william.king2@shell.com::3bf0d958-19ff-498d-8238-e431eaff4950" providerId="AD" clId="Web-{D651E3A8-0014-8234-9FAB-E9E8B7E47FC4}" dt="2026-08-17T08:18:15.064" v="4" actId="20577"/>
        <pc:sldMkLst>
          <pc:docMk/>
          <pc:sldMk cId="1085186594" sldId="349"/>
        </pc:sldMkLst>
        <pc:spChg chg="mod">
          <ac:chgData name="King, William SI-FR/S/B" userId="S::william.king2@shell.com::3bf0d958-19ff-498d-8238-e431eaff4950" providerId="AD" clId="Web-{D651E3A8-0014-8234-9FAB-E9E8B7E47FC4}" dt="2026-08-17T08:18:15.064" v="4" actId="20577"/>
          <ac:spMkLst>
            <pc:docMk/>
            <pc:sldMk cId="1085186594" sldId="349"/>
            <ac:spMk id="9" creationId="{6F0A44A5-90E0-D61B-F960-3E2DA6908944}"/>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0"/>
            <a:ext cx="4301543" cy="717788"/>
          </a:xfrm>
          <a:prstGeom prst="rect">
            <a:avLst/>
          </a:prstGeom>
        </p:spPr>
        <p:txBody>
          <a:bodyPr vert="horz" lIns="134275" tIns="67137" rIns="134275" bIns="67137" rtlCol="0"/>
          <a:lstStyle>
            <a:lvl1pPr algn="l">
              <a:defRPr sz="1700"/>
            </a:lvl1pPr>
          </a:lstStyle>
          <a:p>
            <a:endParaRPr lang="en-GB">
              <a:latin typeface="Futura Medium" pitchFamily="2" charset="0"/>
            </a:endParaRPr>
          </a:p>
        </p:txBody>
      </p:sp>
      <p:sp>
        <p:nvSpPr>
          <p:cNvPr id="3" name="Date Placeholder 2"/>
          <p:cNvSpPr>
            <a:spLocks noGrp="1"/>
          </p:cNvSpPr>
          <p:nvPr>
            <p:ph type="dt" sz="quarter" idx="1"/>
          </p:nvPr>
        </p:nvSpPr>
        <p:spPr>
          <a:xfrm>
            <a:off x="5622802" y="0"/>
            <a:ext cx="4301543" cy="717788"/>
          </a:xfrm>
          <a:prstGeom prst="rect">
            <a:avLst/>
          </a:prstGeom>
        </p:spPr>
        <p:txBody>
          <a:bodyPr vert="horz" lIns="134275" tIns="67137" rIns="134275" bIns="67137" rtlCol="0"/>
          <a:lstStyle>
            <a:lvl1pPr algn="r">
              <a:defRPr sz="1700"/>
            </a:lvl1pPr>
          </a:lstStyle>
          <a:p>
            <a:fld id="{78688C09-A274-4C07-9395-CBE67C0DE912}" type="datetimeFigureOut">
              <a:rPr lang="en-GB" smtClean="0">
                <a:latin typeface="Futura Medium" pitchFamily="2" charset="0"/>
              </a:rPr>
              <a:pPr/>
              <a:t>17/08/2026</a:t>
            </a:fld>
            <a:endParaRPr lang="en-GB">
              <a:latin typeface="Futura Medium" pitchFamily="2" charset="0"/>
            </a:endParaRPr>
          </a:p>
        </p:txBody>
      </p:sp>
      <p:sp>
        <p:nvSpPr>
          <p:cNvPr id="4" name="Footer Placeholder 3"/>
          <p:cNvSpPr>
            <a:spLocks noGrp="1"/>
          </p:cNvSpPr>
          <p:nvPr>
            <p:ph type="ftr" sz="quarter" idx="2"/>
          </p:nvPr>
        </p:nvSpPr>
        <p:spPr>
          <a:xfrm>
            <a:off x="2" y="13635483"/>
            <a:ext cx="4301543" cy="717788"/>
          </a:xfrm>
          <a:prstGeom prst="rect">
            <a:avLst/>
          </a:prstGeom>
        </p:spPr>
        <p:txBody>
          <a:bodyPr vert="horz" lIns="134275" tIns="67137" rIns="134275" bIns="67137" rtlCol="0" anchor="b"/>
          <a:lstStyle>
            <a:lvl1pPr algn="l">
              <a:defRPr sz="1700"/>
            </a:lvl1pPr>
          </a:lstStyle>
          <a:p>
            <a:endParaRPr lang="en-GB">
              <a:latin typeface="Futura Medium" pitchFamily="2" charset="0"/>
            </a:endParaRPr>
          </a:p>
        </p:txBody>
      </p:sp>
      <p:sp>
        <p:nvSpPr>
          <p:cNvPr id="5" name="Slide Number Placeholder 4"/>
          <p:cNvSpPr>
            <a:spLocks noGrp="1"/>
          </p:cNvSpPr>
          <p:nvPr>
            <p:ph type="sldNum" sz="quarter" idx="3"/>
          </p:nvPr>
        </p:nvSpPr>
        <p:spPr>
          <a:xfrm>
            <a:off x="5622802" y="13635483"/>
            <a:ext cx="4301543" cy="717788"/>
          </a:xfrm>
          <a:prstGeom prst="rect">
            <a:avLst/>
          </a:prstGeom>
        </p:spPr>
        <p:txBody>
          <a:bodyPr vert="horz" lIns="134275" tIns="67137" rIns="134275" bIns="67137" rtlCol="0" anchor="b"/>
          <a:lstStyle>
            <a:lvl1pPr algn="r">
              <a:defRPr sz="1700"/>
            </a:lvl1pPr>
          </a:lstStyle>
          <a:p>
            <a:fld id="{18B005D9-1AAC-4E6D-B9B3-BB8CB4FD9D30}" type="slidenum">
              <a:rPr lang="en-GB" smtClean="0">
                <a:latin typeface="Futura Medium" pitchFamily="2" charset="0"/>
              </a:rPr>
              <a:pPr/>
              <a:t>‹#›</a:t>
            </a:fld>
            <a:endParaRPr lang="en-GB">
              <a:latin typeface="Futura Medium" pitchFamily="2" charset="0"/>
            </a:endParaRPr>
          </a:p>
        </p:txBody>
      </p:sp>
    </p:spTree>
    <p:extLst>
      <p:ext uri="{BB962C8B-B14F-4D97-AF65-F5344CB8AC3E}">
        <p14:creationId xmlns:p14="http://schemas.microsoft.com/office/powerpoint/2010/main" val="29679735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0"/>
            <a:ext cx="4301543" cy="717788"/>
          </a:xfrm>
          <a:prstGeom prst="rect">
            <a:avLst/>
          </a:prstGeom>
        </p:spPr>
        <p:txBody>
          <a:bodyPr vert="horz" lIns="134275" tIns="67137" rIns="134275" bIns="67137" rtlCol="0"/>
          <a:lstStyle>
            <a:lvl1pPr algn="l">
              <a:defRPr sz="1700">
                <a:latin typeface="Futura Medium" pitchFamily="2" charset="0"/>
              </a:defRPr>
            </a:lvl1pPr>
          </a:lstStyle>
          <a:p>
            <a:endParaRPr lang="en-GB"/>
          </a:p>
        </p:txBody>
      </p:sp>
      <p:sp>
        <p:nvSpPr>
          <p:cNvPr id="3" name="Date Placeholder 2"/>
          <p:cNvSpPr>
            <a:spLocks noGrp="1"/>
          </p:cNvSpPr>
          <p:nvPr>
            <p:ph type="dt" idx="1"/>
          </p:nvPr>
        </p:nvSpPr>
        <p:spPr>
          <a:xfrm>
            <a:off x="5622802" y="0"/>
            <a:ext cx="4301543" cy="717788"/>
          </a:xfrm>
          <a:prstGeom prst="rect">
            <a:avLst/>
          </a:prstGeom>
        </p:spPr>
        <p:txBody>
          <a:bodyPr vert="horz" lIns="134275" tIns="67137" rIns="134275" bIns="67137" rtlCol="0"/>
          <a:lstStyle>
            <a:lvl1pPr algn="r">
              <a:defRPr sz="1700">
                <a:latin typeface="Futura Medium" pitchFamily="2" charset="0"/>
              </a:defRPr>
            </a:lvl1pPr>
          </a:lstStyle>
          <a:p>
            <a:fld id="{E8910CE4-810D-4C84-B7AD-48C304FEA169}" type="datetimeFigureOut">
              <a:rPr lang="en-GB" smtClean="0"/>
              <a:pPr/>
              <a:t>17/08/2026</a:t>
            </a:fld>
            <a:endParaRPr lang="en-GB"/>
          </a:p>
        </p:txBody>
      </p:sp>
      <p:sp>
        <p:nvSpPr>
          <p:cNvPr id="4" name="Slide Image Placeholder 3"/>
          <p:cNvSpPr>
            <a:spLocks noGrp="1" noRot="1" noChangeAspect="1"/>
          </p:cNvSpPr>
          <p:nvPr>
            <p:ph type="sldImg" idx="2"/>
          </p:nvPr>
        </p:nvSpPr>
        <p:spPr>
          <a:xfrm>
            <a:off x="3059113" y="1074738"/>
            <a:ext cx="3808412" cy="5386387"/>
          </a:xfrm>
          <a:prstGeom prst="rect">
            <a:avLst/>
          </a:prstGeom>
          <a:noFill/>
          <a:ln w="12700">
            <a:solidFill>
              <a:prstClr val="black"/>
            </a:solidFill>
          </a:ln>
        </p:spPr>
        <p:txBody>
          <a:bodyPr vert="horz" lIns="134275" tIns="67137" rIns="134275" bIns="67137" rtlCol="0" anchor="ctr"/>
          <a:lstStyle/>
          <a:p>
            <a:endParaRPr lang="en-GB"/>
          </a:p>
        </p:txBody>
      </p:sp>
      <p:sp>
        <p:nvSpPr>
          <p:cNvPr id="5" name="Notes Placeholder 4"/>
          <p:cNvSpPr>
            <a:spLocks noGrp="1"/>
          </p:cNvSpPr>
          <p:nvPr>
            <p:ph type="body" sz="quarter" idx="3"/>
          </p:nvPr>
        </p:nvSpPr>
        <p:spPr>
          <a:xfrm>
            <a:off x="992665" y="6818990"/>
            <a:ext cx="7941310" cy="6460093"/>
          </a:xfrm>
          <a:prstGeom prst="rect">
            <a:avLst/>
          </a:prstGeom>
        </p:spPr>
        <p:txBody>
          <a:bodyPr vert="horz" lIns="134275" tIns="67137" rIns="134275" bIns="67137"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2" y="13635483"/>
            <a:ext cx="4301543" cy="717788"/>
          </a:xfrm>
          <a:prstGeom prst="rect">
            <a:avLst/>
          </a:prstGeom>
        </p:spPr>
        <p:txBody>
          <a:bodyPr vert="horz" lIns="134275" tIns="67137" rIns="134275" bIns="67137" rtlCol="0" anchor="b"/>
          <a:lstStyle>
            <a:lvl1pPr algn="l">
              <a:defRPr sz="1700">
                <a:latin typeface="Futura Medium" pitchFamily="2" charset="0"/>
              </a:defRPr>
            </a:lvl1pPr>
          </a:lstStyle>
          <a:p>
            <a:endParaRPr lang="en-GB"/>
          </a:p>
        </p:txBody>
      </p:sp>
      <p:sp>
        <p:nvSpPr>
          <p:cNvPr id="7" name="Slide Number Placeholder 6"/>
          <p:cNvSpPr>
            <a:spLocks noGrp="1"/>
          </p:cNvSpPr>
          <p:nvPr>
            <p:ph type="sldNum" sz="quarter" idx="5"/>
          </p:nvPr>
        </p:nvSpPr>
        <p:spPr>
          <a:xfrm>
            <a:off x="5622802" y="13635483"/>
            <a:ext cx="4301543" cy="717788"/>
          </a:xfrm>
          <a:prstGeom prst="rect">
            <a:avLst/>
          </a:prstGeom>
        </p:spPr>
        <p:txBody>
          <a:bodyPr vert="horz" lIns="134275" tIns="67137" rIns="134275" bIns="67137" rtlCol="0" anchor="b"/>
          <a:lstStyle>
            <a:lvl1pPr algn="r">
              <a:defRPr sz="1700">
                <a:latin typeface="Futura Medium" pitchFamily="2" charset="0"/>
              </a:defRPr>
            </a:lvl1pPr>
          </a:lstStyle>
          <a:p>
            <a:fld id="{DE799493-6412-4470-9830-D005B358D66E}" type="slidenum">
              <a:rPr lang="en-GB" smtClean="0"/>
              <a:pPr/>
              <a:t>‹#›</a:t>
            </a:fld>
            <a:endParaRPr lang="en-GB"/>
          </a:p>
        </p:txBody>
      </p:sp>
    </p:spTree>
    <p:extLst>
      <p:ext uri="{BB962C8B-B14F-4D97-AF65-F5344CB8AC3E}">
        <p14:creationId xmlns:p14="http://schemas.microsoft.com/office/powerpoint/2010/main" val="4162893719"/>
      </p:ext>
    </p:extLst>
  </p:cSld>
  <p:clrMap bg1="lt1" tx1="dk1" bg2="lt2" tx2="dk2" accent1="accent1" accent2="accent2" accent3="accent3" accent4="accent4" accent5="accent5" accent6="accent6" hlink="hlink" folHlink="folHlink"/>
  <p:notesStyle>
    <a:lvl1pPr marL="0" algn="l" defTabSz="4676973" rtl="0" eaLnBrk="1" latinLnBrk="0" hangingPunct="1">
      <a:defRPr sz="6138" kern="1200">
        <a:solidFill>
          <a:schemeClr val="tx1"/>
        </a:solidFill>
        <a:latin typeface="Futura Medium" pitchFamily="2" charset="0"/>
        <a:ea typeface="+mn-ea"/>
        <a:cs typeface="+mn-cs"/>
      </a:defRPr>
    </a:lvl1pPr>
    <a:lvl2pPr marL="2338487" algn="l" defTabSz="4676973" rtl="0" eaLnBrk="1" latinLnBrk="0" hangingPunct="1">
      <a:defRPr sz="6138" kern="1200">
        <a:solidFill>
          <a:schemeClr val="tx1"/>
        </a:solidFill>
        <a:latin typeface="Futura Medium"/>
        <a:ea typeface="+mn-ea"/>
        <a:cs typeface="+mn-cs"/>
      </a:defRPr>
    </a:lvl2pPr>
    <a:lvl3pPr marL="4676973" algn="l" defTabSz="4676973" rtl="0" eaLnBrk="1" latinLnBrk="0" hangingPunct="1">
      <a:defRPr sz="6138" kern="1200">
        <a:solidFill>
          <a:schemeClr val="tx1"/>
        </a:solidFill>
        <a:latin typeface="Futura Medium"/>
        <a:ea typeface="+mn-ea"/>
        <a:cs typeface="+mn-cs"/>
      </a:defRPr>
    </a:lvl3pPr>
    <a:lvl4pPr marL="7015460" algn="l" defTabSz="4676973" rtl="0" eaLnBrk="1" latinLnBrk="0" hangingPunct="1">
      <a:defRPr sz="6138" kern="1200">
        <a:solidFill>
          <a:schemeClr val="tx1"/>
        </a:solidFill>
        <a:latin typeface="Futura Medium"/>
        <a:ea typeface="+mn-ea"/>
        <a:cs typeface="+mn-cs"/>
      </a:defRPr>
    </a:lvl4pPr>
    <a:lvl5pPr marL="9353946" algn="l" defTabSz="4676973" rtl="0" eaLnBrk="1" latinLnBrk="0" hangingPunct="1">
      <a:defRPr sz="6138" kern="1200">
        <a:solidFill>
          <a:schemeClr val="tx1"/>
        </a:solidFill>
        <a:latin typeface="Futura Medium"/>
        <a:ea typeface="+mn-ea"/>
        <a:cs typeface="+mn-cs"/>
      </a:defRPr>
    </a:lvl5pPr>
    <a:lvl6pPr marL="11692433" algn="l" defTabSz="4676973" rtl="0" eaLnBrk="1" latinLnBrk="0" hangingPunct="1">
      <a:defRPr sz="6138" kern="1200">
        <a:solidFill>
          <a:schemeClr val="tx1"/>
        </a:solidFill>
        <a:latin typeface="+mn-lt"/>
        <a:ea typeface="+mn-ea"/>
        <a:cs typeface="+mn-cs"/>
      </a:defRPr>
    </a:lvl6pPr>
    <a:lvl7pPr marL="14030919" algn="l" defTabSz="4676973" rtl="0" eaLnBrk="1" latinLnBrk="0" hangingPunct="1">
      <a:defRPr sz="6138" kern="1200">
        <a:solidFill>
          <a:schemeClr val="tx1"/>
        </a:solidFill>
        <a:latin typeface="+mn-lt"/>
        <a:ea typeface="+mn-ea"/>
        <a:cs typeface="+mn-cs"/>
      </a:defRPr>
    </a:lvl7pPr>
    <a:lvl8pPr marL="16369406" algn="l" defTabSz="4676973" rtl="0" eaLnBrk="1" latinLnBrk="0" hangingPunct="1">
      <a:defRPr sz="6138" kern="1200">
        <a:solidFill>
          <a:schemeClr val="tx1"/>
        </a:solidFill>
        <a:latin typeface="+mn-lt"/>
        <a:ea typeface="+mn-ea"/>
        <a:cs typeface="+mn-cs"/>
      </a:defRPr>
    </a:lvl8pPr>
    <a:lvl9pPr marL="18707892" algn="l" defTabSz="4676973" rtl="0" eaLnBrk="1" latinLnBrk="0" hangingPunct="1">
      <a:defRPr sz="6138"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34F28A-27AD-63D2-96B6-139FE1AB15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3098D2-BE44-98F7-318E-C2607ADC2F55}"/>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94EB2B29-6ED3-1FEB-1A82-4EA125A4A3C7}"/>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22575209-3F60-68D3-1E44-9947827F755B}"/>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22692949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9" name="Text Box 11" descr="&lt;COMPANY_NAME&gt;{19.13386,233.3002,382.1078,36.87504}"/>
          <p:cNvSpPr txBox="1">
            <a:spLocks noChangeArrowheads="1"/>
          </p:cNvSpPr>
          <p:nvPr userDrawn="1"/>
        </p:nvSpPr>
        <p:spPr bwMode="auto">
          <a:xfrm>
            <a:off x="1550555" y="41650920"/>
            <a:ext cx="9810017" cy="755630"/>
          </a:xfrm>
          <a:prstGeom prst="rect">
            <a:avLst/>
          </a:prstGeom>
          <a:noFill/>
          <a:ln w="9525" algn="ctr">
            <a:noFill/>
            <a:miter lim="800000"/>
            <a:headEnd/>
            <a:tailEnd/>
          </a:ln>
          <a:effectLst/>
        </p:spPr>
        <p:txBody>
          <a:bodyPr wrap="none" lIns="0" tIns="0" rIns="0" anchor="ctr" anchorCtr="0">
            <a:noAutofit/>
          </a:bodyPr>
          <a:lstStyle/>
          <a:p>
            <a:pPr>
              <a:defRPr/>
            </a:pPr>
            <a:r>
              <a:rPr lang="en-GB" sz="2800">
                <a:solidFill>
                  <a:schemeClr val="tx1"/>
                </a:solidFill>
                <a:latin typeface="+mn-lt"/>
                <a:cs typeface="Arial" pitchFamily="34" charset="0"/>
              </a:rPr>
              <a:t>Shape. Connect. Accelerate </a:t>
            </a:r>
          </a:p>
        </p:txBody>
      </p:sp>
      <p:sp>
        <p:nvSpPr>
          <p:cNvPr id="20" name="Text Box 11" descr="&lt;COMPANY_NAME&gt;{19.13386,233.3002,382.1078,36.87504}"/>
          <p:cNvSpPr txBox="1">
            <a:spLocks noChangeArrowheads="1"/>
          </p:cNvSpPr>
          <p:nvPr userDrawn="1"/>
        </p:nvSpPr>
        <p:spPr bwMode="auto">
          <a:xfrm>
            <a:off x="19762355" y="41650920"/>
            <a:ext cx="9810017" cy="755630"/>
          </a:xfrm>
          <a:prstGeom prst="rect">
            <a:avLst/>
          </a:prstGeom>
          <a:noFill/>
          <a:ln w="9525" algn="ctr">
            <a:noFill/>
            <a:miter lim="800000"/>
            <a:headEnd/>
            <a:tailEnd/>
          </a:ln>
          <a:effectLst/>
        </p:spPr>
        <p:txBody>
          <a:bodyPr wrap="none" lIns="0" tIns="0" rIns="0" anchor="ctr" anchorCtr="0">
            <a:noAutofit/>
          </a:bodyPr>
          <a:lstStyle/>
          <a:p>
            <a:pPr algn="r"/>
            <a:r>
              <a:rPr lang="en-GB" sz="2800"/>
              <a:t>September 7-8, 2026</a:t>
            </a:r>
          </a:p>
        </p:txBody>
      </p:sp>
      <p:sp>
        <p:nvSpPr>
          <p:cNvPr id="7" name="Rectangle 6">
            <a:extLst>
              <a:ext uri="{FF2B5EF4-FFF2-40B4-BE49-F238E27FC236}">
                <a16:creationId xmlns:a16="http://schemas.microsoft.com/office/drawing/2014/main" id="{BAD0CE2F-1DFA-1F89-3C04-6693D0E978E9}"/>
              </a:ext>
            </a:extLst>
          </p:cNvPr>
          <p:cNvSpPr/>
          <p:nvPr userDrawn="1"/>
        </p:nvSpPr>
        <p:spPr>
          <a:xfrm>
            <a:off x="-1" y="1"/>
            <a:ext cx="30275213" cy="6827520"/>
          </a:xfrm>
          <a:prstGeom prst="rect">
            <a:avLst/>
          </a:prstGeom>
          <a:solidFill>
            <a:srgbClr val="F7D1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7" name="Picture 36">
            <a:extLst>
              <a:ext uri="{FF2B5EF4-FFF2-40B4-BE49-F238E27FC236}">
                <a16:creationId xmlns:a16="http://schemas.microsoft.com/office/drawing/2014/main" id="{2032B41E-CA7B-293B-0827-739C4AA7C324}"/>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1" t="2120" r="-991"/>
          <a:stretch/>
        </p:blipFill>
        <p:spPr>
          <a:xfrm>
            <a:off x="24260896" y="1321092"/>
            <a:ext cx="3359440" cy="3255921"/>
          </a:xfrm>
          <a:prstGeom prst="rect">
            <a:avLst/>
          </a:prstGeom>
        </p:spPr>
      </p:pic>
    </p:spTree>
  </p:cSld>
  <p:clrMapOvr>
    <a:masterClrMapping/>
  </p:clrMapOvr>
  <p:transition/>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886728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emf"/><Relationship Id="rId5" Type="http://schemas.openxmlformats.org/officeDocument/2006/relationships/oleObject" Target="../embeddings/oleObject1.bin"/><Relationship Id="rId4" Type="http://schemas.openxmlformats.org/officeDocument/2006/relationships/tags" Target="../tags/tag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C1CD8318-F598-F22A-F46C-E91BE846BE7B}"/>
              </a:ext>
            </a:extLst>
          </p:cNvPr>
          <p:cNvGraphicFramePr>
            <a:graphicFrameLocks noChangeAspect="1"/>
          </p:cNvGraphicFramePr>
          <p:nvPr userDrawn="1">
            <p:custDataLst>
              <p:tags r:id="rId4"/>
            </p:custDataLst>
            <p:extLst>
              <p:ext uri="{D42A27DB-BD31-4B8C-83A1-F6EECF244321}">
                <p14:modId xmlns:p14="http://schemas.microsoft.com/office/powerpoint/2010/main" val="30009390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08" imgH="408" progId="TCLayout.ActiveDocument.1">
                  <p:embed/>
                </p:oleObj>
              </mc:Choice>
              <mc:Fallback>
                <p:oleObj name="think-cell Slide" r:id="rId5" imgW="408" imgH="408" progId="TCLayout.ActiveDocument.1">
                  <p:embed/>
                  <p:pic>
                    <p:nvPicPr>
                      <p:cNvPr id="2" name="think-cell data - do not delete" hidden="1">
                        <a:extLst>
                          <a:ext uri="{FF2B5EF4-FFF2-40B4-BE49-F238E27FC236}">
                            <a16:creationId xmlns:a16="http://schemas.microsoft.com/office/drawing/2014/main" id="{C1CD8318-F598-F22A-F46C-E91BE846BE7B}"/>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693" r:id="rId1"/>
    <p:sldLayoutId id="2147483694" r:id="rId2"/>
  </p:sldLayoutIdLst>
  <p:transition>
    <p:fade/>
  </p:transition>
  <p:hf sldNum="0" hdr="0" dt="0"/>
  <p:txStyles>
    <p:titleStyle>
      <a:lvl1pPr algn="l" defTabSz="914400" rtl="0" eaLnBrk="1" latinLnBrk="0" hangingPunct="1">
        <a:spcBef>
          <a:spcPct val="0"/>
        </a:spcBef>
        <a:buNone/>
        <a:defRPr sz="2000" b="1" kern="1200" cap="none" baseline="0">
          <a:solidFill>
            <a:schemeClr val="accent2"/>
          </a:solidFill>
          <a:latin typeface="+mj-lt"/>
          <a:ea typeface="+mj-ea"/>
          <a:cs typeface="+mj-cs"/>
        </a:defRPr>
      </a:lvl1pPr>
    </p:titleStyle>
    <p:bodyStyle>
      <a:lvl1pPr marL="0" indent="0" algn="l" defTabSz="268288" rtl="0" eaLnBrk="1" latinLnBrk="0" hangingPunct="1">
        <a:lnSpc>
          <a:spcPct val="120000"/>
        </a:lnSpc>
        <a:spcBef>
          <a:spcPts val="0"/>
        </a:spcBef>
        <a:spcAft>
          <a:spcPts val="600"/>
        </a:spcAft>
        <a:buClr>
          <a:schemeClr val="accent2"/>
        </a:buClr>
        <a:buSzPct val="85000"/>
        <a:buFont typeface="Wingdings" pitchFamily="2" charset="2"/>
        <a:buNone/>
        <a:defRPr sz="1800" kern="1200" baseline="0">
          <a:solidFill>
            <a:schemeClr val="tx1"/>
          </a:solidFill>
          <a:latin typeface="+mn-lt"/>
          <a:ea typeface="+mn-ea"/>
          <a:cs typeface="+mn-cs"/>
        </a:defRPr>
      </a:lvl1pPr>
      <a:lvl2pPr marL="269875" indent="-269875" algn="l" defTabSz="268288" rtl="0" eaLnBrk="1" latinLnBrk="0" hangingPunct="1">
        <a:lnSpc>
          <a:spcPct val="120000"/>
        </a:lnSpc>
        <a:spcBef>
          <a:spcPts val="0"/>
        </a:spcBef>
        <a:spcAft>
          <a:spcPts val="600"/>
        </a:spcAft>
        <a:buClr>
          <a:schemeClr val="accent2"/>
        </a:buClr>
        <a:buSzPct val="85000"/>
        <a:buFont typeface="Wingdings" pitchFamily="2" charset="2"/>
        <a:buChar char="n"/>
        <a:defRPr sz="1800" b="0" kern="1200">
          <a:solidFill>
            <a:schemeClr val="tx1"/>
          </a:solidFill>
          <a:latin typeface="+mn-lt"/>
          <a:ea typeface="+mn-ea"/>
          <a:cs typeface="+mn-cs"/>
        </a:defRPr>
      </a:lvl2pPr>
      <a:lvl3pPr marL="454025" indent="-184150" algn="l" defTabSz="268288" rtl="0" eaLnBrk="1" latinLnBrk="0" hangingPunct="1">
        <a:lnSpc>
          <a:spcPct val="120000"/>
        </a:lnSpc>
        <a:spcBef>
          <a:spcPts val="0"/>
        </a:spcBef>
        <a:spcAft>
          <a:spcPts val="600"/>
        </a:spcAft>
        <a:buClr>
          <a:schemeClr val="tx1"/>
        </a:buClr>
        <a:buSzPct val="75000"/>
        <a:buFont typeface="Wingdings" pitchFamily="2" charset="2"/>
        <a:buChar char=""/>
        <a:defRPr sz="1800" b="0" kern="1200">
          <a:solidFill>
            <a:schemeClr val="tx1"/>
          </a:solidFill>
          <a:latin typeface="+mn-lt"/>
          <a:ea typeface="+mn-ea"/>
          <a:cs typeface="+mn-cs"/>
        </a:defRPr>
      </a:lvl3pPr>
      <a:lvl4pPr marL="631825" indent="-177800" algn="l" defTabSz="268288" rtl="0" eaLnBrk="1" latinLnBrk="0" hangingPunct="1">
        <a:lnSpc>
          <a:spcPct val="120000"/>
        </a:lnSpc>
        <a:spcBef>
          <a:spcPts val="0"/>
        </a:spcBef>
        <a:spcAft>
          <a:spcPts val="600"/>
        </a:spcAft>
        <a:buClr>
          <a:schemeClr val="tx1"/>
        </a:buClr>
        <a:buSzPct val="75000"/>
        <a:buFont typeface="Wingdings" pitchFamily="2" charset="2"/>
        <a:buChar char=""/>
        <a:defRPr sz="1600" b="0" kern="1200" baseline="0">
          <a:solidFill>
            <a:schemeClr val="tx1"/>
          </a:solidFill>
          <a:latin typeface="+mn-lt"/>
          <a:ea typeface="+mn-ea"/>
          <a:cs typeface="+mn-cs"/>
        </a:defRPr>
      </a:lvl4pPr>
      <a:lvl5pPr marL="811213" indent="-173038" algn="l" defTabSz="268288" rtl="0" eaLnBrk="1" latinLnBrk="0" hangingPunct="1">
        <a:lnSpc>
          <a:spcPct val="120000"/>
        </a:lnSpc>
        <a:spcBef>
          <a:spcPts val="0"/>
        </a:spcBef>
        <a:spcAft>
          <a:spcPts val="600"/>
        </a:spcAft>
        <a:buClr>
          <a:schemeClr val="tx1"/>
        </a:buClr>
        <a:buSzPct val="75000"/>
        <a:buFont typeface="Wingdings" pitchFamily="2" charset="2"/>
        <a:buChar char=""/>
        <a:defRPr sz="1400" kern="1200">
          <a:solidFill>
            <a:schemeClr val="tx1"/>
          </a:solidFill>
          <a:latin typeface="+mn-lt"/>
          <a:ea typeface="+mn-ea"/>
          <a:cs typeface="+mn-cs"/>
        </a:defRPr>
      </a:lvl5pPr>
      <a:lvl6pPr marL="989013" indent="-177800" algn="l" defTabSz="268288" rtl="0" eaLnBrk="1" latinLnBrk="0" hangingPunct="1">
        <a:lnSpc>
          <a:spcPct val="120000"/>
        </a:lnSpc>
        <a:spcBef>
          <a:spcPts val="0"/>
        </a:spcBef>
        <a:spcAft>
          <a:spcPts val="600"/>
        </a:spcAft>
        <a:buClr>
          <a:schemeClr val="tx1"/>
        </a:buClr>
        <a:buSzPct val="75000"/>
        <a:buFont typeface="Wingdings" pitchFamily="2" charset="2"/>
        <a:buChar char=""/>
        <a:defRPr sz="12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sv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jp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tiff"/><Relationship Id="rId11" Type="http://schemas.openxmlformats.org/officeDocument/2006/relationships/image" Target="../media/image11.png"/><Relationship Id="rId5" Type="http://schemas.openxmlformats.org/officeDocument/2006/relationships/image" Target="../media/image5.svg"/><Relationship Id="rId15" Type="http://schemas.openxmlformats.org/officeDocument/2006/relationships/image" Target="../media/image15.svg"/><Relationship Id="rId10" Type="http://schemas.openxmlformats.org/officeDocument/2006/relationships/image" Target="../media/image10.jpg"/><Relationship Id="rId4" Type="http://schemas.openxmlformats.org/officeDocument/2006/relationships/image" Target="../media/image4.png"/><Relationship Id="rId9" Type="http://schemas.openxmlformats.org/officeDocument/2006/relationships/image" Target="../media/image9.jpg"/><Relationship Id="rId14" Type="http://schemas.openxmlformats.org/officeDocument/2006/relationships/image" Target="../media/image1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DED7D9-EC13-04EC-78C5-9407E24565A0}"/>
            </a:ext>
          </a:extLst>
        </p:cNvPr>
        <p:cNvGrpSpPr/>
        <p:nvPr/>
      </p:nvGrpSpPr>
      <p:grpSpPr>
        <a:xfrm>
          <a:off x="0" y="0"/>
          <a:ext cx="0" cy="0"/>
          <a:chOff x="0" y="0"/>
          <a:chExt cx="0" cy="0"/>
        </a:xfrm>
      </p:grpSpPr>
      <p:pic>
        <p:nvPicPr>
          <p:cNvPr id="53" name="Picture 52">
            <a:extLst>
              <a:ext uri="{FF2B5EF4-FFF2-40B4-BE49-F238E27FC236}">
                <a16:creationId xmlns:a16="http://schemas.microsoft.com/office/drawing/2014/main" id="{FE40523E-E91F-AEEC-80D9-83A09FAE0FE3}"/>
              </a:ext>
            </a:extLst>
          </p:cNvPr>
          <p:cNvPicPr>
            <a:picLocks noChangeAspect="1"/>
          </p:cNvPicPr>
          <p:nvPr/>
        </p:nvPicPr>
        <p:blipFill>
          <a:blip r:embed="rId3"/>
          <a:stretch>
            <a:fillRect/>
          </a:stretch>
        </p:blipFill>
        <p:spPr>
          <a:xfrm>
            <a:off x="834579" y="26195363"/>
            <a:ext cx="10317914" cy="8440240"/>
          </a:xfrm>
          <a:prstGeom prst="rect">
            <a:avLst/>
          </a:prstGeom>
        </p:spPr>
      </p:pic>
      <p:sp>
        <p:nvSpPr>
          <p:cNvPr id="23" name="Shape 12">
            <a:extLst>
              <a:ext uri="{FF2B5EF4-FFF2-40B4-BE49-F238E27FC236}">
                <a16:creationId xmlns:a16="http://schemas.microsoft.com/office/drawing/2014/main" id="{031BE569-37A2-706E-9A9A-CE7C631CF071}"/>
              </a:ext>
            </a:extLst>
          </p:cNvPr>
          <p:cNvSpPr/>
          <p:nvPr/>
        </p:nvSpPr>
        <p:spPr>
          <a:xfrm>
            <a:off x="775518" y="24745638"/>
            <a:ext cx="28803600" cy="1620000"/>
          </a:xfrm>
          <a:prstGeom prst="rect">
            <a:avLst/>
          </a:prstGeom>
          <a:solidFill>
            <a:srgbClr val="E8E8E8"/>
          </a:solidFill>
          <a:ln w="12700">
            <a:solidFill>
              <a:srgbClr val="E8E8E8"/>
            </a:solidFill>
            <a:prstDash val="solid"/>
          </a:ln>
        </p:spPr>
        <p:txBody>
          <a:bodyPr/>
          <a:lstStyle/>
          <a:p>
            <a:endParaRPr lang="en-GB" sz="38310" dirty="0"/>
          </a:p>
        </p:txBody>
      </p:sp>
      <p:sp>
        <p:nvSpPr>
          <p:cNvPr id="19" name="Shape 8">
            <a:extLst>
              <a:ext uri="{FF2B5EF4-FFF2-40B4-BE49-F238E27FC236}">
                <a16:creationId xmlns:a16="http://schemas.microsoft.com/office/drawing/2014/main" id="{7508932E-BE84-69A8-DC33-65069FFD291C}"/>
              </a:ext>
            </a:extLst>
          </p:cNvPr>
          <p:cNvSpPr/>
          <p:nvPr/>
        </p:nvSpPr>
        <p:spPr>
          <a:xfrm>
            <a:off x="806862" y="26580624"/>
            <a:ext cx="28803600" cy="8172000"/>
          </a:xfrm>
          <a:prstGeom prst="rect">
            <a:avLst/>
          </a:prstGeom>
          <a:solidFill>
            <a:srgbClr val="FFFFFF">
              <a:alpha val="0"/>
            </a:srgbClr>
          </a:solidFill>
          <a:ln w="11430">
            <a:solidFill>
              <a:srgbClr val="C9C9C9"/>
            </a:solidFill>
            <a:prstDash val="solid"/>
          </a:ln>
        </p:spPr>
        <p:txBody>
          <a:bodyPr/>
          <a:lstStyle/>
          <a:p>
            <a:endParaRPr lang="en-GB" sz="38310" dirty="0"/>
          </a:p>
        </p:txBody>
      </p:sp>
      <p:pic>
        <p:nvPicPr>
          <p:cNvPr id="2" name="Image 0" descr="/mnt/data/48c52803bb.png">
            <a:extLst>
              <a:ext uri="{FF2B5EF4-FFF2-40B4-BE49-F238E27FC236}">
                <a16:creationId xmlns:a16="http://schemas.microsoft.com/office/drawing/2014/main" id="{2786FB85-A629-3FFB-08A3-723248E61390}"/>
              </a:ext>
            </a:extLst>
          </p:cNvPr>
          <p:cNvPicPr>
            <a:picLocks noChangeAspect="1"/>
          </p:cNvPicPr>
          <p:nvPr/>
        </p:nvPicPr>
        <p:blipFill>
          <a:blip r:embed="rId4"/>
          <a:srcRect t="22800" b="22800"/>
          <a:stretch/>
        </p:blipFill>
        <p:spPr>
          <a:xfrm>
            <a:off x="0" y="0"/>
            <a:ext cx="30275213" cy="10348999"/>
          </a:xfrm>
          <a:prstGeom prst="rect">
            <a:avLst/>
          </a:prstGeom>
        </p:spPr>
      </p:pic>
      <p:sp>
        <p:nvSpPr>
          <p:cNvPr id="3" name="Shape 0">
            <a:extLst>
              <a:ext uri="{FF2B5EF4-FFF2-40B4-BE49-F238E27FC236}">
                <a16:creationId xmlns:a16="http://schemas.microsoft.com/office/drawing/2014/main" id="{2845AABE-2C0B-7BC0-8D05-330703F68D91}"/>
              </a:ext>
            </a:extLst>
          </p:cNvPr>
          <p:cNvSpPr/>
          <p:nvPr/>
        </p:nvSpPr>
        <p:spPr>
          <a:xfrm>
            <a:off x="2087214" y="1065338"/>
            <a:ext cx="14142863" cy="1141434"/>
          </a:xfrm>
          <a:prstGeom prst="roundRect">
            <a:avLst>
              <a:gd name="adj" fmla="val 3333"/>
            </a:avLst>
          </a:prstGeom>
          <a:solidFill>
            <a:srgbClr val="D71920"/>
          </a:solidFill>
          <a:ln w="12700">
            <a:solidFill>
              <a:srgbClr val="D71920"/>
            </a:solidFill>
            <a:prstDash val="solid"/>
          </a:ln>
        </p:spPr>
        <p:txBody>
          <a:bodyPr/>
          <a:lstStyle/>
          <a:p>
            <a:endParaRPr lang="en-GB" sz="38310"/>
          </a:p>
        </p:txBody>
      </p:sp>
      <p:sp>
        <p:nvSpPr>
          <p:cNvPr id="4" name="Text 1">
            <a:extLst>
              <a:ext uri="{FF2B5EF4-FFF2-40B4-BE49-F238E27FC236}">
                <a16:creationId xmlns:a16="http://schemas.microsoft.com/office/drawing/2014/main" id="{AEB05323-73CB-1E77-AFE9-13D0D11DC519}"/>
              </a:ext>
            </a:extLst>
          </p:cNvPr>
          <p:cNvSpPr/>
          <p:nvPr/>
        </p:nvSpPr>
        <p:spPr>
          <a:xfrm>
            <a:off x="2467692" y="1293625"/>
            <a:ext cx="13762385" cy="760955"/>
          </a:xfrm>
          <a:prstGeom prst="rect">
            <a:avLst/>
          </a:prstGeom>
          <a:noFill/>
          <a:ln/>
        </p:spPr>
        <p:txBody>
          <a:bodyPr wrap="square" lIns="0" tIns="0" rIns="0" bIns="0" rtlCol="0" anchor="ctr">
            <a:normAutofit fontScale="92500" lnSpcReduction="10000"/>
          </a:bodyPr>
          <a:lstStyle/>
          <a:p>
            <a:r>
              <a:rPr lang="en-US" sz="5617" b="1" dirty="0">
                <a:solidFill>
                  <a:srgbClr val="FFFFFF"/>
                </a:solidFill>
                <a:latin typeface="Aptos Display" pitchFamily="34" charset="0"/>
              </a:rPr>
              <a:t>MARKET ENGAGEMENT &amp; EXTERNAL INSIGHTS </a:t>
            </a:r>
            <a:endParaRPr lang="en-US" sz="5617" dirty="0"/>
          </a:p>
        </p:txBody>
      </p:sp>
      <p:sp>
        <p:nvSpPr>
          <p:cNvPr id="5" name="Text 2">
            <a:extLst>
              <a:ext uri="{FF2B5EF4-FFF2-40B4-BE49-F238E27FC236}">
                <a16:creationId xmlns:a16="http://schemas.microsoft.com/office/drawing/2014/main" id="{E7314D53-2AA8-3F52-A676-4C57EDA5BAFD}"/>
              </a:ext>
            </a:extLst>
          </p:cNvPr>
          <p:cNvSpPr/>
          <p:nvPr/>
        </p:nvSpPr>
        <p:spPr>
          <a:xfrm>
            <a:off x="2087215" y="3157966"/>
            <a:ext cx="19404372" cy="1788246"/>
          </a:xfrm>
          <a:prstGeom prst="rect">
            <a:avLst/>
          </a:prstGeom>
          <a:noFill/>
          <a:ln/>
        </p:spPr>
        <p:txBody>
          <a:bodyPr wrap="square" lIns="0" tIns="0" rIns="0" bIns="0" rtlCol="0" anchor="ctr">
            <a:normAutofit fontScale="92500" lnSpcReduction="20000"/>
          </a:bodyPr>
          <a:lstStyle/>
          <a:p>
            <a:r>
              <a:rPr lang="en-US" sz="14147" b="1" dirty="0">
                <a:solidFill>
                  <a:srgbClr val="2F3033"/>
                </a:solidFill>
                <a:latin typeface="Aptos Display" pitchFamily="34" charset="0"/>
                <a:ea typeface="Aptos Display" pitchFamily="34" charset="-122"/>
                <a:cs typeface="Aptos Display" pitchFamily="34" charset="-120"/>
              </a:rPr>
              <a:t>Shell – DRC Collaboration</a:t>
            </a:r>
            <a:endParaRPr lang="en-US" sz="14147" dirty="0"/>
          </a:p>
        </p:txBody>
      </p:sp>
      <p:sp>
        <p:nvSpPr>
          <p:cNvPr id="6" name="Text 3">
            <a:extLst>
              <a:ext uri="{FF2B5EF4-FFF2-40B4-BE49-F238E27FC236}">
                <a16:creationId xmlns:a16="http://schemas.microsoft.com/office/drawing/2014/main" id="{A2B0118B-1C6B-4098-A94E-0D3F8F6E9313}"/>
              </a:ext>
            </a:extLst>
          </p:cNvPr>
          <p:cNvSpPr/>
          <p:nvPr/>
        </p:nvSpPr>
        <p:spPr>
          <a:xfrm>
            <a:off x="2087215" y="5098404"/>
            <a:ext cx="20212346" cy="960985"/>
          </a:xfrm>
          <a:prstGeom prst="rect">
            <a:avLst/>
          </a:prstGeom>
          <a:noFill/>
          <a:ln/>
        </p:spPr>
        <p:txBody>
          <a:bodyPr wrap="square" lIns="0" tIns="0" rIns="0" bIns="0" rtlCol="0" anchor="ctr">
            <a:noAutofit/>
          </a:bodyPr>
          <a:lstStyle/>
          <a:p>
            <a:r>
              <a:rPr lang="en-GB" sz="5400" dirty="0"/>
              <a:t>Chinese Government partnership to shape their Energy Transition</a:t>
            </a:r>
            <a:endParaRPr lang="en-US" sz="5400" dirty="0"/>
          </a:p>
        </p:txBody>
      </p:sp>
      <p:sp>
        <p:nvSpPr>
          <p:cNvPr id="7" name="Shape 4">
            <a:extLst>
              <a:ext uri="{FF2B5EF4-FFF2-40B4-BE49-F238E27FC236}">
                <a16:creationId xmlns:a16="http://schemas.microsoft.com/office/drawing/2014/main" id="{CC7AD95F-9D9B-EC67-4B80-6EB90C5854F2}"/>
              </a:ext>
            </a:extLst>
          </p:cNvPr>
          <p:cNvSpPr/>
          <p:nvPr/>
        </p:nvSpPr>
        <p:spPr>
          <a:xfrm>
            <a:off x="2087214" y="6772506"/>
            <a:ext cx="19138038" cy="0"/>
          </a:xfrm>
          <a:prstGeom prst="line">
            <a:avLst/>
          </a:prstGeom>
          <a:noFill/>
          <a:ln w="12700">
            <a:solidFill>
              <a:srgbClr val="E9571F"/>
            </a:solidFill>
            <a:prstDash val="solid"/>
          </a:ln>
        </p:spPr>
        <p:txBody>
          <a:bodyPr/>
          <a:lstStyle/>
          <a:p>
            <a:endParaRPr lang="en-GB" sz="38310"/>
          </a:p>
        </p:txBody>
      </p:sp>
      <p:pic>
        <p:nvPicPr>
          <p:cNvPr id="8" name="Image 1" descr="preencoded.png">
            <a:extLst>
              <a:ext uri="{FF2B5EF4-FFF2-40B4-BE49-F238E27FC236}">
                <a16:creationId xmlns:a16="http://schemas.microsoft.com/office/drawing/2014/main" id="{99534356-2F39-D456-5224-A499F674ACE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087214" y="7533462"/>
            <a:ext cx="1255577" cy="837051"/>
          </a:xfrm>
          <a:prstGeom prst="rect">
            <a:avLst/>
          </a:prstGeom>
        </p:spPr>
      </p:pic>
      <p:sp>
        <p:nvSpPr>
          <p:cNvPr id="9" name="Text 5">
            <a:extLst>
              <a:ext uri="{FF2B5EF4-FFF2-40B4-BE49-F238E27FC236}">
                <a16:creationId xmlns:a16="http://schemas.microsoft.com/office/drawing/2014/main" id="{6F0A44A5-90E0-D61B-F960-3E2DA6908944}"/>
              </a:ext>
            </a:extLst>
          </p:cNvPr>
          <p:cNvSpPr/>
          <p:nvPr/>
        </p:nvSpPr>
        <p:spPr>
          <a:xfrm>
            <a:off x="3456935" y="7571510"/>
            <a:ext cx="18262939" cy="1065338"/>
          </a:xfrm>
          <a:prstGeom prst="rect">
            <a:avLst/>
          </a:prstGeom>
          <a:noFill/>
          <a:ln/>
        </p:spPr>
        <p:txBody>
          <a:bodyPr wrap="square" lIns="0" tIns="0" rIns="0" bIns="0" rtlCol="0" anchor="ctr">
            <a:normAutofit/>
          </a:bodyPr>
          <a:lstStyle/>
          <a:p>
            <a:r>
              <a:rPr lang="en-US" sz="5600" b="1">
                <a:solidFill>
                  <a:srgbClr val="2F3033"/>
                </a:solidFill>
                <a:latin typeface="Aptos"/>
                <a:ea typeface="Aptos" pitchFamily="34" charset="-122"/>
                <a:cs typeface="Aptos" pitchFamily="34" charset="-120"/>
              </a:rPr>
              <a:t>Mallika Ishwaran, William King</a:t>
            </a:r>
          </a:p>
        </p:txBody>
      </p:sp>
      <p:sp>
        <p:nvSpPr>
          <p:cNvPr id="10" name="Text 6">
            <a:extLst>
              <a:ext uri="{FF2B5EF4-FFF2-40B4-BE49-F238E27FC236}">
                <a16:creationId xmlns:a16="http://schemas.microsoft.com/office/drawing/2014/main" id="{71DC7A26-C864-8BF5-008F-1808412D30CC}"/>
              </a:ext>
            </a:extLst>
          </p:cNvPr>
          <p:cNvSpPr/>
          <p:nvPr/>
        </p:nvSpPr>
        <p:spPr>
          <a:xfrm>
            <a:off x="2087215" y="8941230"/>
            <a:ext cx="19214133" cy="951195"/>
          </a:xfrm>
          <a:prstGeom prst="rect">
            <a:avLst/>
          </a:prstGeom>
          <a:noFill/>
          <a:ln/>
        </p:spPr>
        <p:txBody>
          <a:bodyPr wrap="square" lIns="0" tIns="0" rIns="0" bIns="0" rtlCol="0" anchor="ctr">
            <a:normAutofit/>
          </a:bodyPr>
          <a:lstStyle/>
          <a:p>
            <a:r>
              <a:rPr lang="en-US" sz="5326" dirty="0">
                <a:solidFill>
                  <a:srgbClr val="2F3033"/>
                </a:solidFill>
                <a:latin typeface="Aptos" pitchFamily="34" charset="0"/>
                <a:ea typeface="Aptos" pitchFamily="34" charset="-122"/>
                <a:cs typeface="Aptos" pitchFamily="34" charset="-120"/>
              </a:rPr>
              <a:t>SCA Global Team F2F 2026   |   7–8 September</a:t>
            </a:r>
            <a:endParaRPr lang="en-US" sz="5326" dirty="0"/>
          </a:p>
        </p:txBody>
      </p:sp>
      <p:sp>
        <p:nvSpPr>
          <p:cNvPr id="12" name="Text 7">
            <a:extLst>
              <a:ext uri="{FF2B5EF4-FFF2-40B4-BE49-F238E27FC236}">
                <a16:creationId xmlns:a16="http://schemas.microsoft.com/office/drawing/2014/main" id="{3B3EE1DC-406E-A0A8-1693-E86FEF53D218}"/>
              </a:ext>
            </a:extLst>
          </p:cNvPr>
          <p:cNvSpPr/>
          <p:nvPr/>
        </p:nvSpPr>
        <p:spPr>
          <a:xfrm>
            <a:off x="23850549" y="5402786"/>
            <a:ext cx="4565735" cy="2435058"/>
          </a:xfrm>
          <a:prstGeom prst="rect">
            <a:avLst/>
          </a:prstGeom>
          <a:noFill/>
          <a:ln/>
        </p:spPr>
        <p:txBody>
          <a:bodyPr wrap="square" lIns="0" tIns="0" rIns="0" bIns="0" rtlCol="0" anchor="ctr">
            <a:normAutofit lnSpcReduction="10000"/>
          </a:bodyPr>
          <a:lstStyle/>
          <a:p>
            <a:pPr algn="ctr"/>
            <a:r>
              <a:rPr lang="en-US" sz="5409" b="1" dirty="0">
                <a:solidFill>
                  <a:srgbClr val="D71920"/>
                </a:solidFill>
                <a:latin typeface="Aptos Display" pitchFamily="34" charset="0"/>
                <a:ea typeface="Aptos Display" pitchFamily="34" charset="-122"/>
                <a:cs typeface="Aptos Display" pitchFamily="34" charset="-120"/>
              </a:rPr>
              <a:t>SHAPE</a:t>
            </a:r>
            <a:endParaRPr lang="en-US" sz="5409" dirty="0"/>
          </a:p>
          <a:p>
            <a:pPr algn="ctr"/>
            <a:r>
              <a:rPr lang="en-US" sz="5409" b="1" dirty="0">
                <a:solidFill>
                  <a:srgbClr val="D71920"/>
                </a:solidFill>
                <a:latin typeface="Aptos Display" pitchFamily="34" charset="0"/>
                <a:ea typeface="Aptos Display" pitchFamily="34" charset="-122"/>
                <a:cs typeface="Aptos Display" pitchFamily="34" charset="-120"/>
              </a:rPr>
              <a:t>CONNECT</a:t>
            </a:r>
            <a:endParaRPr lang="en-US" sz="5409" dirty="0"/>
          </a:p>
          <a:p>
            <a:pPr algn="ctr"/>
            <a:r>
              <a:rPr lang="en-US" sz="5409" b="1" dirty="0">
                <a:solidFill>
                  <a:srgbClr val="D71920"/>
                </a:solidFill>
                <a:latin typeface="Aptos Display" pitchFamily="34" charset="0"/>
                <a:ea typeface="Aptos Display" pitchFamily="34" charset="-122"/>
                <a:cs typeface="Aptos Display" pitchFamily="34" charset="-120"/>
              </a:rPr>
              <a:t>ACCELERATE</a:t>
            </a:r>
            <a:endParaRPr lang="en-US" sz="5409" dirty="0"/>
          </a:p>
        </p:txBody>
      </p:sp>
      <p:sp>
        <p:nvSpPr>
          <p:cNvPr id="13" name="Shape 8">
            <a:extLst>
              <a:ext uri="{FF2B5EF4-FFF2-40B4-BE49-F238E27FC236}">
                <a16:creationId xmlns:a16="http://schemas.microsoft.com/office/drawing/2014/main" id="{386349C9-C247-9A32-5791-D799571A8B19}"/>
              </a:ext>
            </a:extLst>
          </p:cNvPr>
          <p:cNvSpPr/>
          <p:nvPr/>
        </p:nvSpPr>
        <p:spPr>
          <a:xfrm>
            <a:off x="713456" y="13445641"/>
            <a:ext cx="28803600" cy="11101751"/>
          </a:xfrm>
          <a:prstGeom prst="rect">
            <a:avLst/>
          </a:prstGeom>
          <a:solidFill>
            <a:srgbClr val="FFFFFF">
              <a:alpha val="0"/>
            </a:srgbClr>
          </a:solidFill>
          <a:ln w="11430">
            <a:solidFill>
              <a:srgbClr val="C9C9C9"/>
            </a:solidFill>
            <a:prstDash val="solid"/>
          </a:ln>
        </p:spPr>
        <p:txBody>
          <a:bodyPr/>
          <a:lstStyle/>
          <a:p>
            <a:endParaRPr lang="en-GB" sz="38310" dirty="0"/>
          </a:p>
        </p:txBody>
      </p:sp>
      <p:grpSp>
        <p:nvGrpSpPr>
          <p:cNvPr id="20" name="Group 19">
            <a:extLst>
              <a:ext uri="{FF2B5EF4-FFF2-40B4-BE49-F238E27FC236}">
                <a16:creationId xmlns:a16="http://schemas.microsoft.com/office/drawing/2014/main" id="{BD28F4A9-A518-8625-9107-AE0C53062E38}"/>
              </a:ext>
            </a:extLst>
          </p:cNvPr>
          <p:cNvGrpSpPr/>
          <p:nvPr/>
        </p:nvGrpSpPr>
        <p:grpSpPr>
          <a:xfrm>
            <a:off x="800100" y="10805571"/>
            <a:ext cx="28803600" cy="2725872"/>
            <a:chOff x="800100" y="10422110"/>
            <a:chExt cx="28803600" cy="2557879"/>
          </a:xfrm>
        </p:grpSpPr>
        <p:sp>
          <p:nvSpPr>
            <p:cNvPr id="14" name="Shape 9">
              <a:extLst>
                <a:ext uri="{FF2B5EF4-FFF2-40B4-BE49-F238E27FC236}">
                  <a16:creationId xmlns:a16="http://schemas.microsoft.com/office/drawing/2014/main" id="{BC02DDA6-EF8F-2A32-5F2A-B04493FB2869}"/>
                </a:ext>
              </a:extLst>
            </p:cNvPr>
            <p:cNvSpPr/>
            <p:nvPr/>
          </p:nvSpPr>
          <p:spPr>
            <a:xfrm>
              <a:off x="800100" y="10422110"/>
              <a:ext cx="28803600" cy="2557879"/>
            </a:xfrm>
            <a:prstGeom prst="rect">
              <a:avLst/>
            </a:prstGeom>
            <a:solidFill>
              <a:srgbClr val="E8E8E8"/>
            </a:solidFill>
            <a:ln w="12700">
              <a:solidFill>
                <a:srgbClr val="E8E8E8"/>
              </a:solidFill>
              <a:prstDash val="solid"/>
            </a:ln>
          </p:spPr>
          <p:txBody>
            <a:bodyPr/>
            <a:lstStyle/>
            <a:p>
              <a:endParaRPr lang="en-GB" sz="38310"/>
            </a:p>
          </p:txBody>
        </p:sp>
        <p:sp>
          <p:nvSpPr>
            <p:cNvPr id="15" name="Text 10">
              <a:extLst>
                <a:ext uri="{FF2B5EF4-FFF2-40B4-BE49-F238E27FC236}">
                  <a16:creationId xmlns:a16="http://schemas.microsoft.com/office/drawing/2014/main" id="{DEB9B558-C294-FC1A-5E35-BDF4AD2FFCD6}"/>
                </a:ext>
              </a:extLst>
            </p:cNvPr>
            <p:cNvSpPr/>
            <p:nvPr/>
          </p:nvSpPr>
          <p:spPr>
            <a:xfrm>
              <a:off x="2861185" y="11109953"/>
              <a:ext cx="24541317" cy="1251431"/>
            </a:xfrm>
            <a:prstGeom prst="rect">
              <a:avLst/>
            </a:prstGeom>
            <a:noFill/>
            <a:ln/>
          </p:spPr>
          <p:txBody>
            <a:bodyPr wrap="square" lIns="0" tIns="0" rIns="0" bIns="0" rtlCol="0" anchor="ctr">
              <a:noAutofit/>
            </a:bodyPr>
            <a:lstStyle/>
            <a:p>
              <a:pPr algn="ctr">
                <a:lnSpc>
                  <a:spcPct val="90000"/>
                </a:lnSpc>
              </a:pPr>
              <a:r>
                <a:rPr lang="en-GB" sz="8000" b="1" dirty="0">
                  <a:solidFill>
                    <a:srgbClr val="2F3033"/>
                  </a:solidFill>
                  <a:latin typeface="Aptos Display" pitchFamily="34" charset="0"/>
                  <a:ea typeface="Aptos Display" pitchFamily="34" charset="-122"/>
                  <a:cs typeface="Aptos Display" pitchFamily="34" charset="-120"/>
                </a:rPr>
                <a:t>An unprecedented example of governments and businesses working together for common good</a:t>
              </a:r>
              <a:endParaRPr lang="en-US" sz="8000" dirty="0"/>
            </a:p>
          </p:txBody>
        </p:sp>
      </p:grpSp>
      <p:sp>
        <p:nvSpPr>
          <p:cNvPr id="16" name="Shape 11">
            <a:extLst>
              <a:ext uri="{FF2B5EF4-FFF2-40B4-BE49-F238E27FC236}">
                <a16:creationId xmlns:a16="http://schemas.microsoft.com/office/drawing/2014/main" id="{69714F76-7DFA-414E-4D64-ABDD5305D068}"/>
              </a:ext>
            </a:extLst>
          </p:cNvPr>
          <p:cNvSpPr/>
          <p:nvPr/>
        </p:nvSpPr>
        <p:spPr>
          <a:xfrm>
            <a:off x="800100" y="36557878"/>
            <a:ext cx="28803600" cy="4419590"/>
          </a:xfrm>
          <a:prstGeom prst="rect">
            <a:avLst/>
          </a:prstGeom>
          <a:solidFill>
            <a:srgbClr val="FFFFFF">
              <a:alpha val="0"/>
            </a:srgbClr>
          </a:solidFill>
          <a:ln w="11430">
            <a:solidFill>
              <a:srgbClr val="C9C9C9"/>
            </a:solidFill>
            <a:prstDash val="solid"/>
          </a:ln>
        </p:spPr>
        <p:txBody>
          <a:bodyPr/>
          <a:lstStyle/>
          <a:p>
            <a:endParaRPr lang="en-GB" sz="38310"/>
          </a:p>
        </p:txBody>
      </p:sp>
      <p:sp>
        <p:nvSpPr>
          <p:cNvPr id="17" name="Shape 12">
            <a:extLst>
              <a:ext uri="{FF2B5EF4-FFF2-40B4-BE49-F238E27FC236}">
                <a16:creationId xmlns:a16="http://schemas.microsoft.com/office/drawing/2014/main" id="{1273A21C-7518-4896-408C-9349BC5074F5}"/>
              </a:ext>
            </a:extLst>
          </p:cNvPr>
          <p:cNvSpPr/>
          <p:nvPr/>
        </p:nvSpPr>
        <p:spPr>
          <a:xfrm>
            <a:off x="800100" y="34917117"/>
            <a:ext cx="28803600" cy="1788246"/>
          </a:xfrm>
          <a:prstGeom prst="rect">
            <a:avLst/>
          </a:prstGeom>
          <a:solidFill>
            <a:srgbClr val="E8E8E8"/>
          </a:solidFill>
          <a:ln w="12700">
            <a:solidFill>
              <a:srgbClr val="E8E8E8"/>
            </a:solidFill>
            <a:prstDash val="solid"/>
          </a:ln>
        </p:spPr>
        <p:txBody>
          <a:bodyPr/>
          <a:lstStyle/>
          <a:p>
            <a:endParaRPr lang="en-GB" sz="38310" dirty="0"/>
          </a:p>
        </p:txBody>
      </p:sp>
      <p:sp>
        <p:nvSpPr>
          <p:cNvPr id="18" name="Text 13">
            <a:extLst>
              <a:ext uri="{FF2B5EF4-FFF2-40B4-BE49-F238E27FC236}">
                <a16:creationId xmlns:a16="http://schemas.microsoft.com/office/drawing/2014/main" id="{3412403B-8596-DB21-EB81-6FE5F875461B}"/>
              </a:ext>
            </a:extLst>
          </p:cNvPr>
          <p:cNvSpPr/>
          <p:nvPr/>
        </p:nvSpPr>
        <p:spPr>
          <a:xfrm>
            <a:off x="1250163" y="35276917"/>
            <a:ext cx="27774886" cy="1141434"/>
          </a:xfrm>
          <a:prstGeom prst="rect">
            <a:avLst/>
          </a:prstGeom>
          <a:noFill/>
          <a:ln/>
        </p:spPr>
        <p:txBody>
          <a:bodyPr wrap="square" lIns="0" tIns="0" rIns="0" bIns="0" rtlCol="0" anchor="ctr">
            <a:normAutofit lnSpcReduction="10000"/>
          </a:bodyPr>
          <a:lstStyle/>
          <a:p>
            <a:pPr algn="ctr"/>
            <a:r>
              <a:rPr lang="en-US" sz="8000" b="1" dirty="0">
                <a:solidFill>
                  <a:srgbClr val="2F3033"/>
                </a:solidFill>
                <a:latin typeface="Aptos Display" pitchFamily="34" charset="0"/>
                <a:ea typeface="Aptos Display" pitchFamily="34" charset="-122"/>
                <a:cs typeface="Aptos Display" pitchFamily="34" charset="-120"/>
              </a:rPr>
              <a:t>Strategic Policy development with Governments is win-win</a:t>
            </a:r>
            <a:endParaRPr lang="en-US" sz="8000" dirty="0"/>
          </a:p>
        </p:txBody>
      </p:sp>
      <p:sp>
        <p:nvSpPr>
          <p:cNvPr id="21" name="Text 16">
            <a:extLst>
              <a:ext uri="{FF2B5EF4-FFF2-40B4-BE49-F238E27FC236}">
                <a16:creationId xmlns:a16="http://schemas.microsoft.com/office/drawing/2014/main" id="{48E374F3-FE78-734D-A722-239BDDFFDD00}"/>
              </a:ext>
            </a:extLst>
          </p:cNvPr>
          <p:cNvSpPr/>
          <p:nvPr/>
        </p:nvSpPr>
        <p:spPr>
          <a:xfrm>
            <a:off x="1706736" y="41776472"/>
            <a:ext cx="7609558" cy="684860"/>
          </a:xfrm>
          <a:prstGeom prst="rect">
            <a:avLst/>
          </a:prstGeom>
          <a:noFill/>
          <a:ln/>
        </p:spPr>
        <p:txBody>
          <a:bodyPr wrap="square" lIns="0" tIns="0" rIns="0" bIns="0" rtlCol="0" anchor="ctr">
            <a:normAutofit/>
          </a:bodyPr>
          <a:lstStyle/>
          <a:p>
            <a:r>
              <a:rPr lang="en-US" sz="3537">
                <a:solidFill>
                  <a:srgbClr val="5A5A5A"/>
                </a:solidFill>
                <a:latin typeface="Aptos" pitchFamily="34" charset="0"/>
                <a:ea typeface="Aptos" pitchFamily="34" charset="-122"/>
                <a:cs typeface="Aptos" pitchFamily="34" charset="-120"/>
              </a:rPr>
              <a:t>Shape. </a:t>
            </a:r>
            <a:r>
              <a:rPr lang="en-US" sz="3537" dirty="0">
                <a:solidFill>
                  <a:srgbClr val="5A5A5A"/>
                </a:solidFill>
                <a:latin typeface="Aptos" pitchFamily="34" charset="0"/>
                <a:ea typeface="Aptos" pitchFamily="34" charset="-122"/>
                <a:cs typeface="Aptos" pitchFamily="34" charset="-120"/>
              </a:rPr>
              <a:t>Connect. Accelerate.</a:t>
            </a:r>
            <a:endParaRPr lang="en-US" sz="3537" dirty="0"/>
          </a:p>
        </p:txBody>
      </p:sp>
      <p:sp>
        <p:nvSpPr>
          <p:cNvPr id="22" name="Text 17">
            <a:extLst>
              <a:ext uri="{FF2B5EF4-FFF2-40B4-BE49-F238E27FC236}">
                <a16:creationId xmlns:a16="http://schemas.microsoft.com/office/drawing/2014/main" id="{B159593D-D535-C73D-7621-D61CB0D67A00}"/>
              </a:ext>
            </a:extLst>
          </p:cNvPr>
          <p:cNvSpPr/>
          <p:nvPr/>
        </p:nvSpPr>
        <p:spPr>
          <a:xfrm>
            <a:off x="22747164" y="41776472"/>
            <a:ext cx="5897407" cy="684860"/>
          </a:xfrm>
          <a:prstGeom prst="rect">
            <a:avLst/>
          </a:prstGeom>
          <a:noFill/>
          <a:ln/>
        </p:spPr>
        <p:txBody>
          <a:bodyPr wrap="square" lIns="0" tIns="0" rIns="0" bIns="0" rtlCol="0" anchor="ctr">
            <a:normAutofit/>
          </a:bodyPr>
          <a:lstStyle/>
          <a:p>
            <a:pPr algn="r"/>
            <a:r>
              <a:rPr lang="en-US" sz="3537" dirty="0">
                <a:solidFill>
                  <a:srgbClr val="5A5A5A"/>
                </a:solidFill>
                <a:latin typeface="Aptos" pitchFamily="34" charset="0"/>
                <a:ea typeface="Aptos" pitchFamily="34" charset="-122"/>
                <a:cs typeface="Aptos" pitchFamily="34" charset="-120"/>
              </a:rPr>
              <a:t>September 7–8, 2026</a:t>
            </a:r>
            <a:endParaRPr lang="en-US" sz="3537" dirty="0"/>
          </a:p>
        </p:txBody>
      </p:sp>
      <p:pic>
        <p:nvPicPr>
          <p:cNvPr id="24" name="Picture 23">
            <a:extLst>
              <a:ext uri="{FF2B5EF4-FFF2-40B4-BE49-F238E27FC236}">
                <a16:creationId xmlns:a16="http://schemas.microsoft.com/office/drawing/2014/main" id="{4C7B5A7B-B03A-7CB8-AF4C-BE536534FD1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3850549" y="1385284"/>
            <a:ext cx="4306322" cy="4306322"/>
          </a:xfrm>
          <a:prstGeom prst="rect">
            <a:avLst/>
          </a:prstGeom>
          <a:ln>
            <a:noFill/>
          </a:ln>
        </p:spPr>
      </p:pic>
      <p:pic>
        <p:nvPicPr>
          <p:cNvPr id="51" name="Picture 50">
            <a:extLst>
              <a:ext uri="{FF2B5EF4-FFF2-40B4-BE49-F238E27FC236}">
                <a16:creationId xmlns:a16="http://schemas.microsoft.com/office/drawing/2014/main" id="{7ED94596-8383-C09D-C536-B5D44E175A53}"/>
              </a:ext>
            </a:extLst>
          </p:cNvPr>
          <p:cNvPicPr>
            <a:picLocks noChangeAspect="1"/>
          </p:cNvPicPr>
          <p:nvPr/>
        </p:nvPicPr>
        <p:blipFill>
          <a:blip r:embed="rId7"/>
          <a:stretch>
            <a:fillRect/>
          </a:stretch>
        </p:blipFill>
        <p:spPr>
          <a:xfrm>
            <a:off x="17837392" y="26616725"/>
            <a:ext cx="11808098" cy="8121162"/>
          </a:xfrm>
          <a:prstGeom prst="rect">
            <a:avLst/>
          </a:prstGeom>
        </p:spPr>
      </p:pic>
      <p:sp>
        <p:nvSpPr>
          <p:cNvPr id="55" name="TextBox 54">
            <a:extLst>
              <a:ext uri="{FF2B5EF4-FFF2-40B4-BE49-F238E27FC236}">
                <a16:creationId xmlns:a16="http://schemas.microsoft.com/office/drawing/2014/main" id="{082D95A3-C205-71A2-52C4-1682A252D700}"/>
              </a:ext>
            </a:extLst>
          </p:cNvPr>
          <p:cNvSpPr txBox="1"/>
          <p:nvPr/>
        </p:nvSpPr>
        <p:spPr>
          <a:xfrm>
            <a:off x="977082" y="13797078"/>
            <a:ext cx="13402889" cy="2262158"/>
          </a:xfrm>
          <a:prstGeom prst="rect">
            <a:avLst/>
          </a:prstGeom>
          <a:noFill/>
        </p:spPr>
        <p:txBody>
          <a:bodyPr wrap="square">
            <a:spAutoFit/>
          </a:bodyPr>
          <a:lstStyle/>
          <a:p>
            <a:r>
              <a:rPr lang="en-GB" sz="4700" b="1" dirty="0">
                <a:latin typeface="Aptos" panose="020B0004020202020204" pitchFamily="34" charset="0"/>
              </a:rPr>
              <a:t>Since 2011, Shell has worked with the Chinese  Government’s Development and Research </a:t>
            </a:r>
            <a:r>
              <a:rPr lang="en-GB" sz="4700" b="1" dirty="0" err="1">
                <a:latin typeface="Aptos" panose="020B0004020202020204" pitchFamily="34" charset="0"/>
              </a:rPr>
              <a:t>Center</a:t>
            </a:r>
            <a:r>
              <a:rPr lang="en-GB" sz="4700" b="1" dirty="0">
                <a:latin typeface="Aptos" panose="020B0004020202020204" pitchFamily="34" charset="0"/>
              </a:rPr>
              <a:t> (DRC) to shape China’s energy system.</a:t>
            </a:r>
          </a:p>
        </p:txBody>
      </p:sp>
      <p:sp>
        <p:nvSpPr>
          <p:cNvPr id="58" name="TextBox 57">
            <a:extLst>
              <a:ext uri="{FF2B5EF4-FFF2-40B4-BE49-F238E27FC236}">
                <a16:creationId xmlns:a16="http://schemas.microsoft.com/office/drawing/2014/main" id="{9D99E9C9-B808-8E03-E4B5-E916C76AC9F1}"/>
              </a:ext>
            </a:extLst>
          </p:cNvPr>
          <p:cNvSpPr txBox="1"/>
          <p:nvPr/>
        </p:nvSpPr>
        <p:spPr>
          <a:xfrm>
            <a:off x="14597546" y="13934780"/>
            <a:ext cx="15025344" cy="2800767"/>
          </a:xfrm>
          <a:prstGeom prst="rect">
            <a:avLst/>
          </a:prstGeom>
          <a:noFill/>
        </p:spPr>
        <p:txBody>
          <a:bodyPr wrap="square" lIns="0" rIns="0">
            <a:spAutoFit/>
          </a:bodyPr>
          <a:lstStyle/>
          <a:p>
            <a:r>
              <a:rPr lang="en-GB" sz="4400" dirty="0">
                <a:latin typeface="Aptos" panose="020B0004020202020204" pitchFamily="34" charset="0"/>
              </a:rPr>
              <a:t>The scope of the studies has developed as China’s energy objectives evolved from supporting economic progress to achieving net zero while sustaining economic development and energy security. The fifth study is nearing completion.</a:t>
            </a:r>
          </a:p>
        </p:txBody>
      </p:sp>
      <p:sp>
        <p:nvSpPr>
          <p:cNvPr id="59" name="TextBox 58">
            <a:extLst>
              <a:ext uri="{FF2B5EF4-FFF2-40B4-BE49-F238E27FC236}">
                <a16:creationId xmlns:a16="http://schemas.microsoft.com/office/drawing/2014/main" id="{A7D1ADE8-C53F-8B47-24A2-2E52FDFF15F3}"/>
              </a:ext>
            </a:extLst>
          </p:cNvPr>
          <p:cNvSpPr txBox="1"/>
          <p:nvPr/>
        </p:nvSpPr>
        <p:spPr>
          <a:xfrm>
            <a:off x="738934" y="24842360"/>
            <a:ext cx="28722653" cy="1537344"/>
          </a:xfrm>
          <a:prstGeom prst="rect">
            <a:avLst/>
          </a:prstGeom>
          <a:noFill/>
        </p:spPr>
        <p:txBody>
          <a:bodyPr wrap="square">
            <a:spAutoFit/>
          </a:bodyPr>
          <a:lstStyle/>
          <a:p>
            <a:pPr algn="ctr">
              <a:lnSpc>
                <a:spcPct val="90000"/>
              </a:lnSpc>
            </a:pPr>
            <a:r>
              <a:rPr lang="en-GB" sz="5200" b="1" dirty="0">
                <a:latin typeface="Aptos" panose="020B0004020202020204" pitchFamily="34" charset="0"/>
              </a:rPr>
              <a:t>The current fifth study recognises building a new energy system Is essential for China to modernise its economy while meeting  peak emissions by 2030 and Net Zero in 2060</a:t>
            </a:r>
          </a:p>
        </p:txBody>
      </p:sp>
      <p:grpSp>
        <p:nvGrpSpPr>
          <p:cNvPr id="73" name="Group 72">
            <a:extLst>
              <a:ext uri="{FF2B5EF4-FFF2-40B4-BE49-F238E27FC236}">
                <a16:creationId xmlns:a16="http://schemas.microsoft.com/office/drawing/2014/main" id="{4F9A72C1-FB8D-DE5A-CA09-6A6225508C45}"/>
              </a:ext>
            </a:extLst>
          </p:cNvPr>
          <p:cNvGrpSpPr/>
          <p:nvPr/>
        </p:nvGrpSpPr>
        <p:grpSpPr>
          <a:xfrm>
            <a:off x="14597546" y="17134146"/>
            <a:ext cx="15073159" cy="5629580"/>
            <a:chOff x="10409607" y="15892848"/>
            <a:chExt cx="16622803" cy="5753066"/>
          </a:xfrm>
        </p:grpSpPr>
        <p:pic>
          <p:nvPicPr>
            <p:cNvPr id="63" name="Picture 62">
              <a:extLst>
                <a:ext uri="{FF2B5EF4-FFF2-40B4-BE49-F238E27FC236}">
                  <a16:creationId xmlns:a16="http://schemas.microsoft.com/office/drawing/2014/main" id="{7D77EA12-1B69-5D38-FA89-75245AB7B1B3}"/>
                </a:ext>
              </a:extLst>
            </p:cNvPr>
            <p:cNvPicPr>
              <a:picLocks/>
            </p:cNvPicPr>
            <p:nvPr/>
          </p:nvPicPr>
          <p:blipFill>
            <a:blip r:embed="rId8"/>
            <a:stretch>
              <a:fillRect/>
            </a:stretch>
          </p:blipFill>
          <p:spPr>
            <a:xfrm>
              <a:off x="20460502" y="15892848"/>
              <a:ext cx="2987999" cy="4104000"/>
            </a:xfrm>
            <a:prstGeom prst="rect">
              <a:avLst/>
            </a:prstGeom>
          </p:spPr>
        </p:pic>
        <p:pic>
          <p:nvPicPr>
            <p:cNvPr id="65" name="Picture 64" descr="A book cover of a person standing in front of a city&#10;&#10;Description automatically generated">
              <a:extLst>
                <a:ext uri="{FF2B5EF4-FFF2-40B4-BE49-F238E27FC236}">
                  <a16:creationId xmlns:a16="http://schemas.microsoft.com/office/drawing/2014/main" id="{CF2C6B2F-E2A7-7BCE-1EBA-6536FBB4A32B}"/>
                </a:ext>
              </a:extLst>
            </p:cNvPr>
            <p:cNvPicPr>
              <a:picLocks/>
            </p:cNvPicPr>
            <p:nvPr/>
          </p:nvPicPr>
          <p:blipFill>
            <a:blip r:embed="rId9" cstate="print">
              <a:extLst>
                <a:ext uri="{28A0092B-C50C-407E-A947-70E740481C1C}">
                  <a14:useLocalDpi xmlns:a14="http://schemas.microsoft.com/office/drawing/2010/main" val="0"/>
                </a:ext>
              </a:extLst>
            </a:blip>
            <a:stretch>
              <a:fillRect/>
            </a:stretch>
          </p:blipFill>
          <p:spPr>
            <a:xfrm>
              <a:off x="17110203" y="15987302"/>
              <a:ext cx="2987999" cy="4104000"/>
            </a:xfrm>
            <a:prstGeom prst="rect">
              <a:avLst/>
            </a:prstGeom>
          </p:spPr>
        </p:pic>
        <p:pic>
          <p:nvPicPr>
            <p:cNvPr id="67" name="Picture 66" descr="A book cover of a book&#10;&#10;Description automatically generated">
              <a:extLst>
                <a:ext uri="{FF2B5EF4-FFF2-40B4-BE49-F238E27FC236}">
                  <a16:creationId xmlns:a16="http://schemas.microsoft.com/office/drawing/2014/main" id="{09E8C95A-4E5E-9592-EA00-D09BB1750C6B}"/>
                </a:ext>
              </a:extLst>
            </p:cNvPr>
            <p:cNvPicPr>
              <a:picLocks/>
            </p:cNvPicPr>
            <p:nvPr/>
          </p:nvPicPr>
          <p:blipFill>
            <a:blip r:embed="rId10" cstate="print">
              <a:extLst>
                <a:ext uri="{28A0092B-C50C-407E-A947-70E740481C1C}">
                  <a14:useLocalDpi xmlns:a14="http://schemas.microsoft.com/office/drawing/2010/main" val="0"/>
                </a:ext>
              </a:extLst>
            </a:blip>
            <a:stretch>
              <a:fillRect/>
            </a:stretch>
          </p:blipFill>
          <p:spPr>
            <a:xfrm>
              <a:off x="13759905" y="15915278"/>
              <a:ext cx="2987999" cy="4104000"/>
            </a:xfrm>
            <a:prstGeom prst="rect">
              <a:avLst/>
            </a:prstGeom>
          </p:spPr>
        </p:pic>
        <p:sp>
          <p:nvSpPr>
            <p:cNvPr id="70" name="TextBox 69">
              <a:extLst>
                <a:ext uri="{FF2B5EF4-FFF2-40B4-BE49-F238E27FC236}">
                  <a16:creationId xmlns:a16="http://schemas.microsoft.com/office/drawing/2014/main" id="{C245756A-23E0-C3CB-D7E6-3FABB785060C}"/>
                </a:ext>
              </a:extLst>
            </p:cNvPr>
            <p:cNvSpPr txBox="1"/>
            <p:nvPr/>
          </p:nvSpPr>
          <p:spPr>
            <a:xfrm>
              <a:off x="10409608" y="20293445"/>
              <a:ext cx="16622802" cy="1352469"/>
            </a:xfrm>
            <a:prstGeom prst="rect">
              <a:avLst/>
            </a:prstGeom>
            <a:noFill/>
          </p:spPr>
          <p:txBody>
            <a:bodyPr wrap="square">
              <a:spAutoFit/>
            </a:bodyPr>
            <a:lstStyle/>
            <a:p>
              <a:r>
                <a:rPr lang="en-GB" sz="4000" b="1" dirty="0">
                  <a:latin typeface="Aptos" panose="020B0004020202020204" pitchFamily="34" charset="0"/>
                </a:rPr>
                <a:t>     Study 1             Study 2            Study 3             Study 4             Study 5            </a:t>
              </a:r>
            </a:p>
            <a:p>
              <a:r>
                <a:rPr lang="en-GB" sz="4000" dirty="0">
                  <a:latin typeface="Aptos" panose="020B0004020202020204" pitchFamily="34" charset="0"/>
                </a:rPr>
                <a:t>     2011-13            2014-15            2015-18            2019-22            2023-26</a:t>
              </a:r>
            </a:p>
          </p:txBody>
        </p:sp>
        <p:sp>
          <p:nvSpPr>
            <p:cNvPr id="71" name="TextBox 70">
              <a:extLst>
                <a:ext uri="{FF2B5EF4-FFF2-40B4-BE49-F238E27FC236}">
                  <a16:creationId xmlns:a16="http://schemas.microsoft.com/office/drawing/2014/main" id="{B1892EAF-3EF7-57B7-7BBB-B25B5FE49FFF}"/>
                </a:ext>
              </a:extLst>
            </p:cNvPr>
            <p:cNvSpPr txBox="1"/>
            <p:nvPr/>
          </p:nvSpPr>
          <p:spPr>
            <a:xfrm>
              <a:off x="10409607" y="16017626"/>
              <a:ext cx="2988000" cy="4104000"/>
            </a:xfrm>
            <a:prstGeom prst="rect">
              <a:avLst/>
            </a:prstGeom>
            <a:solidFill>
              <a:srgbClr val="E4E9ED"/>
            </a:solidFill>
            <a:ln>
              <a:solidFill>
                <a:schemeClr val="tx1">
                  <a:lumMod val="60000"/>
                  <a:lumOff val="40000"/>
                </a:schemeClr>
              </a:solidFill>
            </a:ln>
          </p:spPr>
          <p:txBody>
            <a:bodyPr wrap="square">
              <a:normAutofit/>
            </a:bodyPr>
            <a:lstStyle/>
            <a:p>
              <a:r>
                <a:rPr lang="en-GB" sz="3600" i="1" dirty="0">
                  <a:solidFill>
                    <a:srgbClr val="4A4A4A"/>
                  </a:solidFill>
                </a:rPr>
                <a:t>China’s Medium- to Long-Term Energy Development Strategy</a:t>
              </a:r>
              <a:endParaRPr lang="en-GB" sz="3600" i="1" dirty="0">
                <a:latin typeface="Aptos" panose="020B0004020202020204" pitchFamily="34" charset="0"/>
              </a:endParaRPr>
            </a:p>
          </p:txBody>
        </p:sp>
        <p:sp>
          <p:nvSpPr>
            <p:cNvPr id="72" name="TextBox 71">
              <a:extLst>
                <a:ext uri="{FF2B5EF4-FFF2-40B4-BE49-F238E27FC236}">
                  <a16:creationId xmlns:a16="http://schemas.microsoft.com/office/drawing/2014/main" id="{C0F23FEE-639C-AD7F-DCFC-1C92786F03C2}"/>
                </a:ext>
              </a:extLst>
            </p:cNvPr>
            <p:cNvSpPr txBox="1"/>
            <p:nvPr/>
          </p:nvSpPr>
          <p:spPr>
            <a:xfrm>
              <a:off x="23810799" y="15943070"/>
              <a:ext cx="2999597" cy="4104000"/>
            </a:xfrm>
            <a:prstGeom prst="rect">
              <a:avLst/>
            </a:prstGeom>
            <a:solidFill>
              <a:srgbClr val="E4E9ED"/>
            </a:solidFill>
            <a:ln>
              <a:solidFill>
                <a:schemeClr val="tx1">
                  <a:lumMod val="60000"/>
                  <a:lumOff val="40000"/>
                </a:schemeClr>
              </a:solidFill>
            </a:ln>
          </p:spPr>
          <p:txBody>
            <a:bodyPr wrap="square">
              <a:normAutofit lnSpcReduction="10000"/>
            </a:bodyPr>
            <a:lstStyle>
              <a:defPPr>
                <a:defRPr lang="en-US"/>
              </a:defPPr>
              <a:lvl1pPr>
                <a:defRPr sz="3600" i="1">
                  <a:solidFill>
                    <a:srgbClr val="4A4A4A"/>
                  </a:solidFill>
                </a:defRPr>
              </a:lvl1pPr>
            </a:lstStyle>
            <a:p>
              <a:r>
                <a:rPr lang="en-GB" sz="3300" dirty="0"/>
                <a:t>Accelerate the  low-carbon transformation of energy and build a safe and efficient new energy system</a:t>
              </a:r>
            </a:p>
          </p:txBody>
        </p:sp>
      </p:grpSp>
      <p:sp>
        <p:nvSpPr>
          <p:cNvPr id="75" name="TextBox 74">
            <a:extLst>
              <a:ext uri="{FF2B5EF4-FFF2-40B4-BE49-F238E27FC236}">
                <a16:creationId xmlns:a16="http://schemas.microsoft.com/office/drawing/2014/main" id="{CE5C622E-9D1D-3FE9-E0F8-4F3B35B69483}"/>
              </a:ext>
            </a:extLst>
          </p:cNvPr>
          <p:cNvSpPr txBox="1"/>
          <p:nvPr/>
        </p:nvSpPr>
        <p:spPr>
          <a:xfrm>
            <a:off x="11318304" y="26902871"/>
            <a:ext cx="9521348" cy="7694542"/>
          </a:xfrm>
          <a:prstGeom prst="rect">
            <a:avLst/>
          </a:prstGeom>
          <a:noFill/>
        </p:spPr>
        <p:txBody>
          <a:bodyPr wrap="square">
            <a:spAutoFit/>
          </a:bodyPr>
          <a:lstStyle/>
          <a:p>
            <a:pPr>
              <a:lnSpc>
                <a:spcPct val="110000"/>
              </a:lnSpc>
              <a:spcBef>
                <a:spcPts val="1200"/>
              </a:spcBef>
            </a:pPr>
            <a:r>
              <a:rPr lang="en-GB" sz="3600" dirty="0">
                <a:latin typeface="Aptos" panose="020B0004020202020204" pitchFamily="34" charset="0"/>
              </a:rPr>
              <a:t>Building the new energy system  requires leveraging two key drivers and </a:t>
            </a:r>
            <a:br>
              <a:rPr lang="en-GB" sz="3600" dirty="0">
                <a:latin typeface="Aptos" panose="020B0004020202020204" pitchFamily="34" charset="0"/>
              </a:rPr>
            </a:br>
            <a:r>
              <a:rPr lang="en-GB" sz="3600" dirty="0">
                <a:latin typeface="Aptos" panose="020B0004020202020204" pitchFamily="34" charset="0"/>
              </a:rPr>
              <a:t>implementing three major strategies.  </a:t>
            </a:r>
          </a:p>
          <a:p>
            <a:pPr>
              <a:lnSpc>
                <a:spcPct val="110000"/>
              </a:lnSpc>
              <a:spcBef>
                <a:spcPts val="1200"/>
              </a:spcBef>
            </a:pPr>
            <a:r>
              <a:rPr lang="en-GB" sz="3600" dirty="0">
                <a:latin typeface="Aptos" panose="020B0004020202020204" pitchFamily="34" charset="0"/>
              </a:rPr>
              <a:t>Focus is also needed on improving</a:t>
            </a:r>
            <a:br>
              <a:rPr lang="en-GB" sz="3600" dirty="0">
                <a:latin typeface="Aptos" panose="020B0004020202020204" pitchFamily="34" charset="0"/>
              </a:rPr>
            </a:br>
            <a:r>
              <a:rPr lang="en-GB" sz="3600" dirty="0">
                <a:latin typeface="Aptos" panose="020B0004020202020204" pitchFamily="34" charset="0"/>
              </a:rPr>
              <a:t>five institutional areas: </a:t>
            </a:r>
          </a:p>
          <a:p>
            <a:pPr marL="360000" indent="-360000">
              <a:lnSpc>
                <a:spcPct val="110000"/>
              </a:lnSpc>
              <a:spcBef>
                <a:spcPts val="1200"/>
              </a:spcBef>
              <a:buFont typeface="Courier New" panose="02070309020205020404" pitchFamily="49" charset="0"/>
              <a:buChar char="o"/>
              <a:tabLst>
                <a:tab pos="354013" algn="l"/>
              </a:tabLst>
            </a:pPr>
            <a:r>
              <a:rPr lang="en-GB" sz="3600" dirty="0">
                <a:latin typeface="Aptos" panose="020B0004020202020204" pitchFamily="34" charset="0"/>
              </a:rPr>
              <a:t>strengthen energy market</a:t>
            </a:r>
            <a:br>
              <a:rPr lang="en-GB" sz="3600" dirty="0">
                <a:latin typeface="Aptos" panose="020B0004020202020204" pitchFamily="34" charset="0"/>
              </a:rPr>
            </a:br>
            <a:r>
              <a:rPr lang="en-GB" sz="3600" dirty="0">
                <a:latin typeface="Aptos" panose="020B0004020202020204" pitchFamily="34" charset="0"/>
              </a:rPr>
              <a:t>systems; </a:t>
            </a:r>
          </a:p>
          <a:p>
            <a:pPr marL="360000" indent="-360000">
              <a:lnSpc>
                <a:spcPct val="110000"/>
              </a:lnSpc>
              <a:spcBef>
                <a:spcPts val="1200"/>
              </a:spcBef>
              <a:buFont typeface="Courier New" panose="02070309020205020404" pitchFamily="49" charset="0"/>
              <a:buChar char="o"/>
              <a:tabLst>
                <a:tab pos="354013" algn="l"/>
              </a:tabLst>
            </a:pPr>
            <a:r>
              <a:rPr lang="en-GB" sz="3600" dirty="0">
                <a:latin typeface="Aptos" panose="020B0004020202020204" pitchFamily="34" charset="0"/>
              </a:rPr>
              <a:t>advance carbon market reform; </a:t>
            </a:r>
          </a:p>
          <a:p>
            <a:pPr marL="360000" indent="-360000">
              <a:lnSpc>
                <a:spcPct val="110000"/>
              </a:lnSpc>
              <a:spcBef>
                <a:spcPts val="1200"/>
              </a:spcBef>
              <a:buFont typeface="Courier New" panose="02070309020205020404" pitchFamily="49" charset="0"/>
              <a:buChar char="o"/>
              <a:tabLst>
                <a:tab pos="354013" algn="l"/>
              </a:tabLst>
            </a:pPr>
            <a:r>
              <a:rPr lang="en-GB" sz="3600" dirty="0">
                <a:latin typeface="Aptos" panose="020B0004020202020204" pitchFamily="34" charset="0"/>
              </a:rPr>
              <a:t>promote  dual control of emissions;</a:t>
            </a:r>
          </a:p>
          <a:p>
            <a:pPr marL="360000" indent="-360000">
              <a:lnSpc>
                <a:spcPct val="110000"/>
              </a:lnSpc>
              <a:spcBef>
                <a:spcPts val="1200"/>
              </a:spcBef>
              <a:buFont typeface="Courier New" panose="02070309020205020404" pitchFamily="49" charset="0"/>
              <a:buChar char="o"/>
              <a:tabLst>
                <a:tab pos="354013" algn="l"/>
              </a:tabLst>
            </a:pPr>
            <a:r>
              <a:rPr lang="en-GB" sz="3600" dirty="0">
                <a:latin typeface="Aptos" panose="020B0004020202020204" pitchFamily="34" charset="0"/>
              </a:rPr>
              <a:t>strengthen  energy security; </a:t>
            </a:r>
          </a:p>
          <a:p>
            <a:pPr marL="360000" indent="-360000">
              <a:lnSpc>
                <a:spcPct val="110000"/>
              </a:lnSpc>
              <a:spcBef>
                <a:spcPts val="1200"/>
              </a:spcBef>
              <a:buFont typeface="Courier New" panose="02070309020205020404" pitchFamily="49" charset="0"/>
              <a:buChar char="o"/>
              <a:tabLst>
                <a:tab pos="354013" algn="l"/>
              </a:tabLst>
            </a:pPr>
            <a:r>
              <a:rPr lang="en-GB" sz="3600" dirty="0">
                <a:latin typeface="Aptos" panose="020B0004020202020204" pitchFamily="34" charset="0"/>
              </a:rPr>
              <a:t>support a just transition for fossil energy.</a:t>
            </a:r>
          </a:p>
        </p:txBody>
      </p:sp>
      <p:sp>
        <p:nvSpPr>
          <p:cNvPr id="78" name="TextBox 77">
            <a:extLst>
              <a:ext uri="{FF2B5EF4-FFF2-40B4-BE49-F238E27FC236}">
                <a16:creationId xmlns:a16="http://schemas.microsoft.com/office/drawing/2014/main" id="{4CEC8C8A-B933-CC48-2502-3604B01F9940}"/>
              </a:ext>
            </a:extLst>
          </p:cNvPr>
          <p:cNvSpPr txBox="1"/>
          <p:nvPr/>
        </p:nvSpPr>
        <p:spPr>
          <a:xfrm>
            <a:off x="800099" y="36738855"/>
            <a:ext cx="9370595" cy="4585871"/>
          </a:xfrm>
          <a:prstGeom prst="rect">
            <a:avLst/>
          </a:prstGeom>
          <a:noFill/>
        </p:spPr>
        <p:txBody>
          <a:bodyPr wrap="square">
            <a:spAutoFit/>
          </a:bodyPr>
          <a:lstStyle/>
          <a:p>
            <a:r>
              <a:rPr lang="en-GB" sz="4400" b="1" dirty="0">
                <a:latin typeface="Aptos" panose="020B0004020202020204" pitchFamily="34" charset="0"/>
              </a:rPr>
              <a:t>            </a:t>
            </a:r>
            <a:r>
              <a:rPr lang="en-GB" sz="4800" b="1" dirty="0">
                <a:latin typeface="Aptos" panose="020B0004020202020204" pitchFamily="34" charset="0"/>
              </a:rPr>
              <a:t> </a:t>
            </a:r>
            <a:r>
              <a:rPr lang="en-GB" sz="4800" b="1" dirty="0">
                <a:solidFill>
                  <a:schemeClr val="accent2"/>
                </a:solidFill>
                <a:latin typeface="Aptos" panose="020B0004020202020204" pitchFamily="34" charset="0"/>
              </a:rPr>
              <a:t>Informed Policy</a:t>
            </a:r>
            <a:br>
              <a:rPr lang="en-GB" sz="4800" b="1" dirty="0">
                <a:solidFill>
                  <a:schemeClr val="accent2"/>
                </a:solidFill>
                <a:latin typeface="Aptos" panose="020B0004020202020204" pitchFamily="34" charset="0"/>
              </a:rPr>
            </a:br>
            <a:r>
              <a:rPr lang="en-GB" sz="4800" b="1" dirty="0">
                <a:solidFill>
                  <a:schemeClr val="accent2"/>
                </a:solidFill>
                <a:latin typeface="Aptos" panose="020B0004020202020204" pitchFamily="34" charset="0"/>
              </a:rPr>
              <a:t>             Development </a:t>
            </a:r>
          </a:p>
          <a:p>
            <a:pPr marL="571500" indent="-571500">
              <a:spcBef>
                <a:spcPts val="1200"/>
              </a:spcBef>
              <a:buFont typeface="Courier New" panose="02070309020205020404" pitchFamily="49" charset="0"/>
              <a:buChar char="o"/>
            </a:pPr>
            <a:r>
              <a:rPr lang="en-GB" sz="4400" dirty="0">
                <a:latin typeface="Aptos" panose="020B0004020202020204" pitchFamily="34" charset="0"/>
              </a:rPr>
              <a:t>Global best practice - learning from other countries including impact of different policy  approaches.  </a:t>
            </a:r>
          </a:p>
          <a:p>
            <a:pPr marL="571500" indent="-571500">
              <a:spcBef>
                <a:spcPts val="1200"/>
              </a:spcBef>
              <a:buFont typeface="Courier New" panose="02070309020205020404" pitchFamily="49" charset="0"/>
              <a:buChar char="o"/>
            </a:pPr>
            <a:r>
              <a:rPr lang="en-GB" sz="4400" dirty="0">
                <a:latin typeface="Aptos" panose="020B0004020202020204" pitchFamily="34" charset="0"/>
              </a:rPr>
              <a:t>Extensive energy </a:t>
            </a:r>
            <a:r>
              <a:rPr lang="en-GB" sz="4400">
                <a:latin typeface="Aptos" panose="020B0004020202020204" pitchFamily="34" charset="0"/>
              </a:rPr>
              <a:t>system expertise.</a:t>
            </a:r>
            <a:endParaRPr lang="en-GB" sz="4400" dirty="0">
              <a:latin typeface="Aptos" panose="020B0004020202020204" pitchFamily="34" charset="0"/>
            </a:endParaRPr>
          </a:p>
        </p:txBody>
      </p:sp>
      <p:pic>
        <p:nvPicPr>
          <p:cNvPr id="80" name="Picture 79">
            <a:extLst>
              <a:ext uri="{FF2B5EF4-FFF2-40B4-BE49-F238E27FC236}">
                <a16:creationId xmlns:a16="http://schemas.microsoft.com/office/drawing/2014/main" id="{B29221B1-46E5-4717-4923-752E22FA961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48999" y="10196130"/>
            <a:ext cx="3979402" cy="3979402"/>
          </a:xfrm>
          <a:prstGeom prst="rect">
            <a:avLst/>
          </a:prstGeom>
          <a:ln>
            <a:noFill/>
          </a:ln>
        </p:spPr>
      </p:pic>
      <p:pic>
        <p:nvPicPr>
          <p:cNvPr id="82" name="Picture 81">
            <a:extLst>
              <a:ext uri="{FF2B5EF4-FFF2-40B4-BE49-F238E27FC236}">
                <a16:creationId xmlns:a16="http://schemas.microsoft.com/office/drawing/2014/main" id="{88C6796A-9F0B-D218-BFF3-91B1C05ECEAE}"/>
              </a:ext>
            </a:extLst>
          </p:cNvPr>
          <p:cNvPicPr>
            <a:picLocks noChangeAspect="1"/>
          </p:cNvPicPr>
          <p:nvPr/>
        </p:nvPicPr>
        <p:blipFill>
          <a:blip r:embed="rId11"/>
          <a:stretch>
            <a:fillRect/>
          </a:stretch>
        </p:blipFill>
        <p:spPr>
          <a:xfrm>
            <a:off x="26610412" y="11273947"/>
            <a:ext cx="2536361" cy="1690907"/>
          </a:xfrm>
          <a:prstGeom prst="rect">
            <a:avLst/>
          </a:prstGeom>
        </p:spPr>
      </p:pic>
      <p:sp>
        <p:nvSpPr>
          <p:cNvPr id="25" name="TextBox 24">
            <a:extLst>
              <a:ext uri="{FF2B5EF4-FFF2-40B4-BE49-F238E27FC236}">
                <a16:creationId xmlns:a16="http://schemas.microsoft.com/office/drawing/2014/main" id="{738B52FE-A9DF-3FCF-3A03-6DFF2B9ADBEF}"/>
              </a:ext>
            </a:extLst>
          </p:cNvPr>
          <p:cNvSpPr txBox="1"/>
          <p:nvPr/>
        </p:nvSpPr>
        <p:spPr>
          <a:xfrm>
            <a:off x="14556750" y="22980738"/>
            <a:ext cx="15192831" cy="1246495"/>
          </a:xfrm>
          <a:prstGeom prst="rect">
            <a:avLst/>
          </a:prstGeom>
          <a:noFill/>
        </p:spPr>
        <p:txBody>
          <a:bodyPr wrap="square" lIns="0" rIns="0">
            <a:spAutoFit/>
          </a:bodyPr>
          <a:lstStyle/>
          <a:p>
            <a:r>
              <a:rPr lang="en-GB" sz="3600" b="1" dirty="0">
                <a:latin typeface="Aptos" panose="020B0004020202020204" pitchFamily="34" charset="0"/>
              </a:rPr>
              <a:t>Shell and DRC jointly publish the results which are free to download here:</a:t>
            </a:r>
            <a:r>
              <a:rPr lang="en-GB" sz="3800" b="1" dirty="0">
                <a:latin typeface="Aptos" panose="020B0004020202020204" pitchFamily="34" charset="0"/>
              </a:rPr>
              <a:t> </a:t>
            </a:r>
            <a:endParaRPr lang="en-GB" sz="3800" dirty="0">
              <a:latin typeface="Aptos" panose="020B0004020202020204" pitchFamily="34" charset="0"/>
            </a:endParaRPr>
          </a:p>
          <a:p>
            <a:pPr>
              <a:spcBef>
                <a:spcPts val="600"/>
              </a:spcBef>
            </a:pPr>
            <a:r>
              <a:rPr lang="en-GB" sz="3200" dirty="0">
                <a:latin typeface="Aptos" panose="020B0004020202020204" pitchFamily="34" charset="0"/>
              </a:rPr>
              <a:t>https://www.shell.com/news-and-insights/scenarios/scenarios-where-you-live.html</a:t>
            </a:r>
          </a:p>
        </p:txBody>
      </p:sp>
      <p:sp>
        <p:nvSpPr>
          <p:cNvPr id="26" name="TextBox 25">
            <a:extLst>
              <a:ext uri="{FF2B5EF4-FFF2-40B4-BE49-F238E27FC236}">
                <a16:creationId xmlns:a16="http://schemas.microsoft.com/office/drawing/2014/main" id="{49943326-D52C-DD79-9ABE-19BF16FCB283}"/>
              </a:ext>
            </a:extLst>
          </p:cNvPr>
          <p:cNvSpPr txBox="1"/>
          <p:nvPr/>
        </p:nvSpPr>
        <p:spPr>
          <a:xfrm>
            <a:off x="883919" y="16089944"/>
            <a:ext cx="13246614" cy="8233023"/>
          </a:xfrm>
          <a:prstGeom prst="rect">
            <a:avLst/>
          </a:prstGeom>
          <a:noFill/>
        </p:spPr>
        <p:txBody>
          <a:bodyPr wrap="square">
            <a:spAutoFit/>
          </a:bodyPr>
          <a:lstStyle/>
          <a:p>
            <a:pPr marL="571500" indent="-571500">
              <a:buFont typeface="Courier New" panose="02070309020205020404" pitchFamily="49" charset="0"/>
              <a:buChar char="o"/>
            </a:pPr>
            <a:r>
              <a:rPr lang="en-GB" sz="4400" b="1" dirty="0">
                <a:solidFill>
                  <a:schemeClr val="accent2"/>
                </a:solidFill>
                <a:latin typeface="Aptos" panose="020B0004020202020204" pitchFamily="34" charset="0"/>
              </a:rPr>
              <a:t>Shell is a trusted strategic policy thinking partner</a:t>
            </a:r>
          </a:p>
          <a:p>
            <a:pPr marL="619125" lvl="1">
              <a:spcBef>
                <a:spcPts val="1200"/>
              </a:spcBef>
            </a:pPr>
            <a:r>
              <a:rPr lang="en-GB" sz="4400" dirty="0">
                <a:latin typeface="Aptos" panose="020B0004020202020204" pitchFamily="34" charset="0"/>
              </a:rPr>
              <a:t>Shell provides the government with international best practice leading to better policy formulation</a:t>
            </a:r>
          </a:p>
          <a:p>
            <a:pPr marL="571500" indent="-571500">
              <a:spcBef>
                <a:spcPts val="900"/>
              </a:spcBef>
              <a:buFont typeface="Courier New" panose="02070309020205020404" pitchFamily="49" charset="0"/>
              <a:buChar char="o"/>
            </a:pPr>
            <a:r>
              <a:rPr lang="en-GB" sz="4400" b="1" dirty="0">
                <a:solidFill>
                  <a:schemeClr val="accent2"/>
                </a:solidFill>
                <a:latin typeface="Aptos" panose="020B0004020202020204" pitchFamily="34" charset="0"/>
              </a:rPr>
              <a:t>Proven, successful, ways of working</a:t>
            </a:r>
          </a:p>
          <a:p>
            <a:pPr marL="619125" lvl="1">
              <a:spcBef>
                <a:spcPts val="1200"/>
              </a:spcBef>
            </a:pPr>
            <a:r>
              <a:rPr lang="en-GB" sz="4400" dirty="0">
                <a:latin typeface="Aptos" panose="020B0004020202020204" pitchFamily="34" charset="0"/>
              </a:rPr>
              <a:t>Shell brings global energy system experience while DRC has the in depth understanding of China’s economy, energy system, and politics. </a:t>
            </a:r>
          </a:p>
          <a:p>
            <a:pPr marL="571500" indent="-571500">
              <a:spcBef>
                <a:spcPts val="900"/>
              </a:spcBef>
              <a:buFont typeface="Courier New" panose="02070309020205020404" pitchFamily="49" charset="0"/>
              <a:buChar char="o"/>
            </a:pPr>
            <a:r>
              <a:rPr lang="en-GB" sz="4400" b="1" dirty="0">
                <a:solidFill>
                  <a:schemeClr val="accent2"/>
                </a:solidFill>
                <a:latin typeface="Aptos" panose="020B0004020202020204" pitchFamily="34" charset="0"/>
              </a:rPr>
              <a:t>A long-term relationship</a:t>
            </a:r>
          </a:p>
          <a:p>
            <a:pPr marL="619125" lvl="1">
              <a:spcBef>
                <a:spcPts val="1200"/>
              </a:spcBef>
            </a:pPr>
            <a:r>
              <a:rPr lang="en-GB" sz="4400">
                <a:latin typeface="Aptos" panose="020B0004020202020204" pitchFamily="34" charset="0"/>
              </a:rPr>
              <a:t>Shell’s </a:t>
            </a:r>
            <a:r>
              <a:rPr lang="en-GB" sz="4400" dirty="0">
                <a:latin typeface="Aptos" panose="020B0004020202020204" pitchFamily="34" charset="0"/>
              </a:rPr>
              <a:t>Chairman met </a:t>
            </a:r>
            <a:br>
              <a:rPr lang="en-GB" sz="4400" dirty="0">
                <a:latin typeface="Aptos" panose="020B0004020202020204" pitchFamily="34" charset="0"/>
              </a:rPr>
            </a:br>
            <a:r>
              <a:rPr lang="en-GB" sz="4400" dirty="0">
                <a:latin typeface="Aptos" panose="020B0004020202020204" pitchFamily="34" charset="0"/>
              </a:rPr>
              <a:t>Minister Lu Hao in March</a:t>
            </a:r>
            <a:br>
              <a:rPr lang="en-GB" sz="4400" dirty="0">
                <a:latin typeface="Aptos" panose="020B0004020202020204" pitchFamily="34" charset="0"/>
              </a:rPr>
            </a:br>
            <a:r>
              <a:rPr lang="en-GB" sz="4400" dirty="0">
                <a:latin typeface="Aptos" panose="020B0004020202020204" pitchFamily="34" charset="0"/>
              </a:rPr>
              <a:t>and agreed a sixth study. </a:t>
            </a:r>
            <a:endParaRPr lang="en-GB" dirty="0"/>
          </a:p>
        </p:txBody>
      </p:sp>
      <p:pic>
        <p:nvPicPr>
          <p:cNvPr id="30" name="Picture 29">
            <a:extLst>
              <a:ext uri="{FF2B5EF4-FFF2-40B4-BE49-F238E27FC236}">
                <a16:creationId xmlns:a16="http://schemas.microsoft.com/office/drawing/2014/main" id="{2B5E49C9-C798-71CC-3841-79E9512CE893}"/>
              </a:ext>
            </a:extLst>
          </p:cNvPr>
          <p:cNvPicPr>
            <a:picLocks noChangeAspect="1"/>
          </p:cNvPicPr>
          <p:nvPr/>
        </p:nvPicPr>
        <p:blipFill>
          <a:blip r:embed="rId12">
            <a:extLst>
              <a:ext uri="{28A0092B-C50C-407E-A947-70E740481C1C}">
                <a14:useLocalDpi xmlns:a14="http://schemas.microsoft.com/office/drawing/2010/main" val="0"/>
              </a:ext>
            </a:extLst>
          </a:blip>
          <a:srcRect l="12059" t="2408" r="8897" b="45430"/>
          <a:stretch>
            <a:fillRect/>
          </a:stretch>
        </p:blipFill>
        <p:spPr>
          <a:xfrm>
            <a:off x="8209307" y="21559860"/>
            <a:ext cx="5549736" cy="2627496"/>
          </a:xfrm>
          <a:prstGeom prst="rect">
            <a:avLst/>
          </a:prstGeom>
        </p:spPr>
      </p:pic>
      <p:cxnSp>
        <p:nvCxnSpPr>
          <p:cNvPr id="34" name="Straight Connector 33">
            <a:extLst>
              <a:ext uri="{FF2B5EF4-FFF2-40B4-BE49-F238E27FC236}">
                <a16:creationId xmlns:a16="http://schemas.microsoft.com/office/drawing/2014/main" id="{0FEDA273-3195-C730-B637-4FAFC968B0E6}"/>
              </a:ext>
            </a:extLst>
          </p:cNvPr>
          <p:cNvCxnSpPr/>
          <p:nvPr/>
        </p:nvCxnSpPr>
        <p:spPr>
          <a:xfrm>
            <a:off x="14130533" y="13958742"/>
            <a:ext cx="0" cy="101991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0F0D1292-5F81-16B5-B976-936C67046F38}"/>
              </a:ext>
            </a:extLst>
          </p:cNvPr>
          <p:cNvSpPr txBox="1"/>
          <p:nvPr/>
        </p:nvSpPr>
        <p:spPr>
          <a:xfrm>
            <a:off x="10604809" y="36738855"/>
            <a:ext cx="9180000" cy="4431983"/>
          </a:xfrm>
          <a:prstGeom prst="rect">
            <a:avLst/>
          </a:prstGeom>
          <a:noFill/>
        </p:spPr>
        <p:txBody>
          <a:bodyPr wrap="square" lIns="0" rIns="0">
            <a:spAutoFit/>
          </a:bodyPr>
          <a:lstStyle/>
          <a:p>
            <a:r>
              <a:rPr lang="en-GB" sz="4400" b="1" dirty="0">
                <a:latin typeface="Aptos" panose="020B0004020202020204" pitchFamily="34" charset="0"/>
              </a:rPr>
              <a:t> </a:t>
            </a:r>
            <a:r>
              <a:rPr lang="en-GB" sz="4800" b="1" dirty="0">
                <a:latin typeface="Aptos" panose="020B0004020202020204" pitchFamily="34" charset="0"/>
              </a:rPr>
              <a:t>            </a:t>
            </a:r>
            <a:r>
              <a:rPr lang="en-GB" sz="4800" b="1" dirty="0">
                <a:solidFill>
                  <a:schemeClr val="accent2"/>
                </a:solidFill>
                <a:latin typeface="Aptos" panose="020B0004020202020204" pitchFamily="34" charset="0"/>
              </a:rPr>
              <a:t>A better policy </a:t>
            </a:r>
            <a:br>
              <a:rPr lang="en-GB" sz="4800" b="1" dirty="0">
                <a:solidFill>
                  <a:schemeClr val="accent2"/>
                </a:solidFill>
                <a:latin typeface="Aptos" panose="020B0004020202020204" pitchFamily="34" charset="0"/>
              </a:rPr>
            </a:br>
            <a:r>
              <a:rPr lang="en-GB" sz="4800" b="1" dirty="0">
                <a:solidFill>
                  <a:schemeClr val="accent2"/>
                </a:solidFill>
                <a:latin typeface="Aptos" panose="020B0004020202020204" pitchFamily="34" charset="0"/>
              </a:rPr>
              <a:t>             environment for Shell</a:t>
            </a:r>
            <a:endParaRPr lang="en-GB" sz="4400" b="1" dirty="0">
              <a:solidFill>
                <a:schemeClr val="accent2"/>
              </a:solidFill>
              <a:latin typeface="Aptos" panose="020B0004020202020204" pitchFamily="34" charset="0"/>
            </a:endParaRPr>
          </a:p>
          <a:p>
            <a:pPr marL="571500" indent="-571500">
              <a:spcBef>
                <a:spcPts val="1200"/>
              </a:spcBef>
              <a:buFont typeface="Courier New" panose="02070309020205020404" pitchFamily="49" charset="0"/>
              <a:buChar char="o"/>
            </a:pPr>
            <a:r>
              <a:rPr lang="en-GB" sz="4400" dirty="0">
                <a:latin typeface="Aptos" panose="020B0004020202020204" pitchFamily="34" charset="0"/>
              </a:rPr>
              <a:t>Policy outcomes which provide a more certain and stable policy environment for us to operate in. </a:t>
            </a:r>
          </a:p>
          <a:p>
            <a:endParaRPr lang="en-GB" sz="4400" dirty="0">
              <a:latin typeface="Aptos" panose="020B0004020202020204" pitchFamily="34" charset="0"/>
            </a:endParaRPr>
          </a:p>
        </p:txBody>
      </p:sp>
      <p:sp>
        <p:nvSpPr>
          <p:cNvPr id="36" name="TextBox 35">
            <a:extLst>
              <a:ext uri="{FF2B5EF4-FFF2-40B4-BE49-F238E27FC236}">
                <a16:creationId xmlns:a16="http://schemas.microsoft.com/office/drawing/2014/main" id="{2A456312-3E89-696E-EC81-733AEC8005F2}"/>
              </a:ext>
            </a:extLst>
          </p:cNvPr>
          <p:cNvSpPr txBox="1"/>
          <p:nvPr/>
        </p:nvSpPr>
        <p:spPr>
          <a:xfrm>
            <a:off x="20409519" y="36738855"/>
            <a:ext cx="9180000" cy="5016758"/>
          </a:xfrm>
          <a:prstGeom prst="rect">
            <a:avLst/>
          </a:prstGeom>
          <a:noFill/>
        </p:spPr>
        <p:txBody>
          <a:bodyPr wrap="square">
            <a:spAutoFit/>
          </a:bodyPr>
          <a:lstStyle/>
          <a:p>
            <a:r>
              <a:rPr lang="en-GB" sz="4800" b="1" dirty="0">
                <a:latin typeface="Aptos" panose="020B0004020202020204" pitchFamily="34" charset="0"/>
              </a:rPr>
              <a:t>             </a:t>
            </a:r>
            <a:r>
              <a:rPr lang="en-GB" sz="4800" b="1" dirty="0">
                <a:solidFill>
                  <a:schemeClr val="accent2"/>
                </a:solidFill>
                <a:latin typeface="Aptos" panose="020B0004020202020204" pitchFamily="34" charset="0"/>
              </a:rPr>
              <a:t>Enhanced </a:t>
            </a:r>
            <a:br>
              <a:rPr lang="en-GB" sz="4800" b="1" dirty="0">
                <a:solidFill>
                  <a:schemeClr val="accent2"/>
                </a:solidFill>
                <a:latin typeface="Aptos" panose="020B0004020202020204" pitchFamily="34" charset="0"/>
              </a:rPr>
            </a:br>
            <a:r>
              <a:rPr lang="en-GB" sz="4800" b="1" dirty="0">
                <a:solidFill>
                  <a:schemeClr val="accent2"/>
                </a:solidFill>
                <a:latin typeface="Aptos" panose="020B0004020202020204" pitchFamily="34" charset="0"/>
              </a:rPr>
              <a:t>             Strategic Insights</a:t>
            </a:r>
          </a:p>
          <a:p>
            <a:pPr marL="571500" indent="-571500">
              <a:spcBef>
                <a:spcPts val="1200"/>
              </a:spcBef>
              <a:buFont typeface="Courier New" panose="02070309020205020404" pitchFamily="49" charset="0"/>
              <a:buChar char="o"/>
            </a:pPr>
            <a:r>
              <a:rPr lang="en-GB" sz="4400" dirty="0">
                <a:latin typeface="Aptos" panose="020B0004020202020204" pitchFamily="34" charset="0"/>
              </a:rPr>
              <a:t>Advantaged business environment insights to shape our strategies.</a:t>
            </a:r>
          </a:p>
          <a:p>
            <a:pPr marL="530225">
              <a:spcBef>
                <a:spcPts val="1200"/>
              </a:spcBef>
            </a:pPr>
            <a:r>
              <a:rPr lang="en-GB" sz="3600" i="1" dirty="0">
                <a:latin typeface="Aptos" panose="020B0004020202020204" pitchFamily="34" charset="0"/>
              </a:rPr>
              <a:t>(not only within in China, but also trading to China, and  ventures with Chinese SOEs)</a:t>
            </a:r>
          </a:p>
          <a:p>
            <a:endParaRPr lang="en-GB" sz="4400" dirty="0">
              <a:latin typeface="Aptos" panose="020B0004020202020204" pitchFamily="34" charset="0"/>
            </a:endParaRPr>
          </a:p>
        </p:txBody>
      </p:sp>
      <p:pic>
        <p:nvPicPr>
          <p:cNvPr id="27" name="Graphic 26" descr="Satellite dish outline">
            <a:extLst>
              <a:ext uri="{FF2B5EF4-FFF2-40B4-BE49-F238E27FC236}">
                <a16:creationId xmlns:a16="http://schemas.microsoft.com/office/drawing/2014/main" id="{A1867296-8961-6D10-8121-EE9ABE71E0ED}"/>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20409518" y="36792545"/>
            <a:ext cx="1404000" cy="1404000"/>
          </a:xfrm>
          <a:prstGeom prst="rect">
            <a:avLst/>
          </a:prstGeom>
        </p:spPr>
      </p:pic>
      <p:pic>
        <p:nvPicPr>
          <p:cNvPr id="29" name="Graphic 28" descr="Earth globe: Africa and Europe with solid fill">
            <a:extLst>
              <a:ext uri="{FF2B5EF4-FFF2-40B4-BE49-F238E27FC236}">
                <a16:creationId xmlns:a16="http://schemas.microsoft.com/office/drawing/2014/main" id="{F485B0CE-1933-D59A-C2ED-E2B9E0233102}"/>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742694" y="36802367"/>
            <a:ext cx="1404000" cy="1404000"/>
          </a:xfrm>
          <a:prstGeom prst="rect">
            <a:avLst/>
          </a:prstGeom>
        </p:spPr>
      </p:pic>
      <p:pic>
        <p:nvPicPr>
          <p:cNvPr id="32" name="Graphic 31" descr="Shield Tick outline">
            <a:extLst>
              <a:ext uri="{FF2B5EF4-FFF2-40B4-BE49-F238E27FC236}">
                <a16:creationId xmlns:a16="http://schemas.microsoft.com/office/drawing/2014/main" id="{69712291-EB06-C249-9F00-3B8C3732D0DB}"/>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10385401" y="36792545"/>
            <a:ext cx="1404000" cy="1404000"/>
          </a:xfrm>
          <a:prstGeom prst="rect">
            <a:avLst/>
          </a:prstGeom>
        </p:spPr>
      </p:pic>
    </p:spTree>
    <p:extLst>
      <p:ext uri="{BB962C8B-B14F-4D97-AF65-F5344CB8AC3E}">
        <p14:creationId xmlns:p14="http://schemas.microsoft.com/office/powerpoint/2010/main" val="108518659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Shell layouts with footer">
  <a:themeElements>
    <a:clrScheme name="Custom 1">
      <a:dk1>
        <a:srgbClr val="595959"/>
      </a:dk1>
      <a:lt1>
        <a:srgbClr val="FFFFFF"/>
      </a:lt1>
      <a:dk2>
        <a:srgbClr val="EAEAEA"/>
      </a:dk2>
      <a:lt2>
        <a:srgbClr val="CCCCCC"/>
      </a:lt2>
      <a:accent1>
        <a:srgbClr val="F7D117"/>
      </a:accent1>
      <a:accent2>
        <a:srgbClr val="D42E12"/>
      </a:accent2>
      <a:accent3>
        <a:srgbClr val="003882"/>
      </a:accent3>
      <a:accent4>
        <a:srgbClr val="611759"/>
      </a:accent4>
      <a:accent5>
        <a:srgbClr val="00824A"/>
      </a:accent5>
      <a:accent6>
        <a:srgbClr val="DE8703"/>
      </a:accent6>
      <a:hlink>
        <a:srgbClr val="000000"/>
      </a:hlink>
      <a:folHlink>
        <a:srgbClr val="000000"/>
      </a:folHlink>
    </a:clrScheme>
    <a:fontScheme name="Shell - Fonts">
      <a:majorFont>
        <a:latin typeface="Futura Medium"/>
        <a:ea typeface=""/>
        <a:cs typeface=""/>
      </a:majorFont>
      <a:minorFont>
        <a:latin typeface="Futura Medium"/>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marL="177800" indent="-177800">
          <a:lnSpc>
            <a:spcPct val="113000"/>
          </a:lnSpc>
          <a:spcAft>
            <a:spcPts val="60"/>
          </a:spcAft>
          <a:buFont typeface="Wingdings"/>
          <a:buChar char="n"/>
          <a:defRPr sz="1600" dirty="0" smtClean="0"/>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Shell Document" ma:contentTypeID="0x0101006F0A470EEB1140E7AA14F4CE8A50B54C0001CB1477F4DD432AA86DD56CC3887AF400F644A78CBFDAD44983885002DC8B3358" ma:contentTypeVersion="5" ma:contentTypeDescription="Shell Document Content Type" ma:contentTypeScope="" ma:versionID="9972982cb723cf5df02987a4cb397dc7">
  <xsd:schema xmlns:xsd="http://www.w3.org/2001/XMLSchema" xmlns:xs="http://www.w3.org/2001/XMLSchema" xmlns:p="http://schemas.microsoft.com/office/2006/metadata/properties" xmlns:ns1="http://schemas.microsoft.com/sharepoint/v3" xmlns:ns2="5fe9d420-80f7-4ada-bee1-a7a60088c9b2" xmlns:ns3="d897dab9-547b-4d8a-9e98-e2c84c4ab18d" targetNamespace="http://schemas.microsoft.com/office/2006/metadata/properties" ma:root="true" ma:fieldsID="11b7afb5536d3e270a25d7434dfd5e62" ns1:_="" ns2:_="" ns3:_="">
    <xsd:import namespace="http://schemas.microsoft.com/sharepoint/v3"/>
    <xsd:import namespace="5fe9d420-80f7-4ada-bee1-a7a60088c9b2"/>
    <xsd:import namespace="d897dab9-547b-4d8a-9e98-e2c84c4ab18d"/>
    <xsd:element name="properties">
      <xsd:complexType>
        <xsd:sequence>
          <xsd:element name="documentManagement">
            <xsd:complexType>
              <xsd:all>
                <xsd:element ref="ns2:_dlc_DocId" minOccurs="0"/>
                <xsd:element ref="ns2:_dlc_DocIdUrl" minOccurs="0"/>
                <xsd:element ref="ns2:_dlc_DocIdPersistId" minOccurs="0"/>
                <xsd:element ref="ns1:SAEFSecurityClassificationTaxHTField0" minOccurs="0"/>
                <xsd:element ref="ns2:ice2f7984e9548f9a31773f854109466" minOccurs="0"/>
                <xsd:element ref="ns2:TaxCatchAll" minOccurs="0"/>
                <xsd:element ref="ns2:TaxCatchAllLabel"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SAEFSecurityClassificationTaxHTField0" ma:index="11" nillable="true" ma:displayName="Security Classification_0" ma:hidden="true" ma:internalName="SAEFSecurityClassificationTaxHTField0">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fe9d420-80f7-4ada-bee1-a7a60088c9b2"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dexed="true"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ice2f7984e9548f9a31773f854109466" ma:index="12" ma:taxonomy="true" ma:internalName="ice2f7984e9548f9a31773f854109466" ma:taxonomyFieldName="SAEFSecurityClassification" ma:displayName="Security Classification" ma:default="5;#Confidential|e4bc29b2-6e76-48cc-b090-8b544c0802ae" ma:fieldId="{2ce2f798-4e95-48f9-a317-73f854109466}" ma:sspId="e3aebf70-341c-4d91-bdd3-aba9df361687" ma:termSetId="daf890f0-167e-4ee2-a9fd-a81536ed8167" ma:anchorId="00000000-0000-0000-0000-000000000000" ma:open="false" ma:isKeyword="false">
      <xsd:complexType>
        <xsd:sequence>
          <xsd:element ref="pc:Terms" minOccurs="0" maxOccurs="1"/>
        </xsd:sequence>
      </xsd:complexType>
    </xsd:element>
    <xsd:element name="TaxCatchAll" ma:index="13" nillable="true" ma:displayName="Taxonomy Catch All Column" ma:hidden="true" ma:list="{c7126bf2-9056-4401-894f-d1136f5f3720}" ma:internalName="TaxCatchAll" ma:showField="CatchAllData" ma:web="5fe9d420-80f7-4ada-bee1-a7a60088c9b2">
      <xsd:complexType>
        <xsd:complexContent>
          <xsd:extension base="dms:MultiChoiceLookup">
            <xsd:sequence>
              <xsd:element name="Value" type="dms:Lookup" maxOccurs="unbounded" minOccurs="0" nillable="true"/>
            </xsd:sequence>
          </xsd:extension>
        </xsd:complexContent>
      </xsd:complexType>
    </xsd:element>
    <xsd:element name="TaxCatchAllLabel" ma:index="14" nillable="true" ma:displayName="Taxonomy Catch All Column1" ma:hidden="true" ma:list="{c7126bf2-9056-4401-894f-d1136f5f3720}" ma:internalName="TaxCatchAllLabel" ma:readOnly="true" ma:showField="CatchAllDataLabel" ma:web="5fe9d420-80f7-4ada-bee1-a7a60088c9b2">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d897dab9-547b-4d8a-9e98-e2c84c4ab18d" elementFormDefault="qualified">
    <xsd:import namespace="http://schemas.microsoft.com/office/2006/documentManagement/types"/>
    <xsd:import namespace="http://schemas.microsoft.com/office/infopath/2007/PartnerControls"/>
    <xsd:element name="MediaServiceMetadata" ma:index="16" nillable="true" ma:displayName="MediaServiceMetadata" ma:hidden="true" ma:internalName="MediaServiceMetadata" ma:readOnly="true">
      <xsd:simpleType>
        <xsd:restriction base="dms:Note"/>
      </xsd:simpleType>
    </xsd:element>
    <xsd:element name="MediaServiceFastMetadata" ma:index="17" nillable="true" ma:displayName="MediaServiceFastMetadata" ma:hidden="true" ma:internalName="MediaServiceFastMetadata" ma:readOnly="true">
      <xsd:simpleType>
        <xsd:restriction base="dms:Note"/>
      </xsd:simpleType>
    </xsd:element>
    <xsd:element name="MediaServiceSearchProperties" ma:index="18"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SAEFSecurityClassificationTaxHTField0 xmlns="http://schemas.microsoft.com/sharepoint/v3">Restricted21aa7f98-4035-4019-a764-107acb7269af</SAEFSecurityClassificationTaxHTField0>
    <TaxCatchAll xmlns="5fe9d420-80f7-4ada-bee1-a7a60088c9b2">
      <Value>1</Value>
    </TaxCatchAll>
    <ice2f7984e9548f9a31773f854109466 xmlns="5fe9d420-80f7-4ada-bee1-a7a60088c9b2">
      <Terms xmlns="http://schemas.microsoft.com/office/infopath/2007/PartnerControls">
        <TermInfo xmlns="http://schemas.microsoft.com/office/infopath/2007/PartnerControls">
          <TermName xmlns="http://schemas.microsoft.com/office/infopath/2007/PartnerControls">Restricted</TermName>
          <TermId xmlns="http://schemas.microsoft.com/office/infopath/2007/PartnerControls">21aa7f98-4035-4019-a764-107acb7269af</TermId>
        </TermInfo>
      </Terms>
    </ice2f7984e9548f9a31773f854109466>
    <_dlc_DocId xmlns="5fe9d420-80f7-4ada-bee1-a7a60088c9b2">UXD4DQ5FARXZ-1534890728-3</_dlc_DocId>
    <_dlc_DocIdUrl xmlns="5fe9d420-80f7-4ada-bee1-a7a60088c9b2">
      <Url>https://eu001-sp.shell.com/sites/SPO002395/_layouts/15/DocIdRedir.aspx?ID=UXD4DQ5FARXZ-1534890728-3</Url>
      <Description>UXD4DQ5FARXZ-1534890728-3</Description>
    </_dlc_DocIdUrl>
  </documentManagement>
</p:properties>
</file>

<file path=customXml/itemProps1.xml><?xml version="1.0" encoding="utf-8"?>
<ds:datastoreItem xmlns:ds="http://schemas.openxmlformats.org/officeDocument/2006/customXml" ds:itemID="{6D37A3EF-B5D4-41F3-A67B-2B46B12A9F2C}"/>
</file>

<file path=customXml/itemProps2.xml><?xml version="1.0" encoding="utf-8"?>
<ds:datastoreItem xmlns:ds="http://schemas.openxmlformats.org/officeDocument/2006/customXml" ds:itemID="{2E18EC4F-BA7E-4A8A-9AFD-5FAB7A8F3713}">
  <ds:schemaRefs>
    <ds:schemaRef ds:uri="http://schemas.microsoft.com/sharepoint/events"/>
  </ds:schemaRefs>
</ds:datastoreItem>
</file>

<file path=customXml/itemProps3.xml><?xml version="1.0" encoding="utf-8"?>
<ds:datastoreItem xmlns:ds="http://schemas.openxmlformats.org/officeDocument/2006/customXml" ds:itemID="{4FE3B36A-2FDB-43C8-A4F8-BA8A83EB3660}">
  <ds:schemaRefs>
    <ds:schemaRef ds:uri="http://schemas.microsoft.com/sharepoint/v3/contenttype/forms"/>
  </ds:schemaRefs>
</ds:datastoreItem>
</file>

<file path=customXml/itemProps4.xml><?xml version="1.0" encoding="utf-8"?>
<ds:datastoreItem xmlns:ds="http://schemas.openxmlformats.org/officeDocument/2006/customXml" ds:itemID="{6CAE002A-7645-46A2-8C4A-738EDFAA7ED3}">
  <ds:schemaRefs>
    <ds:schemaRef ds:uri="http://www.w3.org/XML/1998/namespace"/>
    <ds:schemaRef ds:uri="http://schemas.microsoft.com/office/2006/metadata/properties"/>
    <ds:schemaRef ds:uri="http://purl.org/dc/terms/"/>
    <ds:schemaRef ds:uri="http://schemas.microsoft.com/office/2006/documentManagement/types"/>
    <ds:schemaRef ds:uri="http://schemas.microsoft.com/office/infopath/2007/PartnerControls"/>
    <ds:schemaRef ds:uri="67a4d270-2e9e-45ec-b53e-707b7cbfe7c3"/>
    <ds:schemaRef ds:uri="http://schemas.openxmlformats.org/package/2006/metadata/core-properties"/>
    <ds:schemaRef ds:uri="http://purl.org/dc/elements/1.1/"/>
    <ds:schemaRef ds:uri="c642a6ca-8515-4142-b4ce-183d01f224d8"/>
    <ds:schemaRef ds:uri="http://schemas.microsoft.com/sharepoint/v3"/>
    <ds:schemaRef ds:uri="http://purl.org/dc/dcmitype/"/>
    <ds:schemaRef ds:uri="5fe9d420-80f7-4ada-bee1-a7a60088c9b2"/>
  </ds:schemaRefs>
</ds:datastoreItem>
</file>

<file path=docMetadata/LabelInfo.xml><?xml version="1.0" encoding="utf-8"?>
<clbl:labelList xmlns:clbl="http://schemas.microsoft.com/office/2020/mipLabelMetadata">
  <clbl:label id="{d0cb1e24-a0e2-4a4c-9340-733297c9cd7c}" enabled="1" method="Privileged" siteId="{db1e96a8-a3da-442a-930b-235cac24cd5c}" removed="0"/>
</clbl:labelList>
</file>

<file path=docProps/app.xml><?xml version="1.0" encoding="utf-8"?>
<Properties xmlns="http://schemas.openxmlformats.org/officeDocument/2006/extended-properties" xmlns:vt="http://schemas.openxmlformats.org/officeDocument/2006/docPropsVTypes">
  <Template/>
  <TotalTime>591</TotalTime>
  <Words>428</Words>
  <Application>Microsoft Office PowerPoint</Application>
  <PresentationFormat>Custom</PresentationFormat>
  <Paragraphs>43</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Shell layouts with footer</vt:lpstr>
      <vt:lpstr>PowerPoint Presentation</vt:lpstr>
    </vt:vector>
  </TitlesOfParts>
  <Company>Shell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CO2 Valuation Challenges</dc:title>
  <dc:creator>Thomas.Lopez@shell.com</dc:creator>
  <cp:keywords>GEC'17</cp:keywords>
  <cp:lastModifiedBy>King, William SI-FR/S/B</cp:lastModifiedBy>
  <cp:revision>11</cp:revision>
  <cp:lastPrinted>2017-04-25T09:06:38Z</cp:lastPrinted>
  <dcterms:created xsi:type="dcterms:W3CDTF">2009-11-25T14:32:06Z</dcterms:created>
  <dcterms:modified xsi:type="dcterms:W3CDTF">2026-08-17T08:18:18Z</dcterms:modified>
  <cp:category>Poster</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WizKit Template Type">
    <vt:lpwstr>Widescreen</vt:lpwstr>
  </property>
  <property fmtid="{D5CDD505-2E9C-101B-9397-08002B2CF9AE}" pid="3" name="WizKit Template Version">
    <vt:i4>4</vt:i4>
  </property>
  <property fmtid="{D5CDD505-2E9C-101B-9397-08002B2CF9AE}" pid="4" name="ContentTypeId">
    <vt:lpwstr>0x0101006F0A470EEB1140E7AA14F4CE8A50B54C0001CB1477F4DD432AA86DD56CC3887AF400F644A78CBFDAD44983885002DC8B3358</vt:lpwstr>
  </property>
  <property fmtid="{D5CDD505-2E9C-101B-9397-08002B2CF9AE}" pid="5" name="_dlc_policyId">
    <vt:lpwstr/>
  </property>
  <property fmtid="{D5CDD505-2E9C-101B-9397-08002B2CF9AE}" pid="6" name="ItemRetentionFormula">
    <vt:lpwstr/>
  </property>
  <property fmtid="{D5CDD505-2E9C-101B-9397-08002B2CF9AE}" pid="7" name="_dlc_DocIdItemGuid">
    <vt:lpwstr>f1df6903-67b2-4d52-bd0f-841fe65537ce</vt:lpwstr>
  </property>
  <property fmtid="{D5CDD505-2E9C-101B-9397-08002B2CF9AE}" pid="8" name="Shell SharePoint SAEF KeepFileLocal">
    <vt:bool>false</vt:bool>
  </property>
  <property fmtid="{D5CDD505-2E9C-101B-9397-08002B2CF9AE}" pid="9" name="Shell SharePoint SAEF WorkgroupIDTaxHTField0">
    <vt:lpwstr>UIB Commercial, New Business ＆ LNG - 11947|52d8a608-ed1f-401e-8ffb-8cc5334b8b42</vt:lpwstr>
  </property>
  <property fmtid="{D5CDD505-2E9C-101B-9397-08002B2CF9AE}" pid="10" name="Shell SharePoint SAEF SecurityClassificationTaxHTField0">
    <vt:lpwstr>Restricted|21aa7f98-4035-4019-a764-107acb7269af</vt:lpwstr>
  </property>
  <property fmtid="{D5CDD505-2E9C-101B-9397-08002B2CF9AE}" pid="11" name="Shell SharePoint SAEF LegalEntity">
    <vt:lpwstr>3;#SIEP|ca814f84-fd49-4cca-9dd4-ac559012442b</vt:lpwstr>
  </property>
  <property fmtid="{D5CDD505-2E9C-101B-9397-08002B2CF9AE}" pid="12" name="Shell SharePoint SAEF CountryOfJurisdiction">
    <vt:lpwstr>6;#NETHERLANDS|54565ecb-470f-40ea-a584-819150a65a13</vt:lpwstr>
  </property>
  <property fmtid="{D5CDD505-2E9C-101B-9397-08002B2CF9AE}" pid="13" name="Shell SharePoint SAEF ExportControlClassification">
    <vt:lpwstr>8;#Non-US content - Non Controlled|2ac8835e-0587-4096-a6e2-1f68da1e6cb3</vt:lpwstr>
  </property>
  <property fmtid="{D5CDD505-2E9C-101B-9397-08002B2CF9AE}" pid="14" name="SME Areas">
    <vt:lpwstr/>
  </property>
  <property fmtid="{D5CDD505-2E9C-101B-9397-08002B2CF9AE}" pid="15" name="SAEFSecurityClassification">
    <vt:lpwstr>1;#Restricted|21aa7f98-4035-4019-a764-107acb7269af</vt:lpwstr>
  </property>
  <property fmtid="{D5CDD505-2E9C-101B-9397-08002B2CF9AE}" pid="16" name="Shell SharePoint SAEF DocumentStatus">
    <vt:lpwstr>11;#Draft|1c86f377-7d91-4c95-bd5b-c18c83fe0aa5</vt:lpwstr>
  </property>
  <property fmtid="{D5CDD505-2E9C-101B-9397-08002B2CF9AE}" pid="17" name="Shell SharePoint SAEF Language">
    <vt:lpwstr>5;#English|bd3ad5ee-f0c3-40aa-8cc8-36ef09940af3</vt:lpwstr>
  </property>
  <property fmtid="{D5CDD505-2E9C-101B-9397-08002B2CF9AE}" pid="18" name="Shell SharePoint SAEF Business">
    <vt:lpwstr>1;#Upstream International|dabf15d9-4f75-4ed1-b8a1-a0c3e2a85888</vt:lpwstr>
  </property>
  <property fmtid="{D5CDD505-2E9C-101B-9397-08002B2CF9AE}" pid="19" name="Shell SharePoint SAEF BusinessProcess">
    <vt:lpwstr>7;#Develop New Business|8f030812-6a49-4616-837f-b8f0f1d07b9c</vt:lpwstr>
  </property>
  <property fmtid="{D5CDD505-2E9C-101B-9397-08002B2CF9AE}" pid="20" name="Shell SharePoint SAEF DocumentType">
    <vt:lpwstr>13;#Study results|073ec550-c791-4e3f-9683-953f7d5eb953</vt:lpwstr>
  </property>
  <property fmtid="{D5CDD505-2E9C-101B-9397-08002B2CF9AE}" pid="21" name="SME Keywords">
    <vt:lpwstr/>
  </property>
  <property fmtid="{D5CDD505-2E9C-101B-9397-08002B2CF9AE}" pid="22" name="Shell SharePoint SAEF BusinessUnitRegion">
    <vt:lpwstr>1;#Upstream International|dabf15d9-4f75-4ed1-b8a1-a0c3e2a85888</vt:lpwstr>
  </property>
  <property fmtid="{D5CDD505-2E9C-101B-9397-08002B2CF9AE}" pid="23" name="Shell SharePoint SAEF GlobalFunction">
    <vt:lpwstr>2;#Sustainable Development|2fbcccf5-c9b5-4b2d-984f-9a9b70c47e11</vt:lpwstr>
  </property>
  <property fmtid="{D5CDD505-2E9C-101B-9397-08002B2CF9AE}" pid="24" name="Shell SharePoint SAEF SiteCollectionName">
    <vt:lpwstr>Global Upstream Economics Portal</vt:lpwstr>
  </property>
  <property fmtid="{D5CDD505-2E9C-101B-9397-08002B2CF9AE}" pid="25" name="Order">
    <vt:r8>284000</vt:r8>
  </property>
  <property fmtid="{D5CDD505-2E9C-101B-9397-08002B2CF9AE}" pid="26" name="xd_Signature">
    <vt:bool>false</vt:bool>
  </property>
  <property fmtid="{D5CDD505-2E9C-101B-9397-08002B2CF9AE}" pid="27" name="Shell SharePoint SAEF GlobalFunctionTaxHTField0">
    <vt:lpwstr>Sustainable Development|2fbcccf5-c9b5-4b2d-984f-9a9b70c47e11</vt:lpwstr>
  </property>
  <property fmtid="{D5CDD505-2E9C-101B-9397-08002B2CF9AE}" pid="28" name="Shell SharePoint SAEF DocumentTypeTaxHTField0">
    <vt:lpwstr>Study results|073ec550-c791-4e3f-9683-953f7d5eb953</vt:lpwstr>
  </property>
  <property fmtid="{D5CDD505-2E9C-101B-9397-08002B2CF9AE}" pid="29" name="xd_ProgID">
    <vt:lpwstr/>
  </property>
  <property fmtid="{D5CDD505-2E9C-101B-9397-08002B2CF9AE}" pid="30" name="Shell SharePoint SAEF SiteOwner">
    <vt:lpwstr>Peter Grieve</vt:lpwstr>
  </property>
  <property fmtid="{D5CDD505-2E9C-101B-9397-08002B2CF9AE}" pid="31" name="Shell SharePoint SAEF LanguageTaxHTField0">
    <vt:lpwstr>English|bd3ad5ee-f0c3-40aa-8cc8-36ef09940af3</vt:lpwstr>
  </property>
  <property fmtid="{D5CDD505-2E9C-101B-9397-08002B2CF9AE}" pid="32" name="Shell SharePoint SAEF CountryOfJurisdictionTaxHTField0">
    <vt:lpwstr>NETHERLANDS|54565ecb-470f-40ea-a584-819150a65a13</vt:lpwstr>
  </property>
  <property fmtid="{D5CDD505-2E9C-101B-9397-08002B2CF9AE}" pid="33" name="ComplianceAssetId">
    <vt:lpwstr/>
  </property>
  <property fmtid="{D5CDD505-2E9C-101B-9397-08002B2CF9AE}" pid="34" name="TemplateUrl">
    <vt:lpwstr/>
  </property>
  <property fmtid="{D5CDD505-2E9C-101B-9397-08002B2CF9AE}" pid="35" name="Shell SharePoint SAEF BusinessUnitRegionTaxHTField0">
    <vt:lpwstr>Upstream International|dabf15d9-4f75-4ed1-b8a1-a0c3e2a85888</vt:lpwstr>
  </property>
  <property fmtid="{D5CDD505-2E9C-101B-9397-08002B2CF9AE}" pid="36" name="Shell SharePoint SAEF DocumentStatusTaxHTField0">
    <vt:lpwstr>Draft|1c86f377-7d91-4c95-bd5b-c18c83fe0aa5</vt:lpwstr>
  </property>
  <property fmtid="{D5CDD505-2E9C-101B-9397-08002B2CF9AE}" pid="37" name="Shell SharePoint SAEF BusinessProcessTaxHTField0">
    <vt:lpwstr>Develop New Business|8f030812-6a49-4616-837f-b8f0f1d07b9c</vt:lpwstr>
  </property>
  <property fmtid="{D5CDD505-2E9C-101B-9397-08002B2CF9AE}" pid="38" name="Shell SharePoint SAEF BusinessTaxHTField0">
    <vt:lpwstr>Upstream International|dabf15d9-4f75-4ed1-b8a1-a0c3e2a85888</vt:lpwstr>
  </property>
  <property fmtid="{D5CDD505-2E9C-101B-9397-08002B2CF9AE}" pid="39" name="Shell SharePoint SAEF Collection">
    <vt:bool>false</vt:bool>
  </property>
  <property fmtid="{D5CDD505-2E9C-101B-9397-08002B2CF9AE}" pid="40" name="_ExtendedDescription">
    <vt:lpwstr/>
  </property>
  <property fmtid="{D5CDD505-2E9C-101B-9397-08002B2CF9AE}" pid="41" name="Shell SharePoint SAEF ExportControlClassificationTaxHTField0">
    <vt:lpwstr>Non-US content - Non Controlled|2ac8835e-0587-4096-a6e2-1f68da1e6cb3</vt:lpwstr>
  </property>
  <property fmtid="{D5CDD505-2E9C-101B-9397-08002B2CF9AE}" pid="42" name="TriggerFlowInfo">
    <vt:lpwstr/>
  </property>
  <property fmtid="{D5CDD505-2E9C-101B-9397-08002B2CF9AE}" pid="43" name="Shell SharePoint SAEF LegalEntityTaxHTField0">
    <vt:lpwstr>SIEP|ca814f84-fd49-4cca-9dd4-ac559012442b</vt:lpwstr>
  </property>
  <property fmtid="{D5CDD505-2E9C-101B-9397-08002B2CF9AE}" pid="44" name="MediaServiceImageTags">
    <vt:lpwstr/>
  </property>
</Properties>
</file>