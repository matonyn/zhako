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6"/>
  </p:sldMasterIdLst>
  <p:notesMasterIdLst>
    <p:notesMasterId r:id="rId8"/>
  </p:notesMasterIdLst>
  <p:handoutMasterIdLst>
    <p:handoutMasterId r:id="rId9"/>
  </p:handoutMasterIdLst>
  <p:sldIdLst>
    <p:sldId id="347" r:id="rId7"/>
  </p:sldIdLst>
  <p:sldSz cx="30275213" cy="42803763"/>
  <p:notesSz cx="9926638" cy="14355763"/>
  <p:embeddedFontLst>
    <p:embeddedFont>
      <p:font typeface="Futura Medium" panose="00000800000000000000"/>
      <p:regular r:id="rId10"/>
      <p:bold r:id="rId11"/>
      <p:italic r:id="rId12"/>
      <p:boldItalic r:id="rId13"/>
    </p:embeddedFont>
    <p:embeddedFont>
      <p:font typeface="ShellMedium" panose="00000600000000000000" pitchFamily="2" charset="0"/>
      <p:regular r:id="rId14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E42B7C-096C-AADE-59D6-AA228C26DEF6}" name="Telsnig, Thomas SIBV-FR/S/N" initials="TT" userId="S::Thomas.Telsnig@shell.com::0a08113d-9f5b-4a95-b9e2-8040d7d203a1" providerId="AD"/>
  <p188:author id="{FBBB83B6-1C26-2EFA-4E12-1343BEE50480}" name="Konar, Mansi SI-FR/S/B" initials="" userId="S::Mansi.Konar@shell.com::807b98c1-0ffc-440f-8f6c-df009f71af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E84"/>
    <a:srgbClr val="FBED7C"/>
    <a:srgbClr val="FDD20A"/>
    <a:srgbClr val="FDB300"/>
    <a:srgbClr val="339B6E"/>
    <a:srgbClr val="F7D117"/>
    <a:srgbClr val="D42E12"/>
    <a:srgbClr val="8FD1E3"/>
    <a:srgbClr val="FFEECA"/>
    <a:srgbClr val="F49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32CCC-D941-40FD-9994-D46590357ECE}" v="3" dt="2026-09-01T10:34:11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" d="100"/>
          <a:sy n="11" d="100"/>
        </p:scale>
        <p:origin x="2184" y="148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4522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5" Type="http://schemas.openxmlformats.org/officeDocument/2006/relationships/customXml" Target="../customXml/item5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14" Type="http://schemas.openxmlformats.org/officeDocument/2006/relationships/font" Target="fonts/font5.fntdata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29D9-BDBF-9475-4AE2-96B4186D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CB0C5-DF24-9EEA-FD81-D01304605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62101-7428-7D7A-8468-1B571AC88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2C2E-640E-4A4D-F264-9C8A40B64D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47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4985-DBD9-CF27-AE1E-52D1E485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14EA5F1E-3F02-9569-0A00-7348C25E57C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7069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EA5F1E-3F02-9569-0A00-7348C25E57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A5F5F23A-84E5-ADDE-D089-458F0C735D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800" b="22800"/>
          <a:stretch/>
        </p:blipFill>
        <p:spPr>
          <a:xfrm>
            <a:off x="-108039" y="4029"/>
            <a:ext cx="30275213" cy="1006676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FCCFFC1-7188-8E71-67B9-36D5E29B14A7}"/>
              </a:ext>
            </a:extLst>
          </p:cNvPr>
          <p:cNvSpPr/>
          <p:nvPr/>
        </p:nvSpPr>
        <p:spPr>
          <a:xfrm>
            <a:off x="1439984" y="1853719"/>
            <a:ext cx="14142863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4D22B97-93C2-D943-EF69-480A0121348B}"/>
              </a:ext>
            </a:extLst>
          </p:cNvPr>
          <p:cNvSpPr/>
          <p:nvPr/>
        </p:nvSpPr>
        <p:spPr>
          <a:xfrm>
            <a:off x="2128047" y="2134412"/>
            <a:ext cx="13762385" cy="7609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</a:rPr>
              <a:t>MARKET ENGAGEMENT &amp; EXTERNAL INSIGHTS </a:t>
            </a:r>
            <a:endParaRPr lang="en-US" sz="5617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186913-D328-2299-2899-E837C3B50F34}"/>
              </a:ext>
            </a:extLst>
          </p:cNvPr>
          <p:cNvSpPr/>
          <p:nvPr/>
        </p:nvSpPr>
        <p:spPr>
          <a:xfrm>
            <a:off x="1439984" y="3488916"/>
            <a:ext cx="22144385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00" b="1" dirty="0">
                <a:solidFill>
                  <a:srgbClr val="2F3033"/>
                </a:solidFill>
                <a:latin typeface="Aptos Display" pitchFamily="34" charset="0"/>
              </a:rPr>
              <a:t>GLOBAL PACE OF THE ENERGY TRANSITION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1619C01-3778-ACD5-6CC4-608106BD917B}"/>
              </a:ext>
            </a:extLst>
          </p:cNvPr>
          <p:cNvSpPr/>
          <p:nvPr/>
        </p:nvSpPr>
        <p:spPr>
          <a:xfrm>
            <a:off x="1304662" y="5352169"/>
            <a:ext cx="2060906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5620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systematic assessment by sector, across the G20 and over time</a:t>
            </a:r>
            <a:endParaRPr lang="en-US" sz="562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D125D07-5FA0-0591-888C-D0518BDC8A48}"/>
              </a:ext>
            </a:extLst>
          </p:cNvPr>
          <p:cNvSpPr/>
          <p:nvPr/>
        </p:nvSpPr>
        <p:spPr>
          <a:xfrm flipV="1">
            <a:off x="1304662" y="6298588"/>
            <a:ext cx="19731603" cy="61517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A52B342-4BD1-E632-F5F2-E563042CE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4662" y="7209949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6AABE600-C6D2-28B3-F3E0-18987308DFD2}"/>
              </a:ext>
            </a:extLst>
          </p:cNvPr>
          <p:cNvSpPr/>
          <p:nvPr/>
        </p:nvSpPr>
        <p:spPr>
          <a:xfrm>
            <a:off x="2773326" y="7134007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Mansi Konar, Thomas Telsnig and Sowmya Santhanam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BD43725-EC63-2102-A6DE-04C497865703}"/>
              </a:ext>
            </a:extLst>
          </p:cNvPr>
          <p:cNvSpPr/>
          <p:nvPr/>
        </p:nvSpPr>
        <p:spPr>
          <a:xfrm>
            <a:off x="25037965" y="3240984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36AB58D-36CE-C138-27BE-6F6B42A99C34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D640198-A758-DB3F-78E2-98E3E729BBA7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67B3806-4F05-BFCB-B391-C7373B230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2391" y="-304382"/>
            <a:ext cx="4306322" cy="4306322"/>
          </a:xfrm>
          <a:prstGeom prst="rect">
            <a:avLst/>
          </a:prstGeom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2DB74A5-F17E-6F97-DE8B-89F591B5C6B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8566" r="18897" b="5586"/>
          <a:stretch>
            <a:fillRect/>
          </a:stretch>
        </p:blipFill>
        <p:spPr>
          <a:xfrm>
            <a:off x="480156" y="13192374"/>
            <a:ext cx="15763753" cy="95170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27BF795-B017-5374-A5A7-74483A574E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61" r="83750" b="8521"/>
          <a:stretch>
            <a:fillRect/>
          </a:stretch>
        </p:blipFill>
        <p:spPr>
          <a:xfrm>
            <a:off x="15187423" y="32579455"/>
            <a:ext cx="2042295" cy="615838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D879AB6-DE30-C57A-2827-8794BDC86E16}"/>
              </a:ext>
            </a:extLst>
          </p:cNvPr>
          <p:cNvSpPr txBox="1"/>
          <p:nvPr/>
        </p:nvSpPr>
        <p:spPr>
          <a:xfrm>
            <a:off x="17433548" y="32852356"/>
            <a:ext cx="11055832" cy="7619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3200" dirty="0">
                <a:latin typeface="ShellMedium" panose="00000600000000000000" pitchFamily="2" charset="0"/>
              </a:rPr>
              <a:t>Improvement in battery and electric HDV technology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D10F2C-6D47-B8CC-CF9E-C119A8412328}"/>
              </a:ext>
            </a:extLst>
          </p:cNvPr>
          <p:cNvSpPr txBox="1"/>
          <p:nvPr/>
        </p:nvSpPr>
        <p:spPr>
          <a:xfrm>
            <a:off x="34123795" y="43695273"/>
            <a:ext cx="5944124" cy="863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endParaRPr lang="en-GB" sz="2400">
              <a:latin typeface="ShellMedium" panose="00000600000000000000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833131-6DC0-E42A-D07C-9C96B232207B}"/>
              </a:ext>
            </a:extLst>
          </p:cNvPr>
          <p:cNvSpPr txBox="1"/>
          <p:nvPr/>
        </p:nvSpPr>
        <p:spPr>
          <a:xfrm>
            <a:off x="17433548" y="37310230"/>
            <a:ext cx="8554172" cy="11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</a:pPr>
            <a:r>
              <a:rPr lang="en-GB" sz="3200">
                <a:latin typeface="ShellMedium" panose="00000600000000000000" pitchFamily="2" charset="0"/>
              </a:rPr>
              <a:t>Policy action extending beyond advance countries but US reversals</a:t>
            </a:r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EF2B58CE-E112-7758-D8BF-3A5DAADE0E71}"/>
              </a:ext>
            </a:extLst>
          </p:cNvPr>
          <p:cNvSpPr/>
          <p:nvPr/>
        </p:nvSpPr>
        <p:spPr>
          <a:xfrm>
            <a:off x="670363" y="23047870"/>
            <a:ext cx="28933336" cy="9309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CA1D9DA-DDCF-F1DF-35CC-3FB481DBF462}"/>
              </a:ext>
            </a:extLst>
          </p:cNvPr>
          <p:cNvSpPr/>
          <p:nvPr/>
        </p:nvSpPr>
        <p:spPr>
          <a:xfrm>
            <a:off x="6915686" y="23004487"/>
            <a:ext cx="16426513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4800" b="1">
                <a:latin typeface="Aptos" panose="020B0004020202020204" pitchFamily="34" charset="0"/>
              </a:rPr>
              <a:t>Power sector transformation is disrupting at scale</a:t>
            </a: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8B6DC487-51FB-FB42-422E-EC4DD65F49F0}"/>
              </a:ext>
            </a:extLst>
          </p:cNvPr>
          <p:cNvSpPr/>
          <p:nvPr/>
        </p:nvSpPr>
        <p:spPr>
          <a:xfrm>
            <a:off x="15137606" y="31499799"/>
            <a:ext cx="14434889" cy="10192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A735EAB9-C581-3F2C-2F46-D7D3F6FEA85E}"/>
              </a:ext>
            </a:extLst>
          </p:cNvPr>
          <p:cNvSpPr/>
          <p:nvPr/>
        </p:nvSpPr>
        <p:spPr>
          <a:xfrm>
            <a:off x="16093807" y="31440159"/>
            <a:ext cx="12910150" cy="1162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4800" b="1" dirty="0">
                <a:latin typeface="Aptos" panose="020B0004020202020204" pitchFamily="34" charset="0"/>
              </a:rPr>
              <a:t>HDVs are approaching the point of disruption</a:t>
            </a:r>
          </a:p>
        </p:txBody>
      </p:sp>
      <p:pic>
        <p:nvPicPr>
          <p:cNvPr id="358" name="Picture 357">
            <a:extLst>
              <a:ext uri="{FF2B5EF4-FFF2-40B4-BE49-F238E27FC236}">
                <a16:creationId xmlns:a16="http://schemas.microsoft.com/office/drawing/2014/main" id="{109AC4E2-E500-B9CB-D57A-83A2DBFE7A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423" y="24232686"/>
            <a:ext cx="28818290" cy="7364606"/>
          </a:xfrm>
          <a:prstGeom prst="rect">
            <a:avLst/>
          </a:prstGeom>
        </p:spPr>
      </p:pic>
      <p:sp>
        <p:nvSpPr>
          <p:cNvPr id="362" name="Arrow: Pentagon 361">
            <a:extLst>
              <a:ext uri="{FF2B5EF4-FFF2-40B4-BE49-F238E27FC236}">
                <a16:creationId xmlns:a16="http://schemas.microsoft.com/office/drawing/2014/main" id="{817B8146-9AF8-C300-B64F-5201200E42B3}"/>
              </a:ext>
            </a:extLst>
          </p:cNvPr>
          <p:cNvSpPr/>
          <p:nvPr/>
        </p:nvSpPr>
        <p:spPr>
          <a:xfrm>
            <a:off x="620422" y="40668648"/>
            <a:ext cx="8988197" cy="1097280"/>
          </a:xfrm>
          <a:prstGeom prst="homePlate">
            <a:avLst/>
          </a:prstGeom>
          <a:solidFill>
            <a:srgbClr val="FD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7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Building in-house expertise</a:t>
            </a:r>
          </a:p>
        </p:txBody>
      </p:sp>
      <p:sp>
        <p:nvSpPr>
          <p:cNvPr id="363" name="Arrow: Chevron 362">
            <a:extLst>
              <a:ext uri="{FF2B5EF4-FFF2-40B4-BE49-F238E27FC236}">
                <a16:creationId xmlns:a16="http://schemas.microsoft.com/office/drawing/2014/main" id="{0B6B103C-92CF-E22F-C2E2-9AD304675CD6}"/>
              </a:ext>
            </a:extLst>
          </p:cNvPr>
          <p:cNvSpPr/>
          <p:nvPr/>
        </p:nvSpPr>
        <p:spPr>
          <a:xfrm>
            <a:off x="9814118" y="40668648"/>
            <a:ext cx="9322997" cy="1097280"/>
          </a:xfrm>
          <a:prstGeom prst="chevron">
            <a:avLst/>
          </a:prstGeom>
          <a:solidFill>
            <a:srgbClr val="FDD2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700" b="1">
                <a:solidFill>
                  <a:srgbClr val="595959"/>
                </a:solidFill>
                <a:latin typeface="Aptos" panose="020B0004020202020204" pitchFamily="34" charset="0"/>
              </a:rPr>
              <a:t>Integrating</a:t>
            </a:r>
            <a:r>
              <a:rPr lang="en-GB" sz="480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GB" sz="4700" b="1">
                <a:solidFill>
                  <a:srgbClr val="595959"/>
                </a:solidFill>
                <a:latin typeface="Aptos" panose="020B0004020202020204" pitchFamily="34" charset="0"/>
              </a:rPr>
              <a:t>evidence</a:t>
            </a:r>
          </a:p>
        </p:txBody>
      </p:sp>
      <p:sp>
        <p:nvSpPr>
          <p:cNvPr id="365" name="Arrow: Chevron 364">
            <a:extLst>
              <a:ext uri="{FF2B5EF4-FFF2-40B4-BE49-F238E27FC236}">
                <a16:creationId xmlns:a16="http://schemas.microsoft.com/office/drawing/2014/main" id="{35F3D5F3-82BD-90BC-CFB2-2C47350E62FF}"/>
              </a:ext>
            </a:extLst>
          </p:cNvPr>
          <p:cNvSpPr/>
          <p:nvPr/>
        </p:nvSpPr>
        <p:spPr>
          <a:xfrm>
            <a:off x="19365500" y="40668648"/>
            <a:ext cx="10206995" cy="1097280"/>
          </a:xfrm>
          <a:prstGeom prst="chevron">
            <a:avLst/>
          </a:prstGeom>
          <a:solidFill>
            <a:srgbClr val="FBE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700" b="1">
                <a:solidFill>
                  <a:srgbClr val="595959"/>
                </a:solidFill>
                <a:latin typeface="Aptos" panose="020B0004020202020204" pitchFamily="34" charset="0"/>
              </a:rPr>
              <a:t>Translating insights into action</a:t>
            </a:r>
          </a:p>
        </p:txBody>
      </p:sp>
      <p:sp>
        <p:nvSpPr>
          <p:cNvPr id="372" name="Shape 9">
            <a:extLst>
              <a:ext uri="{FF2B5EF4-FFF2-40B4-BE49-F238E27FC236}">
                <a16:creationId xmlns:a16="http://schemas.microsoft.com/office/drawing/2014/main" id="{E5CCA545-8278-17A8-EF06-DECCC5DFB972}"/>
              </a:ext>
            </a:extLst>
          </p:cNvPr>
          <p:cNvSpPr/>
          <p:nvPr/>
        </p:nvSpPr>
        <p:spPr>
          <a:xfrm>
            <a:off x="620421" y="31499798"/>
            <a:ext cx="14294577" cy="10192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373" name="Text 10">
            <a:extLst>
              <a:ext uri="{FF2B5EF4-FFF2-40B4-BE49-F238E27FC236}">
                <a16:creationId xmlns:a16="http://schemas.microsoft.com/office/drawing/2014/main" id="{34CF2096-F01C-F8C4-38EE-9B72F4C342AB}"/>
              </a:ext>
            </a:extLst>
          </p:cNvPr>
          <p:cNvSpPr/>
          <p:nvPr/>
        </p:nvSpPr>
        <p:spPr>
          <a:xfrm>
            <a:off x="27068" y="31603791"/>
            <a:ext cx="15156746" cy="870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4800" b="1" dirty="0">
                <a:latin typeface="Aptos" panose="020B0004020202020204" pitchFamily="34" charset="0"/>
              </a:rPr>
              <a:t>Oil displacement has been increasing for LDVs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7591EF2C-60A1-91C5-CBF9-9A12D7B79AC6}"/>
              </a:ext>
            </a:extLst>
          </p:cNvPr>
          <p:cNvSpPr txBox="1"/>
          <p:nvPr/>
        </p:nvSpPr>
        <p:spPr>
          <a:xfrm>
            <a:off x="17433548" y="33841196"/>
            <a:ext cx="12024802" cy="60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676973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6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Chinese OEMs</a:t>
            </a:r>
            <a:r>
              <a:rPr kumimoji="0" lang="en-GB" sz="3200" b="1" i="1" u="none" strike="noStrike" kern="1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learning from experience with LDV segment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ACD00C27-3E42-77E1-8937-35D9614C00BA}"/>
              </a:ext>
            </a:extLst>
          </p:cNvPr>
          <p:cNvSpPr txBox="1"/>
          <p:nvPr/>
        </p:nvSpPr>
        <p:spPr>
          <a:xfrm>
            <a:off x="17433548" y="34674422"/>
            <a:ext cx="11977205" cy="11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676973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6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Logistic companies invest in fleet decarbonisation but no strengthening of ambition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CEAB0563-4051-9DF3-8A60-096AD1A213DB}"/>
              </a:ext>
            </a:extLst>
          </p:cNvPr>
          <p:cNvSpPr txBox="1"/>
          <p:nvPr/>
        </p:nvSpPr>
        <p:spPr>
          <a:xfrm>
            <a:off x="17433548" y="36223716"/>
            <a:ext cx="12275450" cy="60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676973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6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Emergence of new business/financing/leasing models 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BAF5D1C-5761-55A0-94AD-8925DF59D687}"/>
              </a:ext>
            </a:extLst>
          </p:cNvPr>
          <p:cNvSpPr/>
          <p:nvPr/>
        </p:nvSpPr>
        <p:spPr>
          <a:xfrm>
            <a:off x="1439984" y="9170231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8AD902A-ED88-148C-470D-437235C54868}"/>
              </a:ext>
            </a:extLst>
          </p:cNvPr>
          <p:cNvSpPr/>
          <p:nvPr/>
        </p:nvSpPr>
        <p:spPr>
          <a:xfrm>
            <a:off x="275057" y="10219924"/>
            <a:ext cx="29297438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7857EE5A-34D7-1141-D7B3-BC0E593EE6A3}"/>
              </a:ext>
            </a:extLst>
          </p:cNvPr>
          <p:cNvSpPr/>
          <p:nvPr/>
        </p:nvSpPr>
        <p:spPr>
          <a:xfrm>
            <a:off x="725120" y="10524306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7200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consistent framework for tracking transition progress and momentum 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2D46223-9052-5BDC-1885-86BCAC0C18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664" y="32741535"/>
            <a:ext cx="13798597" cy="6514989"/>
          </a:xfrm>
          <a:prstGeom prst="rect">
            <a:avLst/>
          </a:prstGeom>
        </p:spPr>
      </p:pic>
      <p:sp>
        <p:nvSpPr>
          <p:cNvPr id="71" name="Text 17">
            <a:extLst>
              <a:ext uri="{FF2B5EF4-FFF2-40B4-BE49-F238E27FC236}">
                <a16:creationId xmlns:a16="http://schemas.microsoft.com/office/drawing/2014/main" id="{4C322709-9264-1FD9-E325-BBC09115DEAE}"/>
              </a:ext>
            </a:extLst>
          </p:cNvPr>
          <p:cNvSpPr/>
          <p:nvPr/>
        </p:nvSpPr>
        <p:spPr>
          <a:xfrm>
            <a:off x="554455" y="12382840"/>
            <a:ext cx="12721815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4400">
                <a:latin typeface="Aptos"/>
              </a:defRPr>
            </a:pPr>
            <a:r>
              <a:rPr lang="en-US" sz="4700" b="1" dirty="0">
                <a:solidFill>
                  <a:srgbClr val="2F3033"/>
                </a:solidFill>
                <a:latin typeface="Aptos"/>
              </a:rPr>
              <a:t>Heatmap for G20 energy transition progress</a:t>
            </a:r>
            <a:endParaRPr lang="en-US" sz="4700" dirty="0"/>
          </a:p>
        </p:txBody>
      </p:sp>
      <p:sp>
        <p:nvSpPr>
          <p:cNvPr id="75" name="Shape 8">
            <a:extLst>
              <a:ext uri="{FF2B5EF4-FFF2-40B4-BE49-F238E27FC236}">
                <a16:creationId xmlns:a16="http://schemas.microsoft.com/office/drawing/2014/main" id="{7B38BFE6-7BA9-A726-33A4-FC1980937A97}"/>
              </a:ext>
            </a:extLst>
          </p:cNvPr>
          <p:cNvSpPr/>
          <p:nvPr/>
        </p:nvSpPr>
        <p:spPr>
          <a:xfrm>
            <a:off x="465312" y="12623504"/>
            <a:ext cx="15763753" cy="1325879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noFill/>
            <a:prstDash val="solid"/>
          </a:ln>
        </p:spPr>
        <p:txBody>
          <a:bodyPr/>
          <a:lstStyle/>
          <a:p>
            <a:pPr>
              <a:defRPr sz="4400">
                <a:latin typeface="Aptos"/>
              </a:defRPr>
            </a:pPr>
            <a:r>
              <a:rPr lang="en-US" sz="3600" i="1" dirty="0">
                <a:solidFill>
                  <a:srgbClr val="5A5A5A"/>
                </a:solidFill>
                <a:latin typeface="Aptos"/>
              </a:rPr>
              <a:t>The boxes show the proportion of G20 GDP in each of the 6 transition stages</a:t>
            </a:r>
            <a:endParaRPr lang="en-US" sz="3600" i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F1E4F91-AC71-104B-DBAC-E9BF9DE8B394}"/>
              </a:ext>
            </a:extLst>
          </p:cNvPr>
          <p:cNvSpPr txBox="1"/>
          <p:nvPr/>
        </p:nvSpPr>
        <p:spPr>
          <a:xfrm>
            <a:off x="16188991" y="14224358"/>
            <a:ext cx="13052120" cy="950594"/>
          </a:xfrm>
          <a:prstGeom prst="rect">
            <a:avLst/>
          </a:prstGeom>
          <a:noFill/>
        </p:spPr>
        <p:txBody>
          <a:bodyPr wrap="square" lIns="360000" tIns="0" rIns="0" bIns="0" rtlCol="0">
            <a:noAutofit/>
          </a:bodyPr>
          <a:lstStyle/>
          <a:p>
            <a:pPr>
              <a:lnSpc>
                <a:spcPct val="113000"/>
              </a:lnSpc>
              <a:spcAft>
                <a:spcPts val="60"/>
              </a:spcAft>
              <a:defRPr sz="4400">
                <a:latin typeface="Aptos"/>
              </a:defRPr>
            </a:pPr>
            <a:r>
              <a:rPr lang="en-GB" sz="4700" dirty="0">
                <a:solidFill>
                  <a:srgbClr val="5A5A5A"/>
                </a:solidFill>
                <a:latin typeface="Aptos"/>
              </a:rPr>
              <a:t>The Pace heatmap shows  that progress slowed in hard-to-abate sectors like heavy industry, aviation and shipping but continues in power and road transport .                                                                                                                                           </a:t>
            </a:r>
            <a:endParaRPr lang="en-US" sz="4700" dirty="0">
              <a:solidFill>
                <a:srgbClr val="5A5A5A"/>
              </a:solidFill>
              <a:latin typeface="Aptos"/>
            </a:endParaRPr>
          </a:p>
          <a:p>
            <a:pPr marL="177800" indent="-177800">
              <a:lnSpc>
                <a:spcPct val="113000"/>
              </a:lnSpc>
              <a:spcAft>
                <a:spcPts val="60"/>
              </a:spcAft>
              <a:buFont typeface="Wingdings"/>
              <a:buChar char="n"/>
            </a:pPr>
            <a:endParaRPr lang="en-GB" sz="1600" dirty="0"/>
          </a:p>
        </p:txBody>
      </p:sp>
      <p:sp>
        <p:nvSpPr>
          <p:cNvPr id="80" name="Text 17">
            <a:extLst>
              <a:ext uri="{FF2B5EF4-FFF2-40B4-BE49-F238E27FC236}">
                <a16:creationId xmlns:a16="http://schemas.microsoft.com/office/drawing/2014/main" id="{D40F5939-C900-5623-F72F-C13779319D0A}"/>
              </a:ext>
            </a:extLst>
          </p:cNvPr>
          <p:cNvSpPr/>
          <p:nvPr/>
        </p:nvSpPr>
        <p:spPr>
          <a:xfrm>
            <a:off x="20834042" y="19389614"/>
            <a:ext cx="3180411" cy="635285"/>
          </a:xfrm>
          <a:prstGeom prst="rect">
            <a:avLst/>
          </a:prstGeom>
          <a:solidFill>
            <a:srgbClr val="F49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4400">
                <a:latin typeface="Aptos"/>
              </a:defRPr>
            </a:pPr>
            <a:r>
              <a:rPr lang="en-US" sz="3200" b="1" dirty="0">
                <a:solidFill>
                  <a:schemeClr val="bg1"/>
                </a:solidFill>
                <a:latin typeface="Aptos"/>
              </a:rPr>
              <a:t>Pre-commercial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971E7AFE-6B49-1912-29CB-996C516E7393}"/>
              </a:ext>
            </a:extLst>
          </p:cNvPr>
          <p:cNvSpPr/>
          <p:nvPr/>
        </p:nvSpPr>
        <p:spPr>
          <a:xfrm>
            <a:off x="16478420" y="20395385"/>
            <a:ext cx="3468259" cy="7151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Aptos"/>
              </a:rPr>
              <a:t>Intermediate</a:t>
            </a:r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6557650C-1C3A-C13A-A1CC-1B69387ED8FA}"/>
              </a:ext>
            </a:extLst>
          </p:cNvPr>
          <p:cNvSpPr/>
          <p:nvPr/>
        </p:nvSpPr>
        <p:spPr>
          <a:xfrm>
            <a:off x="20869068" y="20344175"/>
            <a:ext cx="3139086" cy="696108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/>
          <a:p>
            <a:pPr indent="0" algn="ctr">
              <a:buNone/>
              <a:defRPr sz="4400">
                <a:latin typeface="Aptos"/>
              </a:defRPr>
            </a:pPr>
            <a:r>
              <a:rPr lang="en-US" sz="3200" b="1" dirty="0">
                <a:latin typeface="Aptos"/>
              </a:rPr>
              <a:t>Advanced</a:t>
            </a:r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98DBF9A1-E7FE-B50E-D56E-8A2458DE409E}"/>
              </a:ext>
            </a:extLst>
          </p:cNvPr>
          <p:cNvSpPr/>
          <p:nvPr/>
        </p:nvSpPr>
        <p:spPr>
          <a:xfrm>
            <a:off x="16387725" y="18355781"/>
            <a:ext cx="7760360" cy="52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4400">
                <a:latin typeface="Aptos"/>
              </a:defRPr>
            </a:pPr>
            <a:r>
              <a:rPr lang="en-US" sz="4700" b="1" dirty="0">
                <a:solidFill>
                  <a:schemeClr val="tx1">
                    <a:lumMod val="50000"/>
                  </a:schemeClr>
                </a:solidFill>
                <a:latin typeface="Aptos"/>
              </a:rPr>
              <a:t>Six transition Stages</a:t>
            </a:r>
            <a:endParaRPr lang="en-US" sz="47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A529A4F2-A426-7748-8569-1F96F5C9D96B}"/>
              </a:ext>
            </a:extLst>
          </p:cNvPr>
          <p:cNvSpPr/>
          <p:nvPr/>
        </p:nvSpPr>
        <p:spPr>
          <a:xfrm>
            <a:off x="24930543" y="20378909"/>
            <a:ext cx="2705405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>
              <a:defRPr sz="4400">
                <a:latin typeface="Aptos"/>
              </a:defRPr>
            </a:pPr>
            <a:r>
              <a:rPr lang="en-US" sz="3200" b="1" dirty="0">
                <a:solidFill>
                  <a:schemeClr val="bg1"/>
                </a:solidFill>
                <a:latin typeface="Aptos"/>
              </a:rPr>
              <a:t>Net-zero</a:t>
            </a:r>
          </a:p>
        </p:txBody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BD098D64-E170-6B95-43C0-7F37C1613C54}"/>
              </a:ext>
            </a:extLst>
          </p:cNvPr>
          <p:cNvSpPr/>
          <p:nvPr/>
        </p:nvSpPr>
        <p:spPr>
          <a:xfrm>
            <a:off x="16431391" y="19426005"/>
            <a:ext cx="3515288" cy="644361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4400">
                <a:latin typeface="Aptos"/>
              </a:defRPr>
            </a:pPr>
            <a:r>
              <a:rPr lang="en-US" sz="3200" b="1" dirty="0">
                <a:solidFill>
                  <a:schemeClr val="bg1"/>
                </a:solidFill>
                <a:latin typeface="Aptos"/>
              </a:rPr>
              <a:t>Pre-transition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7C499948-0AD9-E94F-0D57-D4B548EE8F80}"/>
              </a:ext>
            </a:extLst>
          </p:cNvPr>
          <p:cNvSpPr/>
          <p:nvPr/>
        </p:nvSpPr>
        <p:spPr>
          <a:xfrm>
            <a:off x="24901816" y="19343187"/>
            <a:ext cx="2705405" cy="661374"/>
          </a:xfrm>
          <a:prstGeom prst="rect">
            <a:avLst/>
          </a:prstGeom>
          <a:solidFill>
            <a:srgbClr val="F7D1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4400">
                <a:latin typeface="Aptos"/>
              </a:defRPr>
            </a:pPr>
            <a:r>
              <a:rPr lang="en-US" sz="3200" b="1" dirty="0">
                <a:solidFill>
                  <a:schemeClr val="tx1">
                    <a:lumMod val="50000"/>
                  </a:schemeClr>
                </a:solidFill>
                <a:latin typeface="Aptos"/>
              </a:rPr>
              <a:t>Early</a:t>
            </a:r>
            <a:endParaRPr lang="en-US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98B9814-28F5-50DA-7978-751722DDA44D}"/>
              </a:ext>
            </a:extLst>
          </p:cNvPr>
          <p:cNvSpPr/>
          <p:nvPr/>
        </p:nvSpPr>
        <p:spPr>
          <a:xfrm>
            <a:off x="589218" y="39119103"/>
            <a:ext cx="28983277" cy="118987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E609870-8840-77DF-C39F-38FA9A9A83B1}"/>
              </a:ext>
            </a:extLst>
          </p:cNvPr>
          <p:cNvSpPr/>
          <p:nvPr/>
        </p:nvSpPr>
        <p:spPr>
          <a:xfrm>
            <a:off x="1439984" y="39127055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7200" b="1" dirty="0">
                <a:latin typeface="Aptos Display" panose="020B0004020202020204" pitchFamily="34" charset="0"/>
              </a:rPr>
              <a:t>A trusted source of insight across SCA and Shell</a:t>
            </a:r>
            <a:endParaRPr lang="en-US" sz="7200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141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_dlc_DocId xmlns="5fe9d420-80f7-4ada-bee1-a7a60088c9b2">UXD4DQ5FARXZ-1534890728-23</_dlc_DocId>
    <_dlc_DocIdUrl xmlns="5fe9d420-80f7-4ada-bee1-a7a60088c9b2">
      <Url>https://eu001-sp.shell.com/sites/SPO002395/_layouts/15/DocIdRedir.aspx?ID=UXD4DQ5FARXZ-1534890728-23</Url>
      <Description>UXD4DQ5FARXZ-1534890728-23</Description>
    </_dlc_DocIdUr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</documentManagement>
</p:properties>
</file>

<file path=customXml/item4.xml><?xml version="1.0" encoding="utf-8"?>
<?mso-contentType ?>
<p:Policy xmlns:p="office.server.policy" id="" local="true">
  <p:Name>Shell Document Base</p:Name>
  <p:Description/>
  <p:Statement/>
  <p:PolicyItems/>
</p:Policy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AD65421-755D-485A-840A-79243F4D9D52}"/>
</file>

<file path=customXml/itemProps2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69095966-ec03-43cc-9af9-dbf88c09811d"/>
    <ds:schemaRef ds:uri="9ef820fd-6db4-47b1-9dcb-1f7c1d9cfe14"/>
    <ds:schemaRef ds:uri="http://schemas.microsoft.com/sharepoint/v3"/>
  </ds:schemaRefs>
</ds:datastoreItem>
</file>

<file path=customXml/itemProps4.xml><?xml version="1.0" encoding="utf-8"?>
<ds:datastoreItem xmlns:ds="http://schemas.openxmlformats.org/officeDocument/2006/customXml" ds:itemID="{4B5BACC2-97DB-4088-A0D6-4791E9660703}">
  <ds:schemaRefs>
    <ds:schemaRef ds:uri="office.server.policy"/>
  </ds:schemaRefs>
</ds:datastoreItem>
</file>

<file path=customXml/itemProps5.xml><?xml version="1.0" encoding="utf-8"?>
<ds:datastoreItem xmlns:ds="http://schemas.openxmlformats.org/officeDocument/2006/customXml" ds:itemID="{536959BD-6D28-4CCE-9BB2-D636C78B095F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200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 Display</vt:lpstr>
      <vt:lpstr>Aptos</vt:lpstr>
      <vt:lpstr>ShellMedium</vt:lpstr>
      <vt:lpstr>Futura Medium</vt:lpstr>
      <vt:lpstr>Wingdings</vt:lpstr>
      <vt:lpstr>Arial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Konar, Mansi SI-FR/S/B</cp:lastModifiedBy>
  <cp:revision>3</cp:revision>
  <cp:lastPrinted>2017-04-25T09:06:38Z</cp:lastPrinted>
  <dcterms:created xsi:type="dcterms:W3CDTF">2009-11-25T14:32:06Z</dcterms:created>
  <dcterms:modified xsi:type="dcterms:W3CDTF">2026-09-01T10:34:11Z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Shell SharePoint SAEF KeepFileLocal">
    <vt:bool>false</vt:bool>
  </property>
  <property fmtid="{D5CDD505-2E9C-101B-9397-08002B2CF9AE}" pid="8" name="Shell SharePoint SAEF WorkgroupIDTaxHTField0">
    <vt:lpwstr>UIB Commercial, New Business ＆ LNG - 11947|52d8a608-ed1f-401e-8ffb-8cc5334b8b42</vt:lpwstr>
  </property>
  <property fmtid="{D5CDD505-2E9C-101B-9397-08002B2CF9AE}" pid="9" name="Shell SharePoint SAEF SecurityClassificationTaxHTField0">
    <vt:lpwstr>Restricted|21aa7f98-4035-4019-a764-107acb7269af</vt:lpwstr>
  </property>
  <property fmtid="{D5CDD505-2E9C-101B-9397-08002B2CF9AE}" pid="10" name="SME Areas">
    <vt:lpwstr/>
  </property>
  <property fmtid="{D5CDD505-2E9C-101B-9397-08002B2CF9AE}" pid="11" name="SME Keywords">
    <vt:lpwstr/>
  </property>
  <property fmtid="{D5CDD505-2E9C-101B-9397-08002B2CF9AE}" pid="12" name="Shell SharePoint SAEF SiteCollectionName">
    <vt:lpwstr>Global Upstream Economics Portal</vt:lpwstr>
  </property>
  <property fmtid="{D5CDD505-2E9C-101B-9397-08002B2CF9AE}" pid="13" name="Order">
    <vt:r8>284000</vt:r8>
  </property>
  <property fmtid="{D5CDD505-2E9C-101B-9397-08002B2CF9AE}" pid="14" name="xd_Signature">
    <vt:bool>false</vt:bool>
  </property>
  <property fmtid="{D5CDD505-2E9C-101B-9397-08002B2CF9AE}" pid="15" name="Shell SharePoint SAEF GlobalFunctionTaxHTField0">
    <vt:lpwstr>Sustainable Development|2fbcccf5-c9b5-4b2d-984f-9a9b70c47e11</vt:lpwstr>
  </property>
  <property fmtid="{D5CDD505-2E9C-101B-9397-08002B2CF9AE}" pid="16" name="Shell SharePoint SAEF DocumentTypeTaxHTField0">
    <vt:lpwstr>Study results|073ec550-c791-4e3f-9683-953f7d5eb953</vt:lpwstr>
  </property>
  <property fmtid="{D5CDD505-2E9C-101B-9397-08002B2CF9AE}" pid="17" name="xd_ProgID">
    <vt:lpwstr/>
  </property>
  <property fmtid="{D5CDD505-2E9C-101B-9397-08002B2CF9AE}" pid="18" name="Shell SharePoint SAEF SiteOwner">
    <vt:lpwstr>Peter Grieve</vt:lpwstr>
  </property>
  <property fmtid="{D5CDD505-2E9C-101B-9397-08002B2CF9AE}" pid="19" name="Shell SharePoint SAEF LanguageTaxHTField0">
    <vt:lpwstr>English|bd3ad5ee-f0c3-40aa-8cc8-36ef09940af3</vt:lpwstr>
  </property>
  <property fmtid="{D5CDD505-2E9C-101B-9397-08002B2CF9AE}" pid="20" name="Shell SharePoint SAEF CountryOfJurisdictionTaxHTField0">
    <vt:lpwstr>NETHERLANDS|54565ecb-470f-40ea-a584-819150a65a13</vt:lpwstr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Shell SharePoint SAEF BusinessUnitRegionTaxHTField0">
    <vt:lpwstr>Upstream International|dabf15d9-4f75-4ed1-b8a1-a0c3e2a85888</vt:lpwstr>
  </property>
  <property fmtid="{D5CDD505-2E9C-101B-9397-08002B2CF9AE}" pid="24" name="Shell SharePoint SAEF DocumentStatusTaxHTField0">
    <vt:lpwstr>Draft|1c86f377-7d91-4c95-bd5b-c18c83fe0aa5</vt:lpwstr>
  </property>
  <property fmtid="{D5CDD505-2E9C-101B-9397-08002B2CF9AE}" pid="25" name="Shell SharePoint SAEF BusinessProcessTaxHTField0">
    <vt:lpwstr>Develop New Business|8f030812-6a49-4616-837f-b8f0f1d07b9c</vt:lpwstr>
  </property>
  <property fmtid="{D5CDD505-2E9C-101B-9397-08002B2CF9AE}" pid="26" name="Shell SharePoint SAEF BusinessTaxHTField0">
    <vt:lpwstr>Upstream International|dabf15d9-4f75-4ed1-b8a1-a0c3e2a85888</vt:lpwstr>
  </property>
  <property fmtid="{D5CDD505-2E9C-101B-9397-08002B2CF9AE}" pid="27" name="Shell SharePoint SAEF Collection">
    <vt:bool>false</vt:bool>
  </property>
  <property fmtid="{D5CDD505-2E9C-101B-9397-08002B2CF9AE}" pid="28" name="_ExtendedDescription">
    <vt:lpwstr/>
  </property>
  <property fmtid="{D5CDD505-2E9C-101B-9397-08002B2CF9AE}" pid="29" name="Shell SharePoint SAEF ExportControlClassificationTaxHTField0">
    <vt:lpwstr>Non-US content - Non Controlled|2ac8835e-0587-4096-a6e2-1f68da1e6cb3</vt:lpwstr>
  </property>
  <property fmtid="{D5CDD505-2E9C-101B-9397-08002B2CF9AE}" pid="30" name="TriggerFlowInfo">
    <vt:lpwstr/>
  </property>
  <property fmtid="{D5CDD505-2E9C-101B-9397-08002B2CF9AE}" pid="31" name="Shell SharePoint SAEF LegalEntityTaxHTField0">
    <vt:lpwstr>SIEP|ca814f84-fd49-4cca-9dd4-ac559012442b</vt:lpwstr>
  </property>
  <property fmtid="{D5CDD505-2E9C-101B-9397-08002B2CF9AE}" pid="32" name="MediaServiceImageTags">
    <vt:lpwstr/>
  </property>
  <property fmtid="{D5CDD505-2E9C-101B-9397-08002B2CF9AE}" pid="33" name="Geographic Scope">
    <vt:lpwstr/>
  </property>
  <property fmtid="{D5CDD505-2E9C-101B-9397-08002B2CF9AE}" pid="34" name="Project Type">
    <vt:lpwstr/>
  </property>
  <property fmtid="{D5CDD505-2E9C-101B-9397-08002B2CF9AE}" pid="35" name="Shell_x0020_SharePoint_x0020_SIS_x0020_ProcessArea">
    <vt:lpwstr/>
  </property>
  <property fmtid="{D5CDD505-2E9C-101B-9397-08002B2CF9AE}" pid="36" name="Shell SharePoint SAEF LegalEntity">
    <vt:lpwstr>160;#Shell Global Solutions International B.V.|c97403e1-4af2-48b1-b9b1-50ae27f1fcb2</vt:lpwstr>
  </property>
  <property fmtid="{D5CDD505-2E9C-101B-9397-08002B2CF9AE}" pid="37" name="DXC_x0020_Business">
    <vt:lpwstr/>
  </property>
  <property fmtid="{D5CDD505-2E9C-101B-9397-08002B2CF9AE}" pid="38" name="Shell_x0020_SharePoint_x0020_SAEF_x0020_BusinessUnitRegion">
    <vt:lpwstr>2;#Business Function or Other|874d49cd-70ad-414d-a612-40638fadccae</vt:lpwstr>
  </property>
  <property fmtid="{D5CDD505-2E9C-101B-9397-08002B2CF9AE}" pid="39" name="Shell SharePoint SAEF Language">
    <vt:lpwstr>6;#English|bd3ad5ee-f0c3-40aa-8cc8-36ef09940af3</vt:lpwstr>
  </property>
  <property fmtid="{D5CDD505-2E9C-101B-9397-08002B2CF9AE}" pid="40" name="Shell SharePoint SAEF CountryOfJurisdiction">
    <vt:lpwstr>45;#NETHERLANDS|54565ecb-470f-40ea-a584-819150a65a13</vt:lpwstr>
  </property>
  <property fmtid="{D5CDD505-2E9C-101B-9397-08002B2CF9AE}" pid="41" name="Shell SharePoint SAEF BusinessProcess">
    <vt:lpwstr>130;#All - Governing Processes|6056791d-15f6-4255-b305-82dc2d54ec2d</vt:lpwstr>
  </property>
  <property fmtid="{D5CDD505-2E9C-101B-9397-08002B2CF9AE}" pid="42" name="c88833a78f894156b4451b6cf114263b">
    <vt:lpwstr/>
  </property>
  <property fmtid="{D5CDD505-2E9C-101B-9397-08002B2CF9AE}" pid="43" name="Shell_x0020_SharePoint_x0020_SAEF_x0020_DocumentStatus">
    <vt:lpwstr>37;#Final|4ab27e0b-f232-4e2f-b033-17b51f68e2a5</vt:lpwstr>
  </property>
  <property fmtid="{D5CDD505-2E9C-101B-9397-08002B2CF9AE}" pid="44" name="Geographic_x0020_Scope">
    <vt:lpwstr/>
  </property>
  <property fmtid="{D5CDD505-2E9C-101B-9397-08002B2CF9AE}" pid="45" name="Shell_x0020_SharePoint_x0020_SAEF_x0020_DocumentType">
    <vt:lpwstr>400;#ZZZ - Migrated - To be Selected|629ebd84-340c-41ed-b9f4-bf315677c89e</vt:lpwstr>
  </property>
  <property fmtid="{D5CDD505-2E9C-101B-9397-08002B2CF9AE}" pid="46" name="Shell SharePoint SAEF Business">
    <vt:lpwstr>157;#Projects and Technology (PT)|71ef976b-0896-446b-8541-fe6e77f226a6</vt:lpwstr>
  </property>
  <property fmtid="{D5CDD505-2E9C-101B-9397-08002B2CF9AE}" pid="47" name="Shell_x0020_SharePoint_x0020_SAEF_x0020_ExportControlClassification">
    <vt:lpwstr>9;#Non-US content - Non Controlled|2ac8835e-0587-4096-a6e2-1f68da1e6cb3</vt:lpwstr>
  </property>
  <property fmtid="{D5CDD505-2E9C-101B-9397-08002B2CF9AE}" pid="48" name="Shell_x0020_SharePoint_x0020_SAEF_x0020_GlobalFunction">
    <vt:lpwstr>3;#Not Applicable|ddce64fb-3cb8-4cd9-8e3d-0fe554247fd1</vt:lpwstr>
  </property>
  <property fmtid="{D5CDD505-2E9C-101B-9397-08002B2CF9AE}" pid="49" name="Shell SharePoint SAEF BusinessUnitRegion">
    <vt:lpwstr>2;#Business Function or Other|874d49cd-70ad-414d-a612-40638fadccae</vt:lpwstr>
  </property>
  <property fmtid="{D5CDD505-2E9C-101B-9397-08002B2CF9AE}" pid="50" name="Shell SharePoint SAEF ExportControlClassification">
    <vt:lpwstr>9;#Non-US content - Non Controlled|2ac8835e-0587-4096-a6e2-1f68da1e6cb3</vt:lpwstr>
  </property>
  <property fmtid="{D5CDD505-2E9C-101B-9397-08002B2CF9AE}" pid="51" name="Shell_x0020_SharePoint_x0020_SAEF_x0020_LegalEntity">
    <vt:lpwstr>160;#Shell Global Solutions International B.V.|c97403e1-4af2-48b1-b9b1-50ae27f1fcb2</vt:lpwstr>
  </property>
  <property fmtid="{D5CDD505-2E9C-101B-9397-08002B2CF9AE}" pid="52" name="h5bb1d2de1414d70ae2bfc90680efd78">
    <vt:lpwstr/>
  </property>
  <property fmtid="{D5CDD505-2E9C-101B-9397-08002B2CF9AE}" pid="53" name="Shell_x0020_SharePoint_x0020_SAEF_x0020_BusinessProcess">
    <vt:lpwstr>130;#All - Governing Processes|6056791d-15f6-4255-b305-82dc2d54ec2d</vt:lpwstr>
  </property>
  <property fmtid="{D5CDD505-2E9C-101B-9397-08002B2CF9AE}" pid="54" name="Shell SharePoint SAEF DocumentType">
    <vt:lpwstr>400;#ZZZ - Migrated - To be Selected|629ebd84-340c-41ed-b9f4-bf315677c89e</vt:lpwstr>
  </property>
  <property fmtid="{D5CDD505-2E9C-101B-9397-08002B2CF9AE}" pid="55" name="Shell SharePoint SIS Organization">
    <vt:lpwstr/>
  </property>
  <property fmtid="{D5CDD505-2E9C-101B-9397-08002B2CF9AE}" pid="56" name="Shell_x0020_SharePoint_x0020_SAEF_x0020_CountryOfJurisdiction">
    <vt:lpwstr>45;#NETHERLANDS|54565ecb-470f-40ea-a584-819150a65a13</vt:lpwstr>
  </property>
  <property fmtid="{D5CDD505-2E9C-101B-9397-08002B2CF9AE}" pid="57" name="a8e66dffd74a43fca0b5204e592e2073">
    <vt:lpwstr/>
  </property>
  <property fmtid="{D5CDD505-2E9C-101B-9397-08002B2CF9AE}" pid="58" name="Shell SharePoint SAEF GlobalFunction">
    <vt:lpwstr>3;#Not Applicable|ddce64fb-3cb8-4cd9-8e3d-0fe554247fd1</vt:lpwstr>
  </property>
  <property fmtid="{D5CDD505-2E9C-101B-9397-08002B2CF9AE}" pid="59" name="Project_x0020_Type">
    <vt:lpwstr/>
  </property>
  <property fmtid="{D5CDD505-2E9C-101B-9397-08002B2CF9AE}" pid="60" name="DXC Business">
    <vt:lpwstr/>
  </property>
  <property fmtid="{D5CDD505-2E9C-101B-9397-08002B2CF9AE}" pid="61" name="Shell_x0020_SharePoint_x0020_SAEF_x0020_Language">
    <vt:lpwstr>6;#English|bd3ad5ee-f0c3-40aa-8cc8-36ef09940af3</vt:lpwstr>
  </property>
  <property fmtid="{D5CDD505-2E9C-101B-9397-08002B2CF9AE}" pid="62" name="SAEFSecurityClassification">
    <vt:lpwstr>1;#Restricted|21aa7f98-4035-4019-a764-107acb7269af</vt:lpwstr>
  </property>
  <property fmtid="{D5CDD505-2E9C-101B-9397-08002B2CF9AE}" pid="63" name="Shell_x0020_SharePoint_x0020_SIS_x0020_Organization">
    <vt:lpwstr/>
  </property>
  <property fmtid="{D5CDD505-2E9C-101B-9397-08002B2CF9AE}" pid="64" name="Shell SharePoint SAEF DocumentStatus">
    <vt:lpwstr>37;#Final|4ab27e0b-f232-4e2f-b033-17b51f68e2a5</vt:lpwstr>
  </property>
  <property fmtid="{D5CDD505-2E9C-101B-9397-08002B2CF9AE}" pid="65" name="Shell SharePoint SIS ProcessArea">
    <vt:lpwstr/>
  </property>
  <property fmtid="{D5CDD505-2E9C-101B-9397-08002B2CF9AE}" pid="66" name="Shell_x0020_SharePoint_x0020_SAEF_x0020_Business">
    <vt:lpwstr>157;#Projects and Technology (PT)|71ef976b-0896-446b-8541-fe6e77f226a6</vt:lpwstr>
  </property>
  <property fmtid="{D5CDD505-2E9C-101B-9397-08002B2CF9AE}" pid="67" name="_dlc_DocIdItemGuid">
    <vt:lpwstr>8727ddc5-1e07-4687-8329-785a4c709c0c</vt:lpwstr>
  </property>
</Properties>
</file>