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53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117"/>
    <a:srgbClr val="D42E12"/>
    <a:srgbClr val="8FD1E3"/>
    <a:srgbClr val="FFEECA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23" autoAdjust="0"/>
  </p:normalViewPr>
  <p:slideViewPr>
    <p:cSldViewPr snapToGrid="0">
      <p:cViewPr>
        <p:scale>
          <a:sx n="25" d="100"/>
          <a:sy n="25" d="100"/>
        </p:scale>
        <p:origin x="2328" y="-1248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20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EE16-014A-449F-178E-9239990B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5D9C1-A9E9-4725-096F-4C9474758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DB2A0-D9F0-D628-D871-BD96201B8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97FC4-0234-435C-3367-3A4227238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A84E-C0CB-0788-9E43-81417CFE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hink-cell data - do not delete" hidden="1">
            <a:extLst>
              <a:ext uri="{FF2B5EF4-FFF2-40B4-BE49-F238E27FC236}">
                <a16:creationId xmlns:a16="http://schemas.microsoft.com/office/drawing/2014/main" id="{C4B6864D-751F-EB02-8367-675C1872CA3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0235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8" imgH="608" progId="TCLayout.ActiveDocument.1">
                  <p:embed/>
                </p:oleObj>
              </mc:Choice>
              <mc:Fallback>
                <p:oleObj name="think-cell Slide" r:id="rId4" imgW="608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8" name="Picture 137">
            <a:extLst>
              <a:ext uri="{FF2B5EF4-FFF2-40B4-BE49-F238E27FC236}">
                <a16:creationId xmlns:a16="http://schemas.microsoft.com/office/drawing/2014/main" id="{BEEF0004-A5D2-BD13-A6E9-499B460995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786" t="17303" r="1481" b="44049"/>
          <a:stretch>
            <a:fillRect/>
          </a:stretch>
        </p:blipFill>
        <p:spPr>
          <a:xfrm>
            <a:off x="20821162" y="15836354"/>
            <a:ext cx="8318090" cy="6754762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4E308F3B-ACB2-35F2-46CF-815BE7A8B6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63" t="13927" r="67415" b="40505"/>
          <a:stretch>
            <a:fillRect/>
          </a:stretch>
        </p:blipFill>
        <p:spPr>
          <a:xfrm>
            <a:off x="545587" y="15838907"/>
            <a:ext cx="8613058" cy="796413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F760B14C-FDD5-89E0-2F5D-1EC5F6939D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457" t="16628" r="33740" b="36792"/>
          <a:stretch>
            <a:fillRect/>
          </a:stretch>
        </p:blipFill>
        <p:spPr>
          <a:xfrm>
            <a:off x="9571813" y="15635118"/>
            <a:ext cx="10051796" cy="9216931"/>
          </a:xfrm>
          <a:prstGeom prst="rect">
            <a:avLst/>
          </a:prstGeom>
        </p:spPr>
      </p:pic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82FAEC95-DF44-2266-8798-EDA292DBA4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800" b="29600"/>
          <a:stretch>
            <a:fillRect/>
          </a:stretch>
        </p:blipFill>
        <p:spPr>
          <a:xfrm>
            <a:off x="0" y="-48125"/>
            <a:ext cx="30275213" cy="9055374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EF63F03-2785-731A-7A35-05E23E0A666D}"/>
              </a:ext>
            </a:extLst>
          </p:cNvPr>
          <p:cNvSpPr/>
          <p:nvPr/>
        </p:nvSpPr>
        <p:spPr>
          <a:xfrm>
            <a:off x="2087214" y="872834"/>
            <a:ext cx="10066685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B23B5A6-48B2-360B-7908-11698CCC7E13}"/>
              </a:ext>
            </a:extLst>
          </p:cNvPr>
          <p:cNvSpPr/>
          <p:nvPr/>
        </p:nvSpPr>
        <p:spPr>
          <a:xfrm>
            <a:off x="2467692" y="1111199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</a:rPr>
              <a:t>COLLABORATION &amp; LEARNING</a:t>
            </a:r>
            <a:endParaRPr lang="en-US" sz="5617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7D501CD-9CFC-69F2-D80F-B2FFE34389DA}"/>
              </a:ext>
            </a:extLst>
          </p:cNvPr>
          <p:cNvSpPr/>
          <p:nvPr/>
        </p:nvSpPr>
        <p:spPr>
          <a:xfrm>
            <a:off x="2087215" y="2099194"/>
            <a:ext cx="21763334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GB" sz="14147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 SCA: Coaching the community on AI use</a:t>
            </a:r>
            <a:endParaRPr lang="en-US" sz="1414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704C06B-73BC-BBD7-EFDF-8AE9472774FA}"/>
              </a:ext>
            </a:extLst>
          </p:cNvPr>
          <p:cNvSpPr/>
          <p:nvPr/>
        </p:nvSpPr>
        <p:spPr>
          <a:xfrm>
            <a:off x="2087215" y="4232136"/>
            <a:ext cx="21549968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GB" sz="5500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individual curiosity &amp; experimentation …</a:t>
            </a:r>
          </a:p>
          <a:p>
            <a:r>
              <a:rPr lang="en-GB" sz="5500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… to organizational AI capability</a:t>
            </a:r>
            <a:endParaRPr lang="en-US" sz="5500" b="1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36A0A45-562A-5DFF-FF34-307E2FEBD08D}"/>
              </a:ext>
            </a:extLst>
          </p:cNvPr>
          <p:cNvSpPr/>
          <p:nvPr/>
        </p:nvSpPr>
        <p:spPr>
          <a:xfrm>
            <a:off x="2087214" y="6098742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D8DBE73-0CA4-401B-6EDC-1960596AF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7214" y="6522803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D8A463F-2CAE-B2B4-5284-5B73A13BAA06}"/>
              </a:ext>
            </a:extLst>
          </p:cNvPr>
          <p:cNvSpPr/>
          <p:nvPr/>
        </p:nvSpPr>
        <p:spPr>
          <a:xfrm>
            <a:off x="3456935" y="6560851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Ulf Nahrath, GM Corporate Strategy Downstream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CF5B6F7-063D-0490-F592-A04CECC1BE47}"/>
              </a:ext>
            </a:extLst>
          </p:cNvPr>
          <p:cNvSpPr/>
          <p:nvPr/>
        </p:nvSpPr>
        <p:spPr>
          <a:xfrm>
            <a:off x="2087215" y="7545563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16949D9-5510-1CC4-5068-6E66326DD3ED}"/>
              </a:ext>
            </a:extLst>
          </p:cNvPr>
          <p:cNvSpPr/>
          <p:nvPr/>
        </p:nvSpPr>
        <p:spPr>
          <a:xfrm>
            <a:off x="23850549" y="5595290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04C2316-DC11-8B9E-F34A-F3450AEDB15D}"/>
              </a:ext>
            </a:extLst>
          </p:cNvPr>
          <p:cNvSpPr/>
          <p:nvPr/>
        </p:nvSpPr>
        <p:spPr>
          <a:xfrm>
            <a:off x="800100" y="9217406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72B699D-F60D-C455-AAA9-0ABC7B8039F3}"/>
              </a:ext>
            </a:extLst>
          </p:cNvPr>
          <p:cNvSpPr/>
          <p:nvPr/>
        </p:nvSpPr>
        <p:spPr>
          <a:xfrm>
            <a:off x="1250163" y="9521788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9154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CONTENT</a:t>
            </a:r>
            <a:endParaRPr lang="en-US" sz="9154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E6BD5B1-CDD2-0474-4B2B-9FFA3E164D0D}"/>
              </a:ext>
            </a:extLst>
          </p:cNvPr>
          <p:cNvSpPr/>
          <p:nvPr/>
        </p:nvSpPr>
        <p:spPr>
          <a:xfrm>
            <a:off x="800100" y="32911337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DC6D86A-F892-E6BB-DC6C-A4CDE80C0FCB}"/>
              </a:ext>
            </a:extLst>
          </p:cNvPr>
          <p:cNvSpPr/>
          <p:nvPr/>
        </p:nvSpPr>
        <p:spPr>
          <a:xfrm>
            <a:off x="1250163" y="33215719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8738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LEARNINGS</a:t>
            </a:r>
            <a:endParaRPr lang="en-US" sz="8738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870E329-37D1-5E0B-5314-EE1B6A997443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F99BD14-10ED-DB42-57FF-3C3545183F11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C26768-42A3-1FD2-BC51-3F0971CDF6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cxnSp>
        <p:nvCxnSpPr>
          <p:cNvPr id="27" name="Connector 26"/>
          <p:cNvCxnSpPr/>
          <p:nvPr/>
        </p:nvCxnSpPr>
        <p:spPr>
          <a:xfrm>
            <a:off x="19855822" y="13442295"/>
            <a:ext cx="0" cy="16202948"/>
          </a:xfrm>
          <a:prstGeom prst="line">
            <a:avLst/>
          </a:prstGeom>
          <a:ln w="1397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99408" y="13498556"/>
            <a:ext cx="1097280" cy="10972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9408" y="13544276"/>
            <a:ext cx="109728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2F3033"/>
                </a:solidFill>
                <a:latin typeface="Aptos Display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5288" y="13480268"/>
            <a:ext cx="75895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2F3033"/>
                </a:solidFill>
                <a:latin typeface="Aptos Display"/>
              </a:rPr>
              <a:t>OBSERVE &amp; 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5288" y="14571650"/>
            <a:ext cx="75895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D71920"/>
                </a:solidFill>
                <a:latin typeface="Aptos Display"/>
              </a:rPr>
              <a:t>Stay curious about how AI is changing</a:t>
            </a:r>
          </a:p>
        </p:txBody>
      </p:sp>
      <p:sp>
        <p:nvSpPr>
          <p:cNvPr id="32" name="Oval 31"/>
          <p:cNvSpPr/>
          <p:nvPr/>
        </p:nvSpPr>
        <p:spPr>
          <a:xfrm>
            <a:off x="10731080" y="13498556"/>
            <a:ext cx="1097280" cy="10972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31080" y="13544276"/>
            <a:ext cx="109728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2F3033"/>
                </a:solidFill>
                <a:latin typeface="Aptos Display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56960" y="13480268"/>
            <a:ext cx="733443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2F3033"/>
                </a:solidFill>
                <a:latin typeface="Aptos Display"/>
              </a:rPr>
              <a:t>TRY &amp; EXPERIMENT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56960" y="14571650"/>
            <a:ext cx="83210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71920"/>
                </a:solidFill>
                <a:latin typeface="Aptos Display"/>
              </a:rPr>
              <a:t>Turn interesting technology into real work</a:t>
            </a:r>
          </a:p>
        </p:txBody>
      </p:sp>
      <p:sp>
        <p:nvSpPr>
          <p:cNvPr id="36" name="Oval 35"/>
          <p:cNvSpPr/>
          <p:nvPr/>
        </p:nvSpPr>
        <p:spPr>
          <a:xfrm>
            <a:off x="20362752" y="13498556"/>
            <a:ext cx="1097280" cy="10972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362752" y="13544276"/>
            <a:ext cx="109728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2F3033"/>
                </a:solidFill>
                <a:latin typeface="Aptos Display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88632" y="13480268"/>
            <a:ext cx="77724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2F3033"/>
                </a:solidFill>
                <a:latin typeface="Aptos Display"/>
              </a:rPr>
              <a:t>SHARE &amp; COACH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688632" y="14571650"/>
            <a:ext cx="77724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71920"/>
                </a:solidFill>
                <a:latin typeface="Aptos Display"/>
              </a:rPr>
              <a:t>Convert individual learning into
organizational capability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5588" y="25369465"/>
            <a:ext cx="8315338" cy="55399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3600" b="1" dirty="0">
                <a:solidFill>
                  <a:srgbClr val="2F3033"/>
                </a:solidFill>
                <a:latin typeface="Aptos"/>
              </a:rPr>
              <a:t>Early adopter: </a:t>
            </a:r>
            <a:r>
              <a:rPr sz="3600" b="0" dirty="0">
                <a:solidFill>
                  <a:srgbClr val="2F3033"/>
                </a:solidFill>
                <a:latin typeface="Aptos"/>
              </a:rPr>
              <a:t>ChatGPT, Copilot and</a:t>
            </a:r>
            <a:r>
              <a:rPr lang="en-GB" sz="3600" b="0" dirty="0">
                <a:solidFill>
                  <a:srgbClr val="2F3033"/>
                </a:solidFill>
                <a:latin typeface="Aptos"/>
              </a:rPr>
              <a:t> </a:t>
            </a:r>
            <a:r>
              <a:rPr lang="en-GB" sz="3600" dirty="0">
                <a:solidFill>
                  <a:srgbClr val="2F3033"/>
                </a:solidFill>
                <a:latin typeface="Aptos"/>
              </a:rPr>
              <a:t>S</a:t>
            </a:r>
            <a:r>
              <a:rPr sz="3600" b="0" dirty="0">
                <a:solidFill>
                  <a:srgbClr val="2F3033"/>
                </a:solidFill>
                <a:latin typeface="Aptos"/>
              </a:rPr>
              <a:t>hell ChatGPT pilot</a:t>
            </a:r>
            <a:endParaRPr lang="en-GB" sz="3600" b="0" dirty="0">
              <a:solidFill>
                <a:srgbClr val="2F3033"/>
              </a:solidFill>
              <a:latin typeface="Aptos"/>
            </a:endParaRPr>
          </a:p>
          <a:p>
            <a: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3600" dirty="0">
              <a:solidFill>
                <a:srgbClr val="2F3033"/>
              </a:solidFill>
              <a:latin typeface="Aptos"/>
            </a:endParaRPr>
          </a:p>
          <a:p>
            <a: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2F3033"/>
                </a:solidFill>
                <a:latin typeface="Aptos"/>
              </a:rPr>
              <a:t>Claude moment </a:t>
            </a:r>
            <a:r>
              <a:rPr lang="en-GB" sz="3600" dirty="0">
                <a:solidFill>
                  <a:srgbClr val="2F3033"/>
                </a:solidFill>
                <a:latin typeface="Aptos"/>
              </a:rPr>
              <a:t>Q4 2025 – skills were used, ChatGPT 5.5. caught up w Claude Q2 2026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b="1" dirty="0">
              <a:solidFill>
                <a:srgbClr val="2F3033"/>
              </a:solidFill>
              <a:latin typeface="Apto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2F3033"/>
                </a:solidFill>
                <a:latin typeface="Aptos"/>
              </a:rPr>
              <a:t>Learning: </a:t>
            </a:r>
            <a:r>
              <a:rPr lang="en-GB" sz="3600" dirty="0">
                <a:solidFill>
                  <a:srgbClr val="2F3033"/>
                </a:solidFill>
                <a:latin typeface="Aptos"/>
              </a:rPr>
              <a:t>Coursera prompt trainings, YouTube videos</a:t>
            </a:r>
          </a:p>
          <a:p>
            <a: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3600" b="0" dirty="0">
              <a:solidFill>
                <a:srgbClr val="2F3033"/>
              </a:solidFill>
              <a:latin typeface="Apto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0653899" y="25369465"/>
            <a:ext cx="8385048" cy="66479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600" b="1">
                <a:solidFill>
                  <a:srgbClr val="2F3033"/>
                </a:solidFill>
                <a:latin typeface="Aptos"/>
              </a:defRPr>
            </a:lvl1pPr>
          </a:lstStyle>
          <a:p>
            <a:r>
              <a:rPr dirty="0"/>
              <a:t>1:1 coaching</a:t>
            </a:r>
            <a:endParaRPr lang="en-GB" dirty="0"/>
          </a:p>
          <a:p>
            <a:endParaRPr lang="en-GB" dirty="0"/>
          </a:p>
          <a:p>
            <a:r>
              <a:rPr lang="en-GB" dirty="0"/>
              <a:t>Consultants Training </a:t>
            </a:r>
          </a:p>
          <a:p>
            <a:endParaRPr lang="en-GB" dirty="0"/>
          </a:p>
          <a:p>
            <a:r>
              <a:rPr lang="en-GB" dirty="0"/>
              <a:t>Training x-strategy community (&gt;80 people)</a:t>
            </a:r>
          </a:p>
          <a:p>
            <a:endParaRPr lang="en-GB" dirty="0"/>
          </a:p>
          <a:p>
            <a:r>
              <a:rPr lang="en-GB" dirty="0"/>
              <a:t>Other teams: AD &amp; NBD and CR UK</a:t>
            </a:r>
          </a:p>
          <a:p>
            <a:endParaRPr lang="en-GB" dirty="0"/>
          </a:p>
          <a:p>
            <a:r>
              <a:rPr lang="en-GB" dirty="0"/>
              <a:t>ChatGPT Channel Teams &gt;500 people</a:t>
            </a:r>
          </a:p>
          <a:p>
            <a:endParaRPr lang="en-GB" dirty="0"/>
          </a:p>
          <a:p>
            <a:endParaRPr dirty="0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10"/>
          <a:srcRect l="3516" t="31220" r="89732" b="50501"/>
          <a:stretch>
            <a:fillRect/>
          </a:stretch>
        </p:blipFill>
        <p:spPr>
          <a:xfrm>
            <a:off x="622892" y="35078658"/>
            <a:ext cx="2050312" cy="22224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940504" y="34820028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2F3033"/>
                </a:solidFill>
                <a:latin typeface="Aptos Display"/>
              </a:defRPr>
            </a:lvl1pPr>
          </a:lstStyle>
          <a:p>
            <a:r>
              <a:rPr dirty="0"/>
              <a:t>BE CURIOUS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72181" y="35841650"/>
            <a:ext cx="742427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D71920"/>
                </a:solidFill>
                <a:latin typeface="Aptos Display"/>
              </a:defRPr>
            </a:lvl1pPr>
          </a:lstStyle>
          <a:p>
            <a:r>
              <a:rPr lang="en-GB" dirty="0"/>
              <a:t>Follow externally trends, think about improvement opportunities</a:t>
            </a:r>
            <a:endParaRPr dirty="0"/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10"/>
          <a:srcRect l="34767" t="31220" r="57539" b="50501"/>
          <a:stretch>
            <a:fillRect/>
          </a:stretch>
        </p:blipFill>
        <p:spPr>
          <a:xfrm>
            <a:off x="10320320" y="35172270"/>
            <a:ext cx="2336518" cy="222249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2807716" y="34828277"/>
            <a:ext cx="64008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2F3033"/>
                </a:solidFill>
                <a:latin typeface="Aptos Display"/>
              </a:defRPr>
            </a:lvl1pPr>
          </a:lstStyle>
          <a:p>
            <a:r>
              <a:rPr dirty="0"/>
              <a:t>EXPERIMENT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979333" y="35841650"/>
            <a:ext cx="6583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D71920"/>
                </a:solidFill>
                <a:latin typeface="Aptos Display"/>
              </a:defRPr>
            </a:lvl1pPr>
          </a:lstStyle>
          <a:p>
            <a:r>
              <a:rPr dirty="0"/>
              <a:t>Test ideas, learn</a:t>
            </a:r>
            <a:r>
              <a:rPr lang="en-GB" dirty="0"/>
              <a:t> </a:t>
            </a:r>
            <a:r>
              <a:rPr dirty="0"/>
              <a:t>and </a:t>
            </a:r>
            <a:r>
              <a:rPr lang="en-GB" dirty="0"/>
              <a:t>improve your workflows</a:t>
            </a:r>
            <a:endParaRPr dirty="0"/>
          </a:p>
        </p:txBody>
      </p:sp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10"/>
          <a:srcRect l="66407" t="31221" r="25522" b="50281"/>
          <a:stretch>
            <a:fillRect/>
          </a:stretch>
        </p:blipFill>
        <p:spPr>
          <a:xfrm>
            <a:off x="19137361" y="35028550"/>
            <a:ext cx="2450781" cy="224916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21757892" y="34828277"/>
            <a:ext cx="9488123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2F3033"/>
                </a:solidFill>
                <a:latin typeface="Aptos Display"/>
              </a:defRPr>
            </a:lvl1pPr>
          </a:lstStyle>
          <a:p>
            <a:r>
              <a:rPr dirty="0"/>
              <a:t>BUILD</a:t>
            </a:r>
            <a:r>
              <a:rPr lang="en-GB" dirty="0"/>
              <a:t> CAPABILITY</a:t>
            </a:r>
            <a:endParaRPr dirty="0"/>
          </a:p>
        </p:txBody>
      </p:sp>
      <p:sp>
        <p:nvSpPr>
          <p:cNvPr id="127" name="TextBox 126"/>
          <p:cNvSpPr txBox="1"/>
          <p:nvPr/>
        </p:nvSpPr>
        <p:spPr>
          <a:xfrm>
            <a:off x="21688632" y="35841650"/>
            <a:ext cx="829050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D71920"/>
                </a:solidFill>
                <a:latin typeface="Aptos Display"/>
              </a:defRPr>
            </a:lvl1pPr>
          </a:lstStyle>
          <a:p>
            <a:r>
              <a:rPr dirty="0"/>
              <a:t>Share learnings,</a:t>
            </a:r>
            <a:r>
              <a:rPr lang="en-GB" dirty="0"/>
              <a:t> </a:t>
            </a:r>
            <a:r>
              <a:rPr dirty="0"/>
              <a:t>develop and</a:t>
            </a:r>
            <a:r>
              <a:rPr lang="en-GB" dirty="0"/>
              <a:t> </a:t>
            </a:r>
            <a:r>
              <a:rPr dirty="0"/>
              <a:t>embed capability</a:t>
            </a:r>
            <a:r>
              <a:rPr lang="en-GB" dirty="0"/>
              <a:t> a</a:t>
            </a:r>
            <a:r>
              <a:rPr dirty="0"/>
              <a:t>cross the organization.</a:t>
            </a:r>
          </a:p>
        </p:txBody>
      </p:sp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10"/>
          <a:srcRect l="3906" t="61463" r="69531" b="11707"/>
          <a:stretch>
            <a:fillRect/>
          </a:stretch>
        </p:blipFill>
        <p:spPr>
          <a:xfrm>
            <a:off x="1099408" y="37636234"/>
            <a:ext cx="10015030" cy="4050195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10"/>
          <a:srcRect l="40073" t="63902" r="43859" b="11707"/>
          <a:stretch>
            <a:fillRect/>
          </a:stretch>
        </p:blipFill>
        <p:spPr>
          <a:xfrm>
            <a:off x="12188025" y="37606684"/>
            <a:ext cx="7323148" cy="4450975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10"/>
          <a:srcRect l="65234" t="66341" r="20362" b="11708"/>
          <a:stretch>
            <a:fillRect/>
          </a:stretch>
        </p:blipFill>
        <p:spPr>
          <a:xfrm>
            <a:off x="21926131" y="37863696"/>
            <a:ext cx="6264409" cy="3822733"/>
          </a:xfrm>
          <a:prstGeom prst="rect">
            <a:avLst/>
          </a:prstGeom>
        </p:spPr>
      </p:pic>
      <p:cxnSp>
        <p:nvCxnSpPr>
          <p:cNvPr id="143" name="Connector 26">
            <a:extLst>
              <a:ext uri="{FF2B5EF4-FFF2-40B4-BE49-F238E27FC236}">
                <a16:creationId xmlns:a16="http://schemas.microsoft.com/office/drawing/2014/main" id="{C0811E12-3719-D272-2718-C55AB460E9BA}"/>
              </a:ext>
            </a:extLst>
          </p:cNvPr>
          <p:cNvCxnSpPr/>
          <p:nvPr/>
        </p:nvCxnSpPr>
        <p:spPr>
          <a:xfrm>
            <a:off x="9437866" y="13544276"/>
            <a:ext cx="0" cy="16202948"/>
          </a:xfrm>
          <a:prstGeom prst="line">
            <a:avLst/>
          </a:prstGeom>
          <a:ln w="1397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" name="Picture 147">
            <a:extLst>
              <a:ext uri="{FF2B5EF4-FFF2-40B4-BE49-F238E27FC236}">
                <a16:creationId xmlns:a16="http://schemas.microsoft.com/office/drawing/2014/main" id="{9967575B-0820-ED42-8C62-69D33DE00D0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221" t="76331" r="74274" b="18893"/>
          <a:stretch>
            <a:fillRect/>
          </a:stretch>
        </p:blipFill>
        <p:spPr>
          <a:xfrm>
            <a:off x="1049095" y="30583493"/>
            <a:ext cx="7308323" cy="113483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FBFB024-0798-DCDD-AF8D-E458AFE585B4}"/>
              </a:ext>
            </a:extLst>
          </p:cNvPr>
          <p:cNvSpPr txBox="1"/>
          <p:nvPr/>
        </p:nvSpPr>
        <p:spPr>
          <a:xfrm>
            <a:off x="10598635" y="25369465"/>
            <a:ext cx="8315338" cy="4985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571500" indent="-5715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600" b="1">
                <a:solidFill>
                  <a:srgbClr val="2F3033"/>
                </a:solidFill>
                <a:latin typeface="Aptos"/>
              </a:defRPr>
            </a:lvl1pPr>
          </a:lstStyle>
          <a:p>
            <a:r>
              <a:rPr lang="en-GB" dirty="0"/>
              <a:t>Start small: </a:t>
            </a:r>
            <a:r>
              <a:rPr lang="en-GB" b="0" dirty="0"/>
              <a:t>Test AI on real strategy work, doing slides (slide factory)</a:t>
            </a:r>
          </a:p>
          <a:p>
            <a:endParaRPr lang="en-GB" dirty="0"/>
          </a:p>
          <a:p>
            <a:r>
              <a:rPr lang="en-GB" dirty="0"/>
              <a:t>Build workflows: </a:t>
            </a:r>
            <a:r>
              <a:rPr lang="en-GB" b="0" dirty="0"/>
              <a:t>turn experiments into reusable Skills (skill factory, consulting skills)</a:t>
            </a:r>
          </a:p>
          <a:p>
            <a:endParaRPr lang="en-GB" dirty="0"/>
          </a:p>
          <a:p>
            <a:r>
              <a:rPr lang="en-GB" dirty="0"/>
              <a:t>Expand scope: </a:t>
            </a:r>
            <a:r>
              <a:rPr lang="en-GB" b="0" dirty="0"/>
              <a:t>Strategy Documents (</a:t>
            </a:r>
            <a:r>
              <a:rPr lang="en-GB" b="0" dirty="0" err="1"/>
              <a:t>ToR</a:t>
            </a:r>
            <a:r>
              <a:rPr lang="en-GB" b="0" dirty="0"/>
              <a:t>, NFI, OM, etc.), Illustrations</a:t>
            </a:r>
          </a:p>
        </p:txBody>
      </p:sp>
    </p:spTree>
    <p:extLst>
      <p:ext uri="{BB962C8B-B14F-4D97-AF65-F5344CB8AC3E}">
        <p14:creationId xmlns:p14="http://schemas.microsoft.com/office/powerpoint/2010/main" val="2877530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UXD4DQ5FARXZ-1534890728-12</_dlc_DocId>
    <_dlc_DocIdUrl xmlns="5fe9d420-80f7-4ada-bee1-a7a60088c9b2">
      <Url>https://eu001-sp.shell.com/sites/SPO002395/_layouts/15/DocIdRedir.aspx?ID=UXD4DQ5FARXZ-1534890728-12</Url>
      <Description>UXD4DQ5FARXZ-1534890728-12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31F24BF-8C22-433C-9052-75569D4AA29E}"/>
</file>

<file path=customXml/itemProps2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7a4d270-2e9e-45ec-b53e-707b7cbfe7c3"/>
    <ds:schemaRef ds:uri="http://schemas.openxmlformats.org/package/2006/metadata/core-properties"/>
    <ds:schemaRef ds:uri="http://purl.org/dc/elements/1.1/"/>
    <ds:schemaRef ds:uri="c642a6ca-8515-4142-b4ce-183d01f224d8"/>
    <ds:schemaRef ds:uri="http://schemas.microsoft.com/sharepoint/v3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6638C993-4E68-4182-898C-03BB37355A30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232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Aptos Display</vt:lpstr>
      <vt:lpstr>Wingdings</vt:lpstr>
      <vt:lpstr>Futura Medium</vt:lpstr>
      <vt:lpstr>Aptos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Nahrath, Ulf C SI-FR/P</cp:lastModifiedBy>
  <cp:revision>8</cp:revision>
  <cp:lastPrinted>2017-04-25T09:06:38Z</cp:lastPrinted>
  <dcterms:created xsi:type="dcterms:W3CDTF">2009-11-25T14:32:06Z</dcterms:created>
  <dcterms:modified xsi:type="dcterms:W3CDTF">2026-08-31T14:52:28Z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9bdf13fd-0450-431c-be22-2f705105ddd4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