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357" r:id="rId5"/>
  </p:sldIdLst>
  <p:sldSz cx="30275213" cy="42803763"/>
  <p:notesSz cx="9926638" cy="14355763"/>
  <p:embeddedFontLst>
    <p:embeddedFont>
      <p:font typeface="Futura Medium" panose="00000800000000000000"/>
      <p:regular r:id="rId8"/>
      <p:bold r:id="rId9"/>
      <p:italic r:id="rId10"/>
      <p:boldItalic r:id="rId11"/>
    </p:embeddedFont>
  </p:embeddedFontLst>
  <p:defaultTextStyle>
    <a:defPPr>
      <a:defRPr lang="en-US"/>
    </a:defPPr>
    <a:lvl1pPr marL="0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1pPr>
    <a:lvl2pPr marL="2338487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2pPr>
    <a:lvl3pPr marL="4676973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3pPr>
    <a:lvl4pPr marL="7015460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4pPr>
    <a:lvl5pPr marL="9353946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5pPr>
    <a:lvl6pPr marL="11692433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6pPr>
    <a:lvl7pPr marL="14030919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7pPr>
    <a:lvl8pPr marL="16369406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8pPr>
    <a:lvl9pPr marL="18707892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463AD61-834D-430F-8A8A-00BC61DDAB93}">
          <p14:sldIdLst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5998" userDrawn="1">
          <p15:clr>
            <a:srgbClr val="A4A3A4"/>
          </p15:clr>
        </p15:guide>
        <p15:guide id="2" orient="horz" pos="890" userDrawn="1">
          <p15:clr>
            <a:srgbClr val="A4A3A4"/>
          </p15:clr>
        </p15:guide>
        <p15:guide id="3" orient="horz" pos="5143" userDrawn="1">
          <p15:clr>
            <a:srgbClr val="A4A3A4"/>
          </p15:clr>
        </p15:guide>
        <p15:guide id="4" orient="horz" pos="2938" userDrawn="1">
          <p15:clr>
            <a:srgbClr val="A4A3A4"/>
          </p15:clr>
        </p15:guide>
        <p15:guide id="5" orient="horz" pos="25141" userDrawn="1">
          <p15:clr>
            <a:srgbClr val="A4A3A4"/>
          </p15:clr>
        </p15:guide>
        <p15:guide id="6" orient="horz" pos="13074" userDrawn="1">
          <p15:clr>
            <a:srgbClr val="A4A3A4"/>
          </p15:clr>
        </p15:guide>
        <p15:guide id="7" pos="18098" userDrawn="1">
          <p15:clr>
            <a:srgbClr val="A4A3A4"/>
          </p15:clr>
        </p15:guide>
        <p15:guide id="8" pos="9244" userDrawn="1">
          <p15:clr>
            <a:srgbClr val="A4A3A4"/>
          </p15:clr>
        </p15:guide>
        <p15:guide id="9" pos="977" userDrawn="1">
          <p15:clr>
            <a:srgbClr val="A4A3A4"/>
          </p15:clr>
        </p15:guide>
        <p15:guide id="10" pos="98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522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7DE66BE-D1AE-C47D-C959-9C7D6068458F}" name="Negro, Emanuela SIBV-FR/P/R" initials="NE" userId="S::emanuela.negro@shell.com::e29d9913-b970-4761-bc40-ba64e3e93eaf" providerId="AD"/>
  <p188:author id="{DAFEE9EC-D951-8D29-F850-82796F6D30C2}" name="Negro, Emanuela SIBV-FR/P/R" initials="EN" userId="S::Emanuela.Negro@shell.com::e29d9913-b970-4761-bc40-ba64e3e93ea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D117"/>
    <a:srgbClr val="D42E12"/>
    <a:srgbClr val="8FD1E3"/>
    <a:srgbClr val="FFEECA"/>
    <a:srgbClr val="F49600"/>
    <a:srgbClr val="FFFFFF"/>
    <a:srgbClr val="CCE9DB"/>
    <a:srgbClr val="99CDB7"/>
    <a:srgbClr val="66B492"/>
    <a:srgbClr val="339B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25" autoAdjust="0"/>
  </p:normalViewPr>
  <p:slideViewPr>
    <p:cSldViewPr snapToGrid="0">
      <p:cViewPr varScale="1">
        <p:scale>
          <a:sx n="24" d="100"/>
          <a:sy n="24" d="100"/>
        </p:scale>
        <p:origin x="4128" y="150"/>
      </p:cViewPr>
      <p:guideLst>
        <p:guide orient="horz" pos="25998"/>
        <p:guide orient="horz" pos="890"/>
        <p:guide orient="horz" pos="5143"/>
        <p:guide orient="horz" pos="2938"/>
        <p:guide orient="horz" pos="25141"/>
        <p:guide orient="horz" pos="13074"/>
        <p:guide pos="18098"/>
        <p:guide pos="9244"/>
        <p:guide pos="977"/>
        <p:guide pos="984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4522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18" Type="http://schemas.openxmlformats.org/officeDocument/2006/relationships/customXml" Target="../customXml/item4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sen, Lara SIBV-FR/P/R" userId="f22a871c-245a-4267-992e-50ae84ea10f1" providerId="ADAL" clId="{EC5A20CC-EDAF-415C-A01D-837E1A017C5D}"/>
    <pc:docChg chg="undo custSel delSld modSld delSection modSection">
      <pc:chgData name="Thomsen, Lara SIBV-FR/P/R" userId="f22a871c-245a-4267-992e-50ae84ea10f1" providerId="ADAL" clId="{EC5A20CC-EDAF-415C-A01D-837E1A017C5D}" dt="2026-08-31T11:04:24.568" v="18" actId="47"/>
      <pc:docMkLst>
        <pc:docMk/>
      </pc:docMkLst>
      <pc:sldChg chg="del">
        <pc:chgData name="Thomsen, Lara SIBV-FR/P/R" userId="f22a871c-245a-4267-992e-50ae84ea10f1" providerId="ADAL" clId="{EC5A20CC-EDAF-415C-A01D-837E1A017C5D}" dt="2026-08-31T11:04:24.568" v="18" actId="47"/>
        <pc:sldMkLst>
          <pc:docMk/>
          <pc:sldMk cId="257835128" sldId="349"/>
        </pc:sldMkLst>
      </pc:sldChg>
      <pc:sldChg chg="del">
        <pc:chgData name="Thomsen, Lara SIBV-FR/P/R" userId="f22a871c-245a-4267-992e-50ae84ea10f1" providerId="ADAL" clId="{EC5A20CC-EDAF-415C-A01D-837E1A017C5D}" dt="2026-08-31T11:04:15.472" v="17" actId="18676"/>
        <pc:sldMkLst>
          <pc:docMk/>
          <pc:sldMk cId="2422406190" sldId="350"/>
        </pc:sldMkLst>
      </pc:sldChg>
      <pc:sldChg chg="del">
        <pc:chgData name="Thomsen, Lara SIBV-FR/P/R" userId="f22a871c-245a-4267-992e-50ae84ea10f1" providerId="ADAL" clId="{EC5A20CC-EDAF-415C-A01D-837E1A017C5D}" dt="2026-08-31T11:04:15.472" v="17" actId="18676"/>
        <pc:sldMkLst>
          <pc:docMk/>
          <pc:sldMk cId="2582428659" sldId="351"/>
        </pc:sldMkLst>
      </pc:sldChg>
      <pc:sldChg chg="addSp delSp del mod modCm">
        <pc:chgData name="Thomsen, Lara SIBV-FR/P/R" userId="f22a871c-245a-4267-992e-50ae84ea10f1" providerId="ADAL" clId="{EC5A20CC-EDAF-415C-A01D-837E1A017C5D}" dt="2026-08-31T11:04:08.136" v="14" actId="47"/>
        <pc:sldMkLst>
          <pc:docMk/>
          <pc:sldMk cId="2192195802" sldId="352"/>
        </pc:sldMkLst>
        <pc:spChg chg="add del">
          <ac:chgData name="Thomsen, Lara SIBV-FR/P/R" userId="f22a871c-245a-4267-992e-50ae84ea10f1" providerId="ADAL" clId="{EC5A20CC-EDAF-415C-A01D-837E1A017C5D}" dt="2026-08-31T11:02:25.667" v="1" actId="478"/>
          <ac:spMkLst>
            <pc:docMk/>
            <pc:sldMk cId="2192195802" sldId="352"/>
            <ac:spMk id="5" creationId="{03DA847F-8DC9-E7D4-C139-65EEF69A3DB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Thomsen, Lara SIBV-FR/P/R" userId="f22a871c-245a-4267-992e-50ae84ea10f1" providerId="ADAL" clId="{EC5A20CC-EDAF-415C-A01D-837E1A017C5D}" dt="2026-08-31T11:02:25.667" v="1" actId="478"/>
              <pc2:cmMkLst xmlns:pc2="http://schemas.microsoft.com/office/powerpoint/2019/9/main/command">
                <pc:docMk/>
                <pc:sldMk cId="2192195802" sldId="352"/>
                <pc2:cmMk id="{1C0D65B0-FF50-47B0-B0FB-8A748C70EE96}"/>
              </pc2:cmMkLst>
            </pc226:cmChg>
          </p:ext>
        </pc:extLst>
      </pc:sldChg>
      <pc:sldChg chg="del">
        <pc:chgData name="Thomsen, Lara SIBV-FR/P/R" userId="f22a871c-245a-4267-992e-50ae84ea10f1" providerId="ADAL" clId="{EC5A20CC-EDAF-415C-A01D-837E1A017C5D}" dt="2026-08-31T11:04:15.472" v="17" actId="18676"/>
        <pc:sldMkLst>
          <pc:docMk/>
          <pc:sldMk cId="948415334" sldId="353"/>
        </pc:sldMkLst>
      </pc:sldChg>
      <pc:sldChg chg="del">
        <pc:chgData name="Thomsen, Lara SIBV-FR/P/R" userId="f22a871c-245a-4267-992e-50ae84ea10f1" providerId="ADAL" clId="{EC5A20CC-EDAF-415C-A01D-837E1A017C5D}" dt="2026-08-31T11:04:09.386" v="15" actId="47"/>
        <pc:sldMkLst>
          <pc:docMk/>
          <pc:sldMk cId="1676515565" sldId="354"/>
        </pc:sldMkLst>
      </pc:sldChg>
      <pc:sldChg chg="del">
        <pc:chgData name="Thomsen, Lara SIBV-FR/P/R" userId="f22a871c-245a-4267-992e-50ae84ea10f1" providerId="ADAL" clId="{EC5A20CC-EDAF-415C-A01D-837E1A017C5D}" dt="2026-08-31T11:04:09.908" v="16" actId="47"/>
        <pc:sldMkLst>
          <pc:docMk/>
          <pc:sldMk cId="1988539505" sldId="356"/>
        </pc:sldMkLst>
      </pc:sldChg>
      <pc:sldChg chg="modSp mod">
        <pc:chgData name="Thomsen, Lara SIBV-FR/P/R" userId="f22a871c-245a-4267-992e-50ae84ea10f1" providerId="ADAL" clId="{EC5A20CC-EDAF-415C-A01D-837E1A017C5D}" dt="2026-08-31T11:03:48.461" v="13" actId="14100"/>
        <pc:sldMkLst>
          <pc:docMk/>
          <pc:sldMk cId="1911093567" sldId="357"/>
        </pc:sldMkLst>
        <pc:spChg chg="mod">
          <ac:chgData name="Thomsen, Lara SIBV-FR/P/R" userId="f22a871c-245a-4267-992e-50ae84ea10f1" providerId="ADAL" clId="{EC5A20CC-EDAF-415C-A01D-837E1A017C5D}" dt="2026-08-31T11:03:48.461" v="13" actId="14100"/>
          <ac:spMkLst>
            <pc:docMk/>
            <pc:sldMk cId="1911093567" sldId="357"/>
            <ac:spMk id="5" creationId="{E1F8F9DF-036B-F908-5DC0-30B8ED8D0AD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l">
              <a:defRPr sz="1700"/>
            </a:lvl1pPr>
          </a:lstStyle>
          <a:p>
            <a:endParaRPr lang="en-GB">
              <a:latin typeface="Futura Medium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80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r">
              <a:defRPr sz="1700"/>
            </a:lvl1pPr>
          </a:lstStyle>
          <a:p>
            <a:fld id="{78688C09-A274-4C07-9395-CBE67C0DE912}" type="datetimeFigureOut">
              <a:rPr lang="en-GB" smtClean="0">
                <a:latin typeface="Futura Medium" pitchFamily="2" charset="0"/>
              </a:rPr>
              <a:pPr/>
              <a:t>31/08/2026</a:t>
            </a:fld>
            <a:endParaRPr lang="en-GB">
              <a:latin typeface="Futura Medium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l">
              <a:defRPr sz="1700"/>
            </a:lvl1pPr>
          </a:lstStyle>
          <a:p>
            <a:endParaRPr lang="en-GB">
              <a:latin typeface="Futura Medium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80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r">
              <a:defRPr sz="1700"/>
            </a:lvl1pPr>
          </a:lstStyle>
          <a:p>
            <a:fld id="{18B005D9-1AAC-4E6D-B9B3-BB8CB4FD9D30}" type="slidenum">
              <a:rPr lang="en-GB" smtClean="0">
                <a:latin typeface="Futura Medium" pitchFamily="2" charset="0"/>
              </a:rPr>
              <a:pPr/>
              <a:t>‹#›</a:t>
            </a:fld>
            <a:endParaRPr lang="en-GB">
              <a:latin typeface="Futura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973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l">
              <a:defRPr sz="1700">
                <a:latin typeface="Futura Medium" pitchFamily="2" charset="0"/>
              </a:defRPr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80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r">
              <a:defRPr sz="1700">
                <a:latin typeface="Futura Medium" pitchFamily="2" charset="0"/>
              </a:defRPr>
            </a:lvl1pPr>
          </a:lstStyle>
          <a:p>
            <a:fld id="{E8910CE4-810D-4C84-B7AD-48C304FEA169}" type="datetimeFigureOut">
              <a:rPr lang="en-GB" smtClean="0"/>
              <a:pPr/>
              <a:t>31/08/2026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59113" y="1074738"/>
            <a:ext cx="3808412" cy="5386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4275" tIns="67137" rIns="134275" bIns="67137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6818990"/>
            <a:ext cx="7941310" cy="6460093"/>
          </a:xfrm>
          <a:prstGeom prst="rect">
            <a:avLst/>
          </a:prstGeom>
        </p:spPr>
        <p:txBody>
          <a:bodyPr vert="horz" lIns="134275" tIns="67137" rIns="134275" bIns="67137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l">
              <a:defRPr sz="1700">
                <a:latin typeface="Futura Medium" pitchFamily="2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80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r">
              <a:defRPr sz="1700">
                <a:latin typeface="Futura Medium" pitchFamily="2" charset="0"/>
              </a:defRPr>
            </a:lvl1pPr>
          </a:lstStyle>
          <a:p>
            <a:fld id="{DE799493-6412-4470-9830-D005B358D66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2893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676973" rtl="0" eaLnBrk="1" latinLnBrk="0" hangingPunct="1">
      <a:defRPr sz="6138" kern="1200">
        <a:solidFill>
          <a:schemeClr val="tx1"/>
        </a:solidFill>
        <a:latin typeface="Futura Medium" pitchFamily="2" charset="0"/>
        <a:ea typeface="+mn-ea"/>
        <a:cs typeface="+mn-cs"/>
      </a:defRPr>
    </a:lvl1pPr>
    <a:lvl2pPr marL="2338487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2pPr>
    <a:lvl3pPr marL="4676973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3pPr>
    <a:lvl4pPr marL="7015460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4pPr>
    <a:lvl5pPr marL="9353946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5pPr>
    <a:lvl6pPr marL="11692433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6pPr>
    <a:lvl7pPr marL="14030919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7pPr>
    <a:lvl8pPr marL="16369406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8pPr>
    <a:lvl9pPr marL="18707892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4BD51-CCDF-8CFA-6784-8CD48EB16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44E019-4134-F71F-5E3A-1FEC3BB717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CEB37C-7C4C-6AF1-564D-455686ABC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509A64-5DDA-78DF-D271-CBF1E2F0DA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51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1" descr="&lt;COMPANY_NAME&gt;{19.13386,233.3002,382.1078,36.87504}"/>
          <p:cNvSpPr txBox="1">
            <a:spLocks noChangeArrowheads="1"/>
          </p:cNvSpPr>
          <p:nvPr userDrawn="1"/>
        </p:nvSpPr>
        <p:spPr bwMode="auto">
          <a:xfrm>
            <a:off x="1550555" y="41650920"/>
            <a:ext cx="9810017" cy="7556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ctr" anchorCtr="0">
            <a:noAutofit/>
          </a:bodyPr>
          <a:lstStyle/>
          <a:p>
            <a:pPr>
              <a:defRPr/>
            </a:pPr>
            <a:r>
              <a:rPr lang="en-GB" sz="2800">
                <a:solidFill>
                  <a:schemeClr val="tx1"/>
                </a:solidFill>
                <a:latin typeface="+mn-lt"/>
                <a:cs typeface="Arial" pitchFamily="34" charset="0"/>
              </a:rPr>
              <a:t>Shape. Connect. Accelerate </a:t>
            </a:r>
          </a:p>
        </p:txBody>
      </p:sp>
      <p:sp>
        <p:nvSpPr>
          <p:cNvPr id="20" name="Text Box 11" descr="&lt;COMPANY_NAME&gt;{19.13386,233.3002,382.1078,36.87504}"/>
          <p:cNvSpPr txBox="1">
            <a:spLocks noChangeArrowheads="1"/>
          </p:cNvSpPr>
          <p:nvPr userDrawn="1"/>
        </p:nvSpPr>
        <p:spPr bwMode="auto">
          <a:xfrm>
            <a:off x="19762355" y="41650920"/>
            <a:ext cx="9810017" cy="7556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ctr" anchorCtr="0">
            <a:noAutofit/>
          </a:bodyPr>
          <a:lstStyle/>
          <a:p>
            <a:pPr algn="r"/>
            <a:r>
              <a:rPr lang="en-GB" sz="2800"/>
              <a:t>September 7-8,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D0CE2F-1DFA-1F89-3C04-6693D0E978E9}"/>
              </a:ext>
            </a:extLst>
          </p:cNvPr>
          <p:cNvSpPr/>
          <p:nvPr userDrawn="1"/>
        </p:nvSpPr>
        <p:spPr>
          <a:xfrm>
            <a:off x="-1" y="1"/>
            <a:ext cx="30275213" cy="6827520"/>
          </a:xfrm>
          <a:prstGeom prst="rect">
            <a:avLst/>
          </a:prstGeom>
          <a:solidFill>
            <a:srgbClr val="F7D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032B41E-CA7B-293B-0827-739C4AA7C3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120" r="-991"/>
          <a:stretch/>
        </p:blipFill>
        <p:spPr>
          <a:xfrm>
            <a:off x="24260896" y="1321092"/>
            <a:ext cx="3359440" cy="3255921"/>
          </a:xfrm>
          <a:prstGeom prst="rect">
            <a:avLst/>
          </a:prstGeom>
        </p:spPr>
      </p:pic>
    </p:spTree>
  </p:cSld>
  <p:clrMapOvr>
    <a:masterClrMapping/>
  </p:clrMapOvr>
  <p:transition/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886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1CD8318-F598-F22A-F46C-E91BE846BE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0009390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8" imgH="408" progId="TCLayout.ActiveDocument.1">
                  <p:embed/>
                </p:oleObj>
              </mc:Choice>
              <mc:Fallback>
                <p:oleObj name="think-cell Slide" r:id="rId5" imgW="408" imgH="4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CD8318-F598-F22A-F46C-E91BE846BE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</p:sldLayoutIdLst>
  <p:transition>
    <p:fade/>
  </p:transition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2000" b="1" kern="1200" cap="none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69875" indent="-269875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Char char="n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454025" indent="-18415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631825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600" b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811213" indent="-173038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89013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tiff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3AC32-B32E-0B98-3122-95A99F02D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48c52803bb.png">
            <a:extLst>
              <a:ext uri="{FF2B5EF4-FFF2-40B4-BE49-F238E27FC236}">
                <a16:creationId xmlns:a16="http://schemas.microsoft.com/office/drawing/2014/main" id="{FBAEF30B-F2AA-D435-57FF-8DD4C2DF53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800" b="22800"/>
          <a:stretch/>
        </p:blipFill>
        <p:spPr>
          <a:xfrm>
            <a:off x="0" y="0"/>
            <a:ext cx="30275213" cy="10348999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814D6D1A-463C-6A43-A136-99162F830D25}"/>
              </a:ext>
            </a:extLst>
          </p:cNvPr>
          <p:cNvSpPr/>
          <p:nvPr/>
        </p:nvSpPr>
        <p:spPr>
          <a:xfrm>
            <a:off x="2087214" y="1065338"/>
            <a:ext cx="10066685" cy="1141434"/>
          </a:xfrm>
          <a:prstGeom prst="roundRect">
            <a:avLst>
              <a:gd name="adj" fmla="val 3333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3F94E1B-A188-E7CA-CD2A-FC31F557CADD}"/>
              </a:ext>
            </a:extLst>
          </p:cNvPr>
          <p:cNvSpPr/>
          <p:nvPr/>
        </p:nvSpPr>
        <p:spPr>
          <a:xfrm>
            <a:off x="2467692" y="1255577"/>
            <a:ext cx="13381907" cy="79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5617" b="1">
                <a:solidFill>
                  <a:srgbClr val="FFFFFF"/>
                </a:solidFill>
                <a:latin typeface="Aptos Display" pitchFamily="34" charset="0"/>
              </a:rPr>
              <a:t>COLLABORATION &amp; LEARNING</a:t>
            </a:r>
            <a:endParaRPr lang="en-US" sz="5617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1F8F9DF-036B-F908-5DC0-30B8ED8D0ADA}"/>
              </a:ext>
            </a:extLst>
          </p:cNvPr>
          <p:cNvSpPr/>
          <p:nvPr/>
        </p:nvSpPr>
        <p:spPr>
          <a:xfrm>
            <a:off x="0" y="3417719"/>
            <a:ext cx="23217809" cy="467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000" b="1" dirty="0">
                <a:solidFill>
                  <a:srgbClr val="2F3033"/>
                </a:solidFill>
                <a:latin typeface="Aptos Display" pitchFamily="34" charset="0"/>
              </a:rPr>
              <a:t>Mastering Strategy </a:t>
            </a:r>
          </a:p>
          <a:p>
            <a:pPr algn="ctr"/>
            <a:r>
              <a:rPr lang="en-US" sz="10000" b="1" dirty="0">
                <a:solidFill>
                  <a:srgbClr val="2F3033"/>
                </a:solidFill>
                <a:latin typeface="Aptos Display" pitchFamily="34" charset="0"/>
              </a:rPr>
              <a:t>Building world-class strategic thinkers</a:t>
            </a:r>
          </a:p>
          <a:p>
            <a:endParaRPr lang="en-US" sz="10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8EF24A7-73D1-2725-072A-C87D0D91CC8A}"/>
              </a:ext>
            </a:extLst>
          </p:cNvPr>
          <p:cNvSpPr/>
          <p:nvPr/>
        </p:nvSpPr>
        <p:spPr>
          <a:xfrm>
            <a:off x="2087215" y="5098404"/>
            <a:ext cx="19214133" cy="1065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endParaRPr lang="en-US" sz="5617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8FB65F6-2FB4-CC87-2A7B-57A5F6A77EB2}"/>
              </a:ext>
            </a:extLst>
          </p:cNvPr>
          <p:cNvSpPr/>
          <p:nvPr/>
        </p:nvSpPr>
        <p:spPr>
          <a:xfrm>
            <a:off x="2087214" y="6772506"/>
            <a:ext cx="19138038" cy="0"/>
          </a:xfrm>
          <a:prstGeom prst="line">
            <a:avLst/>
          </a:prstGeom>
          <a:noFill/>
          <a:ln w="12700">
            <a:solidFill>
              <a:srgbClr val="E9571F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3876DD9C-5658-2E6E-D38C-E79AB00AD1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87214" y="7533462"/>
            <a:ext cx="1255577" cy="837051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A5E6BB5A-A0C7-4378-F078-6D995A705B56}"/>
              </a:ext>
            </a:extLst>
          </p:cNvPr>
          <p:cNvSpPr/>
          <p:nvPr/>
        </p:nvSpPr>
        <p:spPr>
          <a:xfrm>
            <a:off x="3456935" y="7571510"/>
            <a:ext cx="18262939" cy="1065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5617" b="1">
                <a:solidFill>
                  <a:srgbClr val="2F3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Emanuela Negro &amp; Lara Thomsen </a:t>
            </a: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830A2D1-A590-4386-BEB2-372F09608E37}"/>
              </a:ext>
            </a:extLst>
          </p:cNvPr>
          <p:cNvSpPr/>
          <p:nvPr/>
        </p:nvSpPr>
        <p:spPr>
          <a:xfrm>
            <a:off x="2087215" y="8941230"/>
            <a:ext cx="19214133" cy="951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5326">
                <a:solidFill>
                  <a:srgbClr val="2F3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 Global Team F2F 2026   |   7–8 September</a:t>
            </a:r>
            <a:endParaRPr lang="en-US" sz="5326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467BB116-8EC2-3A06-08F5-194889C62565}"/>
              </a:ext>
            </a:extLst>
          </p:cNvPr>
          <p:cNvSpPr/>
          <p:nvPr/>
        </p:nvSpPr>
        <p:spPr>
          <a:xfrm>
            <a:off x="23850549" y="5402786"/>
            <a:ext cx="4565735" cy="24350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5409" b="1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SHAPE</a:t>
            </a:r>
            <a:endParaRPr lang="en-US" sz="5409"/>
          </a:p>
          <a:p>
            <a:pPr algn="ctr"/>
            <a:r>
              <a:rPr lang="en-US" sz="5409" b="1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</a:t>
            </a:r>
            <a:endParaRPr lang="en-US" sz="5409"/>
          </a:p>
          <a:p>
            <a:pPr algn="ctr"/>
            <a:r>
              <a:rPr lang="en-US" sz="5409" b="1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ACCELERATE</a:t>
            </a:r>
            <a:endParaRPr lang="en-US" sz="5409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CDAA4D1-F576-0A47-3B52-918CCF498C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0549" y="1385284"/>
            <a:ext cx="4306322" cy="4306322"/>
          </a:xfrm>
          <a:prstGeom prst="rect">
            <a:avLst/>
          </a:prstGeom>
          <a:ln>
            <a:noFill/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84D9A9B-8DB3-F26F-E979-EAF0935E2FA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5544" r="402" b="-1"/>
          <a:stretch>
            <a:fillRect/>
          </a:stretch>
        </p:blipFill>
        <p:spPr>
          <a:xfrm>
            <a:off x="1611575" y="10744200"/>
            <a:ext cx="27877825" cy="31261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0935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hell layouts with footer">
  <a:themeElements>
    <a:clrScheme name="Custom 1">
      <a:dk1>
        <a:srgbClr val="595959"/>
      </a:dk1>
      <a:lt1>
        <a:srgbClr val="FFFFFF"/>
      </a:lt1>
      <a:dk2>
        <a:srgbClr val="EAEAEA"/>
      </a:dk2>
      <a:lt2>
        <a:srgbClr val="CCCCCC"/>
      </a:lt2>
      <a:accent1>
        <a:srgbClr val="F7D117"/>
      </a:accent1>
      <a:accent2>
        <a:srgbClr val="D42E12"/>
      </a:accent2>
      <a:accent3>
        <a:srgbClr val="003882"/>
      </a:accent3>
      <a:accent4>
        <a:srgbClr val="611759"/>
      </a:accent4>
      <a:accent5>
        <a:srgbClr val="00824A"/>
      </a:accent5>
      <a:accent6>
        <a:srgbClr val="DE8703"/>
      </a:accent6>
      <a:hlink>
        <a:srgbClr val="000000"/>
      </a:hlink>
      <a:folHlink>
        <a:srgbClr val="000000"/>
      </a:folHlink>
    </a:clrScheme>
    <a:fontScheme name="Shell - Fonts">
      <a:majorFont>
        <a:latin typeface="Futura Medium"/>
        <a:ea typeface=""/>
        <a:cs typeface=""/>
      </a:majorFont>
      <a:minorFont>
        <a:latin typeface="Futura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7800" indent="-177800">
          <a:lnSpc>
            <a:spcPct val="113000"/>
          </a:lnSpc>
          <a:spcAft>
            <a:spcPts val="60"/>
          </a:spcAft>
          <a:buFont typeface="Wingdings"/>
          <a:buChar char="n"/>
          <a:defRPr sz="1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Shell Document" ma:contentTypeID="0x0101006F0A470EEB1140E7AA14F4CE8A50B54C0001CB1477F4DD432AA86DD56CC3887AF400F644A78CBFDAD44983885002DC8B3358" ma:contentTypeVersion="5" ma:contentTypeDescription="Shell Document Content Type" ma:contentTypeScope="" ma:versionID="9972982cb723cf5df02987a4cb397dc7">
  <xsd:schema xmlns:xsd="http://www.w3.org/2001/XMLSchema" xmlns:xs="http://www.w3.org/2001/XMLSchema" xmlns:p="http://schemas.microsoft.com/office/2006/metadata/properties" xmlns:ns1="http://schemas.microsoft.com/sharepoint/v3" xmlns:ns2="5fe9d420-80f7-4ada-bee1-a7a60088c9b2" xmlns:ns3="d897dab9-547b-4d8a-9e98-e2c84c4ab18d" targetNamespace="http://schemas.microsoft.com/office/2006/metadata/properties" ma:root="true" ma:fieldsID="11b7afb5536d3e270a25d7434dfd5e62" ns1:_="" ns2:_="" ns3:_="">
    <xsd:import namespace="http://schemas.microsoft.com/sharepoint/v3"/>
    <xsd:import namespace="5fe9d420-80f7-4ada-bee1-a7a60088c9b2"/>
    <xsd:import namespace="d897dab9-547b-4d8a-9e98-e2c84c4ab18d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SAEFSecurityClassificationTaxHTField0" minOccurs="0"/>
                <xsd:element ref="ns2:ice2f7984e9548f9a31773f854109466" minOccurs="0"/>
                <xsd:element ref="ns2:TaxCatchAll" minOccurs="0"/>
                <xsd:element ref="ns2:TaxCatchAllLabel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AEFSecurityClassificationTaxHTField0" ma:index="11" nillable="true" ma:displayName="Security Classification_0" ma:hidden="true" ma:internalName="SAEFSecurityClassificationTaxHTField0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e9d420-80f7-4ada-bee1-a7a60088c9b2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ice2f7984e9548f9a31773f854109466" ma:index="12" ma:taxonomy="true" ma:internalName="ice2f7984e9548f9a31773f854109466" ma:taxonomyFieldName="SAEFSecurityClassification" ma:displayName="Security Classification" ma:default="5;#Confidential|e4bc29b2-6e76-48cc-b090-8b544c0802ae" ma:fieldId="{2ce2f798-4e95-48f9-a317-73f854109466}" ma:sspId="e3aebf70-341c-4d91-bdd3-aba9df361687" ma:termSetId="daf890f0-167e-4ee2-a9fd-a81536ed816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3" nillable="true" ma:displayName="Taxonomy Catch All Column" ma:hidden="true" ma:list="{c7126bf2-9056-4401-894f-d1136f5f3720}" ma:internalName="TaxCatchAll" ma:showField="CatchAllData" ma:web="5fe9d420-80f7-4ada-bee1-a7a60088c9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4" nillable="true" ma:displayName="Taxonomy Catch All Column1" ma:hidden="true" ma:list="{c7126bf2-9056-4401-894f-d1136f5f3720}" ma:internalName="TaxCatchAllLabel" ma:readOnly="true" ma:showField="CatchAllDataLabel" ma:web="5fe9d420-80f7-4ada-bee1-a7a60088c9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97dab9-547b-4d8a-9e98-e2c84c4ab1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AEFSecurityClassificationTaxHTField0 xmlns="http://schemas.microsoft.com/sharepoint/v3">Restricted21aa7f98-4035-4019-a764-107acb7269af</SAEFSecurityClassificationTaxHTField0>
    <TaxCatchAll xmlns="5fe9d420-80f7-4ada-bee1-a7a60088c9b2">
      <Value>1</Value>
    </TaxCatchAll>
    <ice2f7984e9548f9a31773f854109466 xmlns="5fe9d420-80f7-4ada-bee1-a7a60088c9b2">
      <Terms xmlns="http://schemas.microsoft.com/office/infopath/2007/PartnerControls">
        <TermInfo xmlns="http://schemas.microsoft.com/office/infopath/2007/PartnerControls">
          <TermName xmlns="http://schemas.microsoft.com/office/infopath/2007/PartnerControls">Restricted</TermName>
          <TermId xmlns="http://schemas.microsoft.com/office/infopath/2007/PartnerControls">21aa7f98-4035-4019-a764-107acb7269af</TermId>
        </TermInfo>
      </Terms>
    </ice2f7984e9548f9a31773f854109466>
    <_dlc_DocId xmlns="5fe9d420-80f7-4ada-bee1-a7a60088c9b2">UXD4DQ5FARXZ-1534890728-10</_dlc_DocId>
    <_dlc_DocIdUrl xmlns="5fe9d420-80f7-4ada-bee1-a7a60088c9b2">
      <Url>https://eu001-sp.shell.com/sites/SPO002395/_layouts/15/DocIdRedir.aspx?ID=UXD4DQ5FARXZ-1534890728-10</Url>
      <Description>UXD4DQ5FARXZ-1534890728-10</Description>
    </_dlc_DocIdUrl>
  </documentManagement>
</p:properti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BCFC3B55-A567-4E09-9693-C23C9396163D}"/>
</file>

<file path=customXml/itemProps2.xml><?xml version="1.0" encoding="utf-8"?>
<ds:datastoreItem xmlns:ds="http://schemas.openxmlformats.org/officeDocument/2006/customXml" ds:itemID="{4FE3B36A-2FDB-43C8-A4F8-BA8A83EB36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CAE002A-7645-46A2-8C4A-738EDFAA7ED3}">
  <ds:schemaRefs>
    <ds:schemaRef ds:uri="http://www.w3.org/XML/1998/namespace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67a4d270-2e9e-45ec-b53e-707b7cbfe7c3"/>
    <ds:schemaRef ds:uri="http://schemas.openxmlformats.org/package/2006/metadata/core-properties"/>
    <ds:schemaRef ds:uri="http://purl.org/dc/elements/1.1/"/>
    <ds:schemaRef ds:uri="c642a6ca-8515-4142-b4ce-183d01f224d8"/>
    <ds:schemaRef ds:uri="http://schemas.microsoft.com/sharepoint/v3"/>
    <ds:schemaRef ds:uri="http://purl.org/dc/dcmitype/"/>
  </ds:schemaRefs>
</ds:datastoreItem>
</file>

<file path=customXml/itemProps4.xml><?xml version="1.0" encoding="utf-8"?>
<ds:datastoreItem xmlns:ds="http://schemas.openxmlformats.org/officeDocument/2006/customXml" ds:itemID="{BB643EB7-3FCD-4023-9B76-9A0FF5A4EDD0}"/>
</file>

<file path=docMetadata/LabelInfo.xml><?xml version="1.0" encoding="utf-8"?>
<clbl:labelList xmlns:clbl="http://schemas.microsoft.com/office/2020/mipLabelMetadata">
  <clbl:label id="{d0cb1e24-a0e2-4a4c-9340-733297c9cd7c}" enabled="1" method="Privileged" siteId="{db1e96a8-a3da-442a-930b-235cac24cd5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26</Words>
  <Application>Microsoft Office PowerPoint</Application>
  <PresentationFormat>Custom</PresentationFormat>
  <Paragraphs>9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Aptos Display</vt:lpstr>
      <vt:lpstr>Aptos</vt:lpstr>
      <vt:lpstr>Futura Medium</vt:lpstr>
      <vt:lpstr>Wingdings</vt:lpstr>
      <vt:lpstr>Shell layouts with footer</vt:lpstr>
      <vt:lpstr>think-cell Slide</vt:lpstr>
      <vt:lpstr>PowerPoint Presentation</vt:lpstr>
    </vt:vector>
  </TitlesOfParts>
  <Company>Shell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CO2 Valuation Challenges</dc:title>
  <dc:creator>Thomas.Lopez@shell.com</dc:creator>
  <cp:keywords>GEC'17</cp:keywords>
  <cp:lastModifiedBy>Thomsen, Lara SIBV-FR/P/R</cp:lastModifiedBy>
  <cp:revision>4</cp:revision>
  <cp:lastPrinted>2017-04-25T09:06:38Z</cp:lastPrinted>
  <dcterms:created xsi:type="dcterms:W3CDTF">2009-11-25T14:32:06Z</dcterms:created>
  <dcterms:modified xsi:type="dcterms:W3CDTF">2026-08-31T11:04:25Z</dcterms:modified>
  <cp:category>Poster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WizKit Template Type">
    <vt:lpwstr>Widescreen</vt:lpwstr>
  </property>
  <property fmtid="{D5CDD505-2E9C-101B-9397-08002B2CF9AE}" pid="3" name="WizKit Template Version">
    <vt:i4>4</vt:i4>
  </property>
  <property fmtid="{D5CDD505-2E9C-101B-9397-08002B2CF9AE}" pid="4" name="ContentTypeId">
    <vt:lpwstr>0x0101006F0A470EEB1140E7AA14F4CE8A50B54C0001CB1477F4DD432AA86DD56CC3887AF400F644A78CBFDAD44983885002DC8B3358</vt:lpwstr>
  </property>
  <property fmtid="{D5CDD505-2E9C-101B-9397-08002B2CF9AE}" pid="5" name="_dlc_policyId">
    <vt:lpwstr/>
  </property>
  <property fmtid="{D5CDD505-2E9C-101B-9397-08002B2CF9AE}" pid="6" name="ItemRetentionFormula">
    <vt:lpwstr/>
  </property>
  <property fmtid="{D5CDD505-2E9C-101B-9397-08002B2CF9AE}" pid="7" name="_dlc_DocIdItemGuid">
    <vt:lpwstr>c675d01b-ca59-4147-89ea-ee87cb5a9b41</vt:lpwstr>
  </property>
  <property fmtid="{D5CDD505-2E9C-101B-9397-08002B2CF9AE}" pid="8" name="Shell SharePoint SAEF KeepFileLocal">
    <vt:bool>false</vt:bool>
  </property>
  <property fmtid="{D5CDD505-2E9C-101B-9397-08002B2CF9AE}" pid="9" name="Shell SharePoint SAEF WorkgroupIDTaxHTField0">
    <vt:lpwstr>UIB Commercial, New Business ＆ LNG - 11947|52d8a608-ed1f-401e-8ffb-8cc5334b8b42</vt:lpwstr>
  </property>
  <property fmtid="{D5CDD505-2E9C-101B-9397-08002B2CF9AE}" pid="10" name="Shell SharePoint SAEF SecurityClassificationTaxHTField0">
    <vt:lpwstr>Restricted|21aa7f98-4035-4019-a764-107acb7269af</vt:lpwstr>
  </property>
  <property fmtid="{D5CDD505-2E9C-101B-9397-08002B2CF9AE}" pid="11" name="Shell SharePoint SAEF LegalEntity">
    <vt:lpwstr>3;#SIEP|ca814f84-fd49-4cca-9dd4-ac559012442b</vt:lpwstr>
  </property>
  <property fmtid="{D5CDD505-2E9C-101B-9397-08002B2CF9AE}" pid="12" name="Shell SharePoint SAEF CountryOfJurisdiction">
    <vt:lpwstr>6;#NETHERLANDS|54565ecb-470f-40ea-a584-819150a65a13</vt:lpwstr>
  </property>
  <property fmtid="{D5CDD505-2E9C-101B-9397-08002B2CF9AE}" pid="13" name="Shell SharePoint SAEF ExportControlClassification">
    <vt:lpwstr>8;#Non-US content - Non Controlled|2ac8835e-0587-4096-a6e2-1f68da1e6cb3</vt:lpwstr>
  </property>
  <property fmtid="{D5CDD505-2E9C-101B-9397-08002B2CF9AE}" pid="14" name="SME Areas">
    <vt:lpwstr/>
  </property>
  <property fmtid="{D5CDD505-2E9C-101B-9397-08002B2CF9AE}" pid="15" name="SAEFSecurityClassification">
    <vt:lpwstr>1;#Restricted|21aa7f98-4035-4019-a764-107acb7269af</vt:lpwstr>
  </property>
  <property fmtid="{D5CDD505-2E9C-101B-9397-08002B2CF9AE}" pid="16" name="Shell SharePoint SAEF DocumentStatus">
    <vt:lpwstr>11;#Draft|1c86f377-7d91-4c95-bd5b-c18c83fe0aa5</vt:lpwstr>
  </property>
  <property fmtid="{D5CDD505-2E9C-101B-9397-08002B2CF9AE}" pid="17" name="Shell SharePoint SAEF Language">
    <vt:lpwstr>5;#English|bd3ad5ee-f0c3-40aa-8cc8-36ef09940af3</vt:lpwstr>
  </property>
  <property fmtid="{D5CDD505-2E9C-101B-9397-08002B2CF9AE}" pid="18" name="Shell SharePoint SAEF Business">
    <vt:lpwstr>1;#Upstream International|dabf15d9-4f75-4ed1-b8a1-a0c3e2a85888</vt:lpwstr>
  </property>
  <property fmtid="{D5CDD505-2E9C-101B-9397-08002B2CF9AE}" pid="19" name="Shell SharePoint SAEF BusinessProcess">
    <vt:lpwstr>7;#Develop New Business|8f030812-6a49-4616-837f-b8f0f1d07b9c</vt:lpwstr>
  </property>
  <property fmtid="{D5CDD505-2E9C-101B-9397-08002B2CF9AE}" pid="20" name="Shell SharePoint SAEF DocumentType">
    <vt:lpwstr>13;#Study results|073ec550-c791-4e3f-9683-953f7d5eb953</vt:lpwstr>
  </property>
  <property fmtid="{D5CDD505-2E9C-101B-9397-08002B2CF9AE}" pid="21" name="SME Keywords">
    <vt:lpwstr/>
  </property>
  <property fmtid="{D5CDD505-2E9C-101B-9397-08002B2CF9AE}" pid="22" name="Shell SharePoint SAEF BusinessUnitRegion">
    <vt:lpwstr>1;#Upstream International|dabf15d9-4f75-4ed1-b8a1-a0c3e2a85888</vt:lpwstr>
  </property>
  <property fmtid="{D5CDD505-2E9C-101B-9397-08002B2CF9AE}" pid="23" name="Shell SharePoint SAEF GlobalFunction">
    <vt:lpwstr>2;#Sustainable Development|2fbcccf5-c9b5-4b2d-984f-9a9b70c47e11</vt:lpwstr>
  </property>
  <property fmtid="{D5CDD505-2E9C-101B-9397-08002B2CF9AE}" pid="24" name="Shell SharePoint SAEF SiteCollectionName">
    <vt:lpwstr>Global Upstream Economics Portal</vt:lpwstr>
  </property>
  <property fmtid="{D5CDD505-2E9C-101B-9397-08002B2CF9AE}" pid="25" name="Order">
    <vt:r8>284000</vt:r8>
  </property>
  <property fmtid="{D5CDD505-2E9C-101B-9397-08002B2CF9AE}" pid="26" name="xd_Signature">
    <vt:bool>false</vt:bool>
  </property>
  <property fmtid="{D5CDD505-2E9C-101B-9397-08002B2CF9AE}" pid="27" name="Shell SharePoint SAEF GlobalFunctionTaxHTField0">
    <vt:lpwstr>Sustainable Development|2fbcccf5-c9b5-4b2d-984f-9a9b70c47e11</vt:lpwstr>
  </property>
  <property fmtid="{D5CDD505-2E9C-101B-9397-08002B2CF9AE}" pid="28" name="Shell SharePoint SAEF DocumentTypeTaxHTField0">
    <vt:lpwstr>Study results|073ec550-c791-4e3f-9683-953f7d5eb953</vt:lpwstr>
  </property>
  <property fmtid="{D5CDD505-2E9C-101B-9397-08002B2CF9AE}" pid="29" name="xd_ProgID">
    <vt:lpwstr/>
  </property>
  <property fmtid="{D5CDD505-2E9C-101B-9397-08002B2CF9AE}" pid="30" name="Shell SharePoint SAEF SiteOwner">
    <vt:lpwstr>Peter Grieve</vt:lpwstr>
  </property>
  <property fmtid="{D5CDD505-2E9C-101B-9397-08002B2CF9AE}" pid="31" name="Shell SharePoint SAEF LanguageTaxHTField0">
    <vt:lpwstr>English|bd3ad5ee-f0c3-40aa-8cc8-36ef09940af3</vt:lpwstr>
  </property>
  <property fmtid="{D5CDD505-2E9C-101B-9397-08002B2CF9AE}" pid="32" name="Shell SharePoint SAEF CountryOfJurisdictionTaxHTField0">
    <vt:lpwstr>NETHERLANDS|54565ecb-470f-40ea-a584-819150a65a13</vt:lpwstr>
  </property>
  <property fmtid="{D5CDD505-2E9C-101B-9397-08002B2CF9AE}" pid="33" name="ComplianceAssetId">
    <vt:lpwstr/>
  </property>
  <property fmtid="{D5CDD505-2E9C-101B-9397-08002B2CF9AE}" pid="34" name="TemplateUrl">
    <vt:lpwstr/>
  </property>
  <property fmtid="{D5CDD505-2E9C-101B-9397-08002B2CF9AE}" pid="35" name="Shell SharePoint SAEF BusinessUnitRegionTaxHTField0">
    <vt:lpwstr>Upstream International|dabf15d9-4f75-4ed1-b8a1-a0c3e2a85888</vt:lpwstr>
  </property>
  <property fmtid="{D5CDD505-2E9C-101B-9397-08002B2CF9AE}" pid="36" name="Shell SharePoint SAEF DocumentStatusTaxHTField0">
    <vt:lpwstr>Draft|1c86f377-7d91-4c95-bd5b-c18c83fe0aa5</vt:lpwstr>
  </property>
  <property fmtid="{D5CDD505-2E9C-101B-9397-08002B2CF9AE}" pid="37" name="Shell SharePoint SAEF BusinessProcessTaxHTField0">
    <vt:lpwstr>Develop New Business|8f030812-6a49-4616-837f-b8f0f1d07b9c</vt:lpwstr>
  </property>
  <property fmtid="{D5CDD505-2E9C-101B-9397-08002B2CF9AE}" pid="38" name="Shell SharePoint SAEF BusinessTaxHTField0">
    <vt:lpwstr>Upstream International|dabf15d9-4f75-4ed1-b8a1-a0c3e2a85888</vt:lpwstr>
  </property>
  <property fmtid="{D5CDD505-2E9C-101B-9397-08002B2CF9AE}" pid="39" name="Shell SharePoint SAEF Collection">
    <vt:bool>false</vt:bool>
  </property>
  <property fmtid="{D5CDD505-2E9C-101B-9397-08002B2CF9AE}" pid="40" name="_ExtendedDescription">
    <vt:lpwstr/>
  </property>
  <property fmtid="{D5CDD505-2E9C-101B-9397-08002B2CF9AE}" pid="41" name="Shell SharePoint SAEF ExportControlClassificationTaxHTField0">
    <vt:lpwstr>Non-US content - Non Controlled|2ac8835e-0587-4096-a6e2-1f68da1e6cb3</vt:lpwstr>
  </property>
  <property fmtid="{D5CDD505-2E9C-101B-9397-08002B2CF9AE}" pid="42" name="TriggerFlowInfo">
    <vt:lpwstr/>
  </property>
  <property fmtid="{D5CDD505-2E9C-101B-9397-08002B2CF9AE}" pid="43" name="Shell SharePoint SAEF LegalEntityTaxHTField0">
    <vt:lpwstr>SIEP|ca814f84-fd49-4cca-9dd4-ac559012442b</vt:lpwstr>
  </property>
  <property fmtid="{D5CDD505-2E9C-101B-9397-08002B2CF9AE}" pid="44" name="MediaServiceImageTags">
    <vt:lpwstr/>
  </property>
</Properties>
</file>